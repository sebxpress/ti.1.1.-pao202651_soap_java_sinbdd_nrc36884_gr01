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notesSlides/notesSlide63.xml" ContentType="application/vnd.openxmlformats-officedocument.presentationml.notesSlide+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ppt/notesSlides/notesSlide48.xml" ContentType="application/vnd.openxmlformats-officedocument.presentationml.notesSlide+xml"/>
  <Override PartName="/docProps/app.xml" ContentType="application/vnd.openxmlformats-officedocument.extended-properties+xml"/>
  <Override PartName="/ppt/viewProps.xml" ContentType="application/vnd.openxmlformats-officedocument.presentationml.viewProps+xml"/>
  <Override PartName="/ppt/notesSlides/notesSlide60.xml" ContentType="application/vnd.openxmlformats-officedocument.presentationml.notesSlide+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Slides/notesSlide80.xml" ContentType="application/vnd.openxmlformats-officedocument.presentationml.notesSlide+xml"/>
  <Override PartName="/ppt/theme/theme3.xml" ContentType="application/vnd.openxmlformats-officedocument.theme+xml"/>
  <Override PartName="/ppt/slides/slide23.xml" ContentType="application/vnd.openxmlformats-officedocument.presentationml.slid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9.xml" ContentType="application/vnd.openxmlformats-officedocument.presentationml.slide+xml"/>
  <Override PartName="/ppt/notesSlides/notesSlide64.xml" ContentType="application/vnd.openxmlformats-officedocument.presentationml.notesSlide+xml"/>
  <Override PartName="/ppt/slideLayouts/slideLayout2.xml" ContentType="application/vnd.openxmlformats-officedocument.presentationml.slideLayout+xml"/>
  <Override PartName="/ppt/slides/slide38.xml" ContentType="application/vnd.openxmlformats-officedocument.presentationml.slide+xml"/>
  <Override PartName="/ppt/notesSlides/notesSlide65.xml" ContentType="application/vnd.openxmlformats-officedocument.presentationml.notesSlide+xml"/>
  <Override PartName="/ppt/slideLayouts/slideLayout3.xml" ContentType="application/vnd.openxmlformats-officedocument.presentationml.slideLayout+xml"/>
  <Override PartName="/ppt/notesSlides/notesSlide62.xml" ContentType="application/vnd.openxmlformats-officedocument.presentationml.notesSlide+xml"/>
  <Override PartName="/ppt/slideLayouts/slideLayout4.xml" ContentType="application/vnd.openxmlformats-officedocument.presentationml.slideLayout+xml"/>
  <Override PartName="/ppt/notesSlides/notesSlide61.xml" ContentType="application/vnd.openxmlformats-officedocument.presentationml.notesSlide+xml"/>
  <Override PartName="/ppt/slideLayouts/slideLayout7.xml" ContentType="application/vnd.openxmlformats-officedocument.presentationml.slideLayout+xml"/>
  <Override PartName="/ppt/slides/slide33.xml" ContentType="application/vnd.openxmlformats-officedocument.presentationml.slide+xml"/>
  <Override PartName="/ppt/slideLayouts/slideLayout8.xml" ContentType="application/vnd.openxmlformats-officedocument.presentationml.slideLayout+xml"/>
  <Override PartName="/ppt/slides/slide32.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Slides/notesSlide19.xml" ContentType="application/vnd.openxmlformats-officedocument.presentationml.notesSlide+xml"/>
  <Override PartName="/ppt/slides/slide44.xml" ContentType="application/vnd.openxmlformats-officedocument.presentationml.slide+xml"/>
  <Override PartName="/ppt/notesSlides/notesSlide18.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5.xml" ContentType="application/vnd.openxmlformats-officedocument.presentationml.notesSlide+xml"/>
  <Override PartName="/ppt/slides/slide48.xml" ContentType="application/vnd.openxmlformats-officedocument.presentationml.slide+xml"/>
  <Override PartName="/ppt/notesSlides/notesSlide14.xml" ContentType="application/vnd.openxmlformats-officedocument.presentationml.notes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39.xml" ContentType="application/vnd.openxmlformats-officedocument.presentationml.notesSlide+xml"/>
  <Override PartName="/ppt/slides/slide64.xml" ContentType="application/vnd.openxmlformats-officedocument.presentationml.slide+xml"/>
  <Override PartName="/ppt/notesSlides/notesSlide38.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Slides/notesSlide35.xml" ContentType="application/vnd.openxmlformats-officedocument.presentationml.notesSlide+xml"/>
  <Override PartName="/ppt/slides/slide68.xml" ContentType="application/vnd.openxmlformats-officedocument.presentationml.slide+xml"/>
  <Override PartName="/ppt/notesSlides/notesSlide34.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Slides/notesSlide55.xml" ContentType="application/vnd.openxmlformats-officedocument.presentationml.notesSlide+xml"/>
  <Override PartName="/ppt/slides/slide8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85"/>
  </p:notesMasterIdLst>
  <p:handoutMasterIdLst>
    <p:handoutMasterId r:id="rId86"/>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BF136021-7255-42B7-A7E7-87A8D8FFE9CA}">
  <a:tblStyle styleId="{BF136021-7255-42B7-A7E7-87A8D8FFE9CA}" styleName="Table_0">
    <a:wholeTbl>
      <a:tcTxStyle>
        <a:srgbClr val="000000"/>
      </a:tcTxStyle>
      <a:tcStyle>
        <a:tcBdr>
          <a:left>
            <a:ln w="12700">
              <a:solidFill>
                <a:srgbClr val="000000"/>
              </a:solidFill>
            </a:ln>
          </a:left>
          <a:right>
            <a:ln w="12700">
              <a:solidFill>
                <a:srgbClr val="000000"/>
              </a:solidFill>
            </a:ln>
          </a:right>
          <a:top>
            <a:ln w="12700">
              <a:solidFill>
                <a:srgbClr val="000000"/>
              </a:solidFill>
            </a:ln>
          </a:top>
          <a:bottom>
            <a:ln w="12700">
              <a:solidFill>
                <a:srgbClr val="000000"/>
              </a:solidFill>
            </a:ln>
          </a:bottom>
          <a:insideH>
            <a:ln w="12700">
              <a:solidFill>
                <a:srgbClr val="000000"/>
              </a:solidFill>
            </a:ln>
          </a:insideH>
          <a:insideV>
            <a:ln w="12700">
              <a:solidFill>
                <a:srgbClr val="000000"/>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0"/>
          <a:sy n="0" d="0"/>
        </p:scale>
        <p:origin x="826041520" y="32759"/>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notesMaster" Target="notesMasters/notesMaster1.xml"/><Relationship Id="rId86" Type="http://schemas.openxmlformats.org/officeDocument/2006/relationships/handoutMaster" Target="handoutMasters/handoutMaster1.xml"/><Relationship Id="rId87" Type="http://schemas.openxmlformats.org/officeDocument/2006/relationships/presProps" Target="presProps.xml" /><Relationship Id="rId88" Type="http://schemas.openxmlformats.org/officeDocument/2006/relationships/tableStyles" Target="tableStyles.xml" /><Relationship Id="rId89"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8112334"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994934877"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1F7D0EF7-E8C4-D091-53F5-CA4A245E335E}" type="datetimeFigureOut">
              <a:rPr lang="en-US"/>
              <a:t/>
            </a:fld>
            <a:endParaRPr/>
          </a:p>
        </p:txBody>
      </p:sp>
      <p:sp>
        <p:nvSpPr>
          <p:cNvPr id="2005174514"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329546724"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177AC4A2-763A-1BEC-CB8E-EEE52A27CB17}"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575745709" name="Google Shape;3;n"/>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3496180"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14116114" name="Google Shape;93;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340332137" name="Google Shape;94;p1: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86934609" name="Google Shape;102;p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19755952" name="Google Shape;103;p2: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46440638"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0415985" name="Google Shape;4;n"/>
          <p:cNvSpPr txBox="1"/>
          <p:nvPr>
            <p:ph type="body" idx="1"/>
          </p:nvPr>
        </p:nvSpPr>
        <p:spPr bwMode="auto">
          <a:prstGeom prst="rect">
            <a:avLst/>
          </a:prstGeom>
          <a:noFill/>
          <a:ln>
            <a:noFill/>
          </a:ln>
        </p:spPr>
        <p:txBody>
          <a:bodyPr/>
          <a:lstStyle/>
          <a:p>
            <a:pPr>
              <a:defRPr/>
            </a:pPr>
            <a:endParaRPr/>
          </a:p>
        </p:txBody>
      </p:sp>
      <p:sp>
        <p:nvSpPr>
          <p:cNvPr id="1888797536"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E7C6D567-D46A-25B1-6A3B-FC3A3DDD44B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9069773" name="Google Shape;111;g3a8526227be_0_42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319684323" name="Google Shape;112;g3a8526227be_0_425: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98646385"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1096489" name="Google Shape;4;n"/>
          <p:cNvSpPr txBox="1"/>
          <p:nvPr>
            <p:ph type="body" idx="1"/>
          </p:nvPr>
        </p:nvSpPr>
        <p:spPr bwMode="auto">
          <a:prstGeom prst="rect">
            <a:avLst/>
          </a:prstGeom>
          <a:noFill/>
          <a:ln>
            <a:noFill/>
          </a:ln>
        </p:spPr>
        <p:txBody>
          <a:bodyPr/>
          <a:lstStyle/>
          <a:p>
            <a:pPr>
              <a:defRPr/>
            </a:pPr>
            <a:endParaRPr/>
          </a:p>
        </p:txBody>
      </p:sp>
      <p:sp>
        <p:nvSpPr>
          <p:cNvPr id="1747626454"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55B0F5ED-44C5-BEC3-C945-5EE4848B61C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04849972" name="Google Shape;118;g3a8526227be_0_43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510835818" name="Google Shape;119;g3a8526227be_0_431: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3729641" name="Google Shape;126;g3a8526227be_0_43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421083371" name="Google Shape;127;g3a8526227be_0_43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99817255" name="Google Shape;134;g3a8526227be_0_44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022946114" name="Google Shape;135;g3a8526227be_0_44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52320009" name="Google Shape;142;g3a8526227be_0_45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778544761" name="Google Shape;143;g3a8526227be_0_45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52144899" name="Google Shape;150;g3a8526227be_0_45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80661511" name="Google Shape;151;g3a8526227be_0_459: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63804757" name="Google Shape;159;g3a8526227be_0_46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059223519" name="Google Shape;160;g3a8526227be_0_46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82578662" name="Google Shape;167;g3a8526227be_0_47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77814189" name="Google Shape;168;g3a8526227be_0_47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58363821" name="Google Shape;176;g3a8526227be_0_48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694398422" name="Google Shape;177;g3a8526227be_0_48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42837120" name="Google Shape;184;g3a8526227be_0_48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697791976" name="Google Shape;185;g3a8526227be_0_489: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91915160" name="Google Shape;193;g3a8526227be_0_49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781398094" name="Google Shape;194;g3a8526227be_0_49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2113140" name="Google Shape;201;g3a8526227be_0_50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763685071" name="Google Shape;202;g3a8526227be_0_50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5852048" name="Google Shape;209;g3a8526227be_0_51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076534275" name="Google Shape;210;g3a8526227be_0_511: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19973427" name="Google Shape;217;g3a8526227be_0_51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14130304" name="Google Shape;218;g3a8526227be_0_518: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31689543" name="Google Shape;226;g3a8526227be_0_52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710125383" name="Google Shape;227;g3a8526227be_0_526: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6092473" name="Google Shape;234;g3a8526227be_0_53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4084274" name="Google Shape;235;g3a8526227be_0_533: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7706056" name="Google Shape;242;g3a8526227be_0_540: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124176361" name="Google Shape;243;g3a8526227be_0_540: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70474983" name="Google Shape;250;g3a8526227be_0_54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597165473" name="Google Shape;251;g3a8526227be_0_547: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9704603" name="Google Shape;258;g3a8526227be_0_55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82793788" name="Google Shape;259;g3a8526227be_0_554: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1325485" name="Google Shape;266;g3a8526227be_0_56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272225190" name="Google Shape;267;g3a8526227be_0_561: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6448368" name="Google Shape;274;g3a8526227be_0_56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353127094" name="Google Shape;275;g3a8526227be_0_568: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43516572" name="Google Shape;282;g3a8526227be_0_57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61350263" name="Google Shape;283;g3a8526227be_0_57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8307001" name="Google Shape;290;g3a8526227be_0_58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763731806" name="Google Shape;291;g3a8526227be_0_58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76922020" name="Google Shape;298;g3a8526227be_0_58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584256458" name="Google Shape;299;g3a8526227be_0_589: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108508" name="Google Shape;307;g3a854632a9a_2_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578844652" name="Google Shape;308;g3a854632a9a_2_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69469317" name="Google Shape;315;g3a854632a9a_2_1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94740502" name="Google Shape;316;g3a854632a9a_2_18: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699577" name="Google Shape;323;g3a854632a9a_2_2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72953594" name="Google Shape;324;g3a854632a9a_2_2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0231048" name="Google Shape;331;g3a854632a9a_2_3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527857200" name="Google Shape;332;g3a854632a9a_2_32: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22005206" name="Google Shape;339;g3a854632a9a_2_3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180485057" name="Google Shape;340;g3a854632a9a_2_39: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54883245" name="Google Shape;348;g3a854632a9a_2_4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718669092" name="Google Shape;349;g3a854632a9a_2_47: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16251831" name="Google Shape;357;g3a854632a9a_2_5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00345191" name="Google Shape;358;g3a854632a9a_2_5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51109461"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461664" name="Google Shape;4;n"/>
          <p:cNvSpPr txBox="1"/>
          <p:nvPr>
            <p:ph type="body" idx="1"/>
          </p:nvPr>
        </p:nvSpPr>
        <p:spPr bwMode="auto">
          <a:prstGeom prst="rect">
            <a:avLst/>
          </a:prstGeom>
          <a:noFill/>
          <a:ln>
            <a:noFill/>
          </a:ln>
        </p:spPr>
        <p:txBody>
          <a:bodyPr/>
          <a:lstStyle/>
          <a:p>
            <a:pPr>
              <a:defRPr/>
            </a:pPr>
            <a:endParaRPr/>
          </a:p>
        </p:txBody>
      </p:sp>
      <p:sp>
        <p:nvSpPr>
          <p:cNvPr id="413181060"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8D879778-B5E4-0C2D-1632-1D23B606C523}"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56973357"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2002741" name="Google Shape;4;n"/>
          <p:cNvSpPr txBox="1"/>
          <p:nvPr>
            <p:ph type="body" idx="1"/>
          </p:nvPr>
        </p:nvSpPr>
        <p:spPr bwMode="auto">
          <a:prstGeom prst="rect">
            <a:avLst/>
          </a:prstGeom>
          <a:noFill/>
          <a:ln>
            <a:noFill/>
          </a:ln>
        </p:spPr>
        <p:txBody>
          <a:bodyPr/>
          <a:lstStyle/>
          <a:p>
            <a:pPr>
              <a:defRPr/>
            </a:pPr>
            <a:endParaRPr/>
          </a:p>
        </p:txBody>
      </p:sp>
      <p:sp>
        <p:nvSpPr>
          <p:cNvPr id="1946858119"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449A7A5B-FE6D-9F96-B8ED-2BDD75F14E83}"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8548417" name="Google Shape;366;g3a854632a9a_2_6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679131882" name="Google Shape;367;g3a854632a9a_2_63: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12920736" name="Google Shape;374;g3a8526227be_0_59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24780761" name="Google Shape;375;g3a8526227be_0_59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7742592" name="Google Shape;382;g3a854632a9a_2_8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09367603" name="Google Shape;383;g3a854632a9a_2_8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97866238" name="Google Shape;391;g3a854632a9a_2_9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22988970" name="Google Shape;392;g3a854632a9a_2_9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5097494" name="Google Shape;400;g3a854632a9a_2_11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000964790" name="Google Shape;401;g3a854632a9a_2_113: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44014136" name="Google Shape;409;g3a854632a9a_2_12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088126826" name="Google Shape;410;g3a854632a9a_2_12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60396737" name="Google Shape;418;g3a854632a9a_2_14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661899234" name="Google Shape;419;g3a854632a9a_2_141: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2597487"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3259331" name="Google Shape;4;n"/>
          <p:cNvSpPr txBox="1"/>
          <p:nvPr>
            <p:ph type="body" idx="1"/>
          </p:nvPr>
        </p:nvSpPr>
        <p:spPr bwMode="auto">
          <a:prstGeom prst="rect">
            <a:avLst/>
          </a:prstGeom>
          <a:noFill/>
          <a:ln>
            <a:noFill/>
          </a:ln>
        </p:spPr>
        <p:txBody>
          <a:bodyPr/>
          <a:lstStyle/>
          <a:p>
            <a:pPr>
              <a:defRPr/>
            </a:pPr>
            <a:endParaRPr/>
          </a:p>
        </p:txBody>
      </p:sp>
      <p:sp>
        <p:nvSpPr>
          <p:cNvPr id="231839822"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EF2D2C0E-9E85-BDAC-E9B5-68B7D6857BBA}"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81216713" name="Google Shape;427;g3a854632a9a_2_15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968311838" name="Google Shape;428;g3a854632a9a_2_155: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85546211" name="Google Shape;435;g3a854632a9a_2_16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948002543" name="Google Shape;436;g3a854632a9a_2_166: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48674471" name="Google Shape;443;g3a854632a9a_2_17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64523677" name="Google Shape;444;g3a854632a9a_2_17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39944645" name="Google Shape;451;g3a854632a9a_2_18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57094227" name="Google Shape;452;g3a854632a9a_2_182: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02360889" name="Google Shape;459;g3a854632a9a_2_18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63151051" name="Google Shape;460;g3a854632a9a_2_189: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5675998" name="Google Shape;467;g3a854632a9a_2_19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796448705" name="Google Shape;468;g3a854632a9a_2_196: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9846025" name="Google Shape;475;g3a854632a9a_2_35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709626277" name="Google Shape;476;g3a854632a9a_2_355: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1034995" name="Google Shape;483;g3a854632a9a_2_36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510218666" name="Google Shape;484;g3a854632a9a_2_362: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1025111" name="Google Shape;491;g3a854632a9a_2_36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254148863" name="Google Shape;492;g3a854632a9a_2_369: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8427390" name="Google Shape;499;g3a854632a9a_2_37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242869828" name="Google Shape;500;g3a854632a9a_2_376: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2734721" name="Google Shape;507;g3a854632a9a_2_38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08172648" name="Google Shape;508;g3a854632a9a_2_383: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90533229" name="Google Shape;515;g3a854632a9a_2_390: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32517174" name="Google Shape;516;g3a854632a9a_2_390: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0052850" name="Google Shape;523;g3a854632a9a_2_39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261848289" name="Google Shape;524;g3a854632a9a_2_397:notes"/>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44102066" name="Google Shape;3;n"/>
          <p:cNvSpPr/>
          <p:nvPr>
            <p:ph type="sldImg" idx="2"/>
          </p:nvPr>
        </p:nvSpPr>
        <p:spPr bwMode="auto">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6310040" name="Google Shape;4;n"/>
          <p:cNvSpPr txBox="1"/>
          <p:nvPr>
            <p:ph type="body" idx="1"/>
          </p:nvPr>
        </p:nvSpPr>
        <p:spPr bwMode="auto">
          <a:prstGeom prst="rect">
            <a:avLst/>
          </a:prstGeom>
          <a:noFill/>
          <a:ln>
            <a:noFill/>
          </a:ln>
        </p:spPr>
        <p:txBody>
          <a:bodyPr/>
          <a:lstStyle/>
          <a:p>
            <a:pPr>
              <a:defRPr/>
            </a:pPr>
            <a:endParaRPr/>
          </a:p>
        </p:txBody>
      </p:sp>
      <p:sp>
        <p:nvSpPr>
          <p:cNvPr id="1622764016"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66764862-EF3E-847C-8B02-73E172E89424}"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01472062" name="Google Shape;531;g3a854632a9a_2_7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102349337" name="Google Shape;532;g3a854632a9a_2_73: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8860574" name="Google Shape;541;g3a854632a9a_2_20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972441351" name="Google Shape;542;g3a854632a9a_2_20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95883371" name="Google Shape;549;g3a854632a9a_2_21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103579193" name="Google Shape;550;g3a854632a9a_2_215: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09100284" name="Google Shape;557;g3a854632a9a_2_22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108756319" name="Google Shape;558;g3a854632a9a_2_22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16116123" name="Google Shape;565;g3a854632a9a_2_22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842597942" name="Google Shape;566;g3a854632a9a_2_229: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6771958" name="Google Shape;573;g3a854632a9a_2_239: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23462318" name="Google Shape;574;g3a854632a9a_2_239: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65649221" name="Google Shape;581;g3a854632a9a_2_24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989748784" name="Google Shape;582;g3a854632a9a_2_24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17021698" name="Google Shape;589;g3a854632a9a_2_25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75127457" name="Google Shape;590;g3a854632a9a_2_25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31259731" name="Google Shape;598;g3a854632a9a_2_266: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55931002" name="Google Shape;599;g3a854632a9a_2_266: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61867190" name="Google Shape;606;g3a854632a9a_2_27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320813865" name="Google Shape;607;g3a854632a9a_2_27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8407383" name="Google Shape;614;g3a854632a9a_2_28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832671077" name="Google Shape;615;g3a854632a9a_2_281: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79673157" name="Google Shape;622;g3a854632a9a_2_295: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118811455" name="Google Shape;623;g3a854632a9a_2_295: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38322991" name="Google Shape;630;g3a854632a9a_2_28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92334569" name="Google Shape;631;g3a854632a9a_2_28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41928929" name="Google Shape;638;g3a8526227be_0_61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506533266" name="Google Shape;639;g3a8526227be_0_61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84492186" name="Google Shape;648;g3a854632a9a_2_31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044947782" name="Google Shape;649;g3a854632a9a_2_31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1685596" name="Google Shape;656;g3a854632a9a_2_32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961415307" name="Google Shape;657;g3a854632a9a_2_321: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74139309" name="Google Shape;664;g3a854632a9a_2_32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048491290" name="Google Shape;665;g3a854632a9a_2_32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16049252" name="Google Shape;672;g3a854632a9a_2_337: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852690049" name="Google Shape;673;g3a854632a9a_2_337: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4650507" name="Google Shape;680;g3a854632a9a_2_344: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27428330" name="Google Shape;681;g3a854632a9a_2_34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87588080" name="Google Shape;688;g3a8526227be_0_622: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470248967" name="Google Shape;689;g3a8526227be_0_62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07182566" name="Google Shape;695;g3a8526227be_0_62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
        <p:nvSpPr>
          <p:cNvPr id="1746438167" name="Google Shape;696;g3a8526227be_0_62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a de título" preserve="0" showMasterPhAnim="0" showMasterSp="1" type="title" userDrawn="1">
  <p:cSld name="TITLE">
    <p:spTree>
      <p:nvGrpSpPr>
        <p:cNvPr id="1" name=""/>
        <p:cNvGrpSpPr/>
        <p:nvPr/>
      </p:nvGrpSpPr>
      <p:grpSpPr bwMode="auto">
        <a:xfrm>
          <a:off x="0" y="0"/>
          <a:ext cx="0" cy="0"/>
          <a:chOff x="0" y="0"/>
          <a:chExt cx="0" cy="0"/>
        </a:xfrm>
      </p:grpSpPr>
      <p:sp>
        <p:nvSpPr>
          <p:cNvPr id="184265728" name="Google Shape;15;p2"/>
          <p:cNvSpPr/>
          <p:nvPr/>
        </p:nvSpPr>
        <p:spPr bwMode="auto">
          <a:xfrm>
            <a:off x="446534" y="3085764"/>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85103032" name="Google Shape;16;p2"/>
          <p:cNvSpPr txBox="1"/>
          <p:nvPr>
            <p:ph type="ctrTitle"/>
          </p:nvPr>
        </p:nvSpPr>
        <p:spPr bwMode="auto">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50442514" name="Google Shape;17;p2"/>
          <p:cNvSpPr txBox="1"/>
          <p:nvPr>
            <p:ph type="subTitle" idx="1"/>
          </p:nvPr>
        </p:nvSpPr>
        <p:spPr bwMode="auto">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pPr>
              <a:defRPr/>
            </a:pPr>
            <a:endParaRPr/>
          </a:p>
        </p:txBody>
      </p:sp>
      <p:sp>
        <p:nvSpPr>
          <p:cNvPr id="1248055939" name="Google Shape;18;p2"/>
          <p:cNvSpPr txBox="1"/>
          <p:nvPr>
            <p:ph type="dt" idx="10"/>
          </p:nvPr>
        </p:nvSpPr>
        <p:spPr bwMode="auto">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42151705" name="Google Shape;19;p2"/>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94116350" name="Google Shape;20;p2"/>
          <p:cNvSpPr txBox="1"/>
          <p:nvPr>
            <p:ph type="sldNum" idx="12"/>
          </p:nvPr>
        </p:nvSpPr>
        <p:spPr bwMode="auto">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y objetos" preserve="0" showMasterPhAnim="0" showMasterSp="1" type="obj" userDrawn="1">
  <p:cSld name="OBJECT">
    <p:spTree>
      <p:nvGrpSpPr>
        <p:cNvPr id="1" name=""/>
        <p:cNvGrpSpPr/>
        <p:nvPr/>
      </p:nvGrpSpPr>
      <p:grpSpPr bwMode="auto">
        <a:xfrm>
          <a:off x="0" y="0"/>
          <a:ext cx="0" cy="0"/>
          <a:chOff x="0" y="0"/>
          <a:chExt cx="0" cy="0"/>
        </a:xfrm>
      </p:grpSpPr>
      <p:sp>
        <p:nvSpPr>
          <p:cNvPr id="1701989440" name="Google Shape;22;p3"/>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21653279" name="Google Shape;23;p3"/>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49966791" name="Google Shape;24;p3"/>
          <p:cNvSpPr txBox="1"/>
          <p:nvPr>
            <p:ph type="body" idx="1"/>
          </p:nvPr>
        </p:nvSpPr>
        <p:spPr bwMode="auto">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677775125" name="Google Shape;25;p3"/>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083887323" name="Google Shape;26;p3"/>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53211963" name="Google Shape;27;p3"/>
          <p:cNvSpPr txBox="1"/>
          <p:nvPr>
            <p:ph type="sldNum" idx="12"/>
          </p:nvPr>
        </p:nvSpPr>
        <p:spPr bwMode="auto">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Encabezado de sección" preserve="0" showMasterPhAnim="0" showMasterSp="1" type="secHead" userDrawn="1">
  <p:cSld name="SECTION_HEADER">
    <p:spTree>
      <p:nvGrpSpPr>
        <p:cNvPr id="1" name=""/>
        <p:cNvGrpSpPr/>
        <p:nvPr/>
      </p:nvGrpSpPr>
      <p:grpSpPr bwMode="auto">
        <a:xfrm>
          <a:off x="0" y="0"/>
          <a:ext cx="0" cy="0"/>
          <a:chOff x="0" y="0"/>
          <a:chExt cx="0" cy="0"/>
        </a:xfrm>
      </p:grpSpPr>
      <p:sp>
        <p:nvSpPr>
          <p:cNvPr id="933194395" name="Google Shape;29;p4"/>
          <p:cNvSpPr/>
          <p:nvPr/>
        </p:nvSpPr>
        <p:spPr bwMode="auto">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21901955" name="Google Shape;30;p4"/>
          <p:cNvSpPr txBox="1"/>
          <p:nvPr>
            <p:ph type="title"/>
          </p:nvPr>
        </p:nvSpPr>
        <p:spPr bwMode="auto">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08191952" name="Google Shape;31;p4"/>
          <p:cNvSpPr txBox="1"/>
          <p:nvPr>
            <p:ph type="body" idx="1"/>
          </p:nvPr>
        </p:nvSpPr>
        <p:spPr bwMode="auto">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pPr>
              <a:defRPr/>
            </a:pPr>
            <a:endParaRPr/>
          </a:p>
        </p:txBody>
      </p:sp>
      <p:sp>
        <p:nvSpPr>
          <p:cNvPr id="1720298389" name="Google Shape;32;p4"/>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54095205" name="Google Shape;33;p4"/>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7859085" name="Google Shape;34;p4"/>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os objetos" preserve="0" showMasterPhAnim="0" showMasterSp="1" type="twoObj" userDrawn="1">
  <p:cSld name="TWO_OBJECTS">
    <p:spTree>
      <p:nvGrpSpPr>
        <p:cNvPr id="1" name=""/>
        <p:cNvGrpSpPr/>
        <p:nvPr/>
      </p:nvGrpSpPr>
      <p:grpSpPr bwMode="auto">
        <a:xfrm>
          <a:off x="0" y="0"/>
          <a:ext cx="0" cy="0"/>
          <a:chOff x="0" y="0"/>
          <a:chExt cx="0" cy="0"/>
        </a:xfrm>
      </p:grpSpPr>
      <p:sp>
        <p:nvSpPr>
          <p:cNvPr id="1420450178" name="Google Shape;36;p5"/>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61769597" name="Google Shape;37;p5"/>
          <p:cNvSpPr txBox="1"/>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57965019" name="Google Shape;38;p5"/>
          <p:cNvSpPr txBox="1"/>
          <p:nvPr>
            <p:ph type="body" idx="1"/>
          </p:nvPr>
        </p:nvSpPr>
        <p:spPr bwMode="auto">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295042998" name="Google Shape;39;p5"/>
          <p:cNvSpPr txBox="1"/>
          <p:nvPr>
            <p:ph type="body" idx="2"/>
          </p:nvPr>
        </p:nvSpPr>
        <p:spPr bwMode="auto">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504498678" name="Google Shape;40;p5"/>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76249217" name="Google Shape;41;p5"/>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32137771" name="Google Shape;42;p5"/>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ción" preserve="0" showMasterPhAnim="0" showMasterSp="1" type="twoTxTwoObj" userDrawn="1">
  <p:cSld name="TWO_OBJECTS_WITH_TEXT">
    <p:spTree>
      <p:nvGrpSpPr>
        <p:cNvPr id="1" name=""/>
        <p:cNvGrpSpPr/>
        <p:nvPr/>
      </p:nvGrpSpPr>
      <p:grpSpPr bwMode="auto">
        <a:xfrm>
          <a:off x="0" y="0"/>
          <a:ext cx="0" cy="0"/>
          <a:chOff x="0" y="0"/>
          <a:chExt cx="0" cy="0"/>
        </a:xfrm>
      </p:grpSpPr>
      <p:sp>
        <p:nvSpPr>
          <p:cNvPr id="1972061084" name="Google Shape;44;p6"/>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11654235" name="Google Shape;45;p6"/>
          <p:cNvSpPr txBox="1"/>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449723757" name="Google Shape;46;p6"/>
          <p:cNvSpPr txBox="1"/>
          <p:nvPr>
            <p:ph type="body" idx="1"/>
          </p:nvPr>
        </p:nvSpPr>
        <p:spPr bwMode="auto">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pPr>
              <a:defRPr/>
            </a:pPr>
            <a:endParaRPr/>
          </a:p>
        </p:txBody>
      </p:sp>
      <p:sp>
        <p:nvSpPr>
          <p:cNvPr id="1255501973" name="Google Shape;47;p6"/>
          <p:cNvSpPr txBox="1"/>
          <p:nvPr>
            <p:ph type="body" idx="2"/>
          </p:nvPr>
        </p:nvSpPr>
        <p:spPr bwMode="auto">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2060962117" name="Google Shape;48;p6"/>
          <p:cNvSpPr txBox="1"/>
          <p:nvPr>
            <p:ph type="body" idx="3"/>
          </p:nvPr>
        </p:nvSpPr>
        <p:spPr bwMode="auto">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pPr>
              <a:defRPr/>
            </a:pPr>
            <a:endParaRPr/>
          </a:p>
        </p:txBody>
      </p:sp>
      <p:sp>
        <p:nvSpPr>
          <p:cNvPr id="1442771441" name="Google Shape;49;p6"/>
          <p:cNvSpPr txBox="1"/>
          <p:nvPr>
            <p:ph type="body" idx="4"/>
          </p:nvPr>
        </p:nvSpPr>
        <p:spPr bwMode="auto">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803181562" name="Google Shape;50;p6"/>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77337787" name="Google Shape;51;p6"/>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86229018" name="Google Shape;52;p6"/>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olo el título" preserve="0" showMasterPhAnim="0" showMasterSp="1" type="titleOnly" userDrawn="1">
  <p:cSld name="TITLE_ONLY">
    <p:spTree>
      <p:nvGrpSpPr>
        <p:cNvPr id="1" name=""/>
        <p:cNvGrpSpPr/>
        <p:nvPr/>
      </p:nvGrpSpPr>
      <p:grpSpPr bwMode="auto">
        <a:xfrm>
          <a:off x="0" y="0"/>
          <a:ext cx="0" cy="0"/>
          <a:chOff x="0" y="0"/>
          <a:chExt cx="0" cy="0"/>
        </a:xfrm>
      </p:grpSpPr>
      <p:sp>
        <p:nvSpPr>
          <p:cNvPr id="1887718803" name="Google Shape;54;p7"/>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627804517" name="Google Shape;55;p7"/>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565596447" name="Google Shape;56;p7"/>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
        <p:nvSpPr>
          <p:cNvPr id="840667832" name="Google Shape;57;p7"/>
          <p:cNvSpPr/>
          <p:nvPr/>
        </p:nvSpPr>
        <p:spPr bwMode="auto">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362342748" name="Google Shape;58;p7"/>
          <p:cNvSpPr txBox="1"/>
          <p:nvPr>
            <p:ph type="title"/>
          </p:nvPr>
        </p:nvSpPr>
        <p:spPr bwMode="auto">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En blanco" preserve="0" showMasterPhAnim="0" showMasterSp="1" type="blank" userDrawn="1">
  <p:cSld name="BLANK">
    <p:spTree>
      <p:nvGrpSpPr>
        <p:cNvPr id="1" name=""/>
        <p:cNvGrpSpPr/>
        <p:nvPr/>
      </p:nvGrpSpPr>
      <p:grpSpPr bwMode="auto">
        <a:xfrm>
          <a:off x="0" y="0"/>
          <a:ext cx="0" cy="0"/>
          <a:chOff x="0" y="0"/>
          <a:chExt cx="0" cy="0"/>
        </a:xfrm>
      </p:grpSpPr>
      <p:sp>
        <p:nvSpPr>
          <p:cNvPr id="1948663213" name="Google Shape;60;p8"/>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823966969" name="Google Shape;61;p8"/>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00925350" name="Google Shape;62;p8"/>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ido con título" preserve="0" showMasterPhAnim="0" showMasterSp="1" type="objTx" userDrawn="1">
  <p:cSld name="OBJECT_WITH_CAPTION_TEXT">
    <p:spTree>
      <p:nvGrpSpPr>
        <p:cNvPr id="1" name=""/>
        <p:cNvGrpSpPr/>
        <p:nvPr/>
      </p:nvGrpSpPr>
      <p:grpSpPr bwMode="auto">
        <a:xfrm>
          <a:off x="0" y="0"/>
          <a:ext cx="0" cy="0"/>
          <a:chOff x="0" y="0"/>
          <a:chExt cx="0" cy="0"/>
        </a:xfrm>
      </p:grpSpPr>
      <p:sp>
        <p:nvSpPr>
          <p:cNvPr id="578095031" name="Google Shape;64;p9"/>
          <p:cNvSpPr/>
          <p:nvPr/>
        </p:nvSpPr>
        <p:spPr bwMode="auto">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31034354" name="Google Shape;65;p9"/>
          <p:cNvSpPr txBox="1"/>
          <p:nvPr>
            <p:ph type="title"/>
          </p:nvPr>
        </p:nvSpPr>
        <p:spPr bwMode="auto">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55849552" name="Google Shape;66;p9"/>
          <p:cNvSpPr txBox="1"/>
          <p:nvPr>
            <p:ph type="body" idx="1"/>
          </p:nvPr>
        </p:nvSpPr>
        <p:spPr bwMode="auto">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7" algn="l">
              <a:lnSpc>
                <a:spcPct val="100000"/>
              </a:lnSpc>
              <a:spcBef>
                <a:spcPts val="600"/>
              </a:spcBef>
              <a:spcAft>
                <a:spcPts val="0"/>
              </a:spcAft>
              <a:buSzPts val="1288"/>
              <a:buChar char="◼"/>
              <a:defRPr sz="1400">
                <a:solidFill>
                  <a:schemeClr val="dk2"/>
                </a:solidFill>
              </a:defRPr>
            </a:lvl4pPr>
            <a:lvl5pPr marL="2286000" lvl="4" indent="-310387" algn="l">
              <a:lnSpc>
                <a:spcPct val="100000"/>
              </a:lnSpc>
              <a:spcBef>
                <a:spcPts val="600"/>
              </a:spcBef>
              <a:spcAft>
                <a:spcPts val="0"/>
              </a:spcAft>
              <a:buSzPts val="1288"/>
              <a:buChar char="◼"/>
              <a:defRPr sz="1400">
                <a:solidFill>
                  <a:schemeClr val="dk2"/>
                </a:solidFill>
              </a:defRPr>
            </a:lvl5pPr>
            <a:lvl6pPr marL="2743200" lvl="5" indent="-310387" algn="l">
              <a:lnSpc>
                <a:spcPct val="100000"/>
              </a:lnSpc>
              <a:spcBef>
                <a:spcPts val="600"/>
              </a:spcBef>
              <a:spcAft>
                <a:spcPts val="0"/>
              </a:spcAft>
              <a:buSzPts val="1288"/>
              <a:buChar char="◼"/>
              <a:defRPr sz="1400">
                <a:solidFill>
                  <a:schemeClr val="dk2"/>
                </a:solidFill>
              </a:defRPr>
            </a:lvl6pPr>
            <a:lvl7pPr marL="3200400" lvl="6" indent="-310387" algn="l">
              <a:lnSpc>
                <a:spcPct val="100000"/>
              </a:lnSpc>
              <a:spcBef>
                <a:spcPts val="600"/>
              </a:spcBef>
              <a:spcAft>
                <a:spcPts val="0"/>
              </a:spcAft>
              <a:buSzPts val="1288"/>
              <a:buChar char="◼"/>
              <a:defRPr sz="1400">
                <a:solidFill>
                  <a:schemeClr val="dk2"/>
                </a:solidFill>
              </a:defRPr>
            </a:lvl7pPr>
            <a:lvl8pPr marL="3657600" lvl="7" indent="-310387" algn="l">
              <a:lnSpc>
                <a:spcPct val="100000"/>
              </a:lnSpc>
              <a:spcBef>
                <a:spcPts val="600"/>
              </a:spcBef>
              <a:spcAft>
                <a:spcPts val="0"/>
              </a:spcAft>
              <a:buSzPts val="1288"/>
              <a:buChar char="◼"/>
              <a:defRPr sz="1400">
                <a:solidFill>
                  <a:schemeClr val="dk2"/>
                </a:solidFill>
              </a:defRPr>
            </a:lvl8pPr>
            <a:lvl9pPr marL="4114800" lvl="8" indent="-310387" algn="l">
              <a:lnSpc>
                <a:spcPct val="100000"/>
              </a:lnSpc>
              <a:spcBef>
                <a:spcPts val="600"/>
              </a:spcBef>
              <a:spcAft>
                <a:spcPts val="600"/>
              </a:spcAft>
              <a:buSzPts val="1288"/>
              <a:buChar char="◼"/>
              <a:defRPr sz="1400">
                <a:solidFill>
                  <a:schemeClr val="dk2"/>
                </a:solidFill>
              </a:defRPr>
            </a:lvl9pPr>
          </a:lstStyle>
          <a:p>
            <a:pPr>
              <a:defRPr/>
            </a:pPr>
            <a:endParaRPr/>
          </a:p>
        </p:txBody>
      </p:sp>
      <p:sp>
        <p:nvSpPr>
          <p:cNvPr id="299227907" name="Google Shape;67;p9"/>
          <p:cNvSpPr txBox="1"/>
          <p:nvPr>
            <p:ph type="body" idx="2"/>
          </p:nvPr>
        </p:nvSpPr>
        <p:spPr bwMode="auto">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pPr>
              <a:defRPr/>
            </a:pPr>
            <a:endParaRPr/>
          </a:p>
        </p:txBody>
      </p:sp>
      <p:sp>
        <p:nvSpPr>
          <p:cNvPr id="1997358668" name="Google Shape;68;p9"/>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067395596" name="Google Shape;69;p9"/>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767183725" name="Google Shape;70;p9"/>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n con título" preserve="0" showMasterPhAnim="0" showMasterSp="1" type="picTx" userDrawn="1">
  <p:cSld name="PICTURE_WITH_CAPTION_TEXT">
    <p:spTree>
      <p:nvGrpSpPr>
        <p:cNvPr id="1" name=""/>
        <p:cNvGrpSpPr/>
        <p:nvPr/>
      </p:nvGrpSpPr>
      <p:grpSpPr bwMode="auto">
        <a:xfrm>
          <a:off x="0" y="0"/>
          <a:ext cx="0" cy="0"/>
          <a:chOff x="0" y="0"/>
          <a:chExt cx="0" cy="0"/>
        </a:xfrm>
      </p:grpSpPr>
      <p:sp>
        <p:nvSpPr>
          <p:cNvPr id="1477980862" name="Google Shape;72;p10"/>
          <p:cNvSpPr txBox="1"/>
          <p:nvPr>
            <p:ph type="title"/>
          </p:nvPr>
        </p:nvSpPr>
        <p:spPr bwMode="auto">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115114300" name="Google Shape;73;p10"/>
          <p:cNvSpPr/>
          <p:nvPr>
            <p:ph type="pic" idx="2"/>
          </p:nvPr>
        </p:nvSpPr>
        <p:spPr bwMode="auto">
          <a:xfrm>
            <a:off x="447817" y="599725"/>
            <a:ext cx="11290859" cy="3557252"/>
          </a:xfrm>
          <a:prstGeom prst="rect">
            <a:avLst/>
          </a:prstGeom>
          <a:noFill/>
          <a:ln>
            <a:noFill/>
          </a:ln>
        </p:spPr>
      </p:sp>
      <p:sp>
        <p:nvSpPr>
          <p:cNvPr id="419492057" name="Google Shape;74;p10"/>
          <p:cNvSpPr txBox="1"/>
          <p:nvPr>
            <p:ph type="body" idx="1"/>
          </p:nvPr>
        </p:nvSpPr>
        <p:spPr bwMode="auto">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pPr>
              <a:defRPr/>
            </a:pPr>
            <a:endParaRPr/>
          </a:p>
        </p:txBody>
      </p:sp>
      <p:sp>
        <p:nvSpPr>
          <p:cNvPr id="239595557" name="Google Shape;75;p10"/>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568325606" name="Google Shape;76;p10"/>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35511983" name="Google Shape;77;p10"/>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y texto vertical" preserve="0" showMasterPhAnim="0" showMasterSp="1" type="vertTx" userDrawn="1">
  <p:cSld name="VERTICAL_TEXT">
    <p:spTree>
      <p:nvGrpSpPr>
        <p:cNvPr id="1" name=""/>
        <p:cNvGrpSpPr/>
        <p:nvPr/>
      </p:nvGrpSpPr>
      <p:grpSpPr bwMode="auto">
        <a:xfrm>
          <a:off x="0" y="0"/>
          <a:ext cx="0" cy="0"/>
          <a:chOff x="0" y="0"/>
          <a:chExt cx="0" cy="0"/>
        </a:xfrm>
      </p:grpSpPr>
      <p:sp>
        <p:nvSpPr>
          <p:cNvPr id="525163236" name="Google Shape;79;p11"/>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53596391" name="Google Shape;80;p11"/>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89497342" name="Google Shape;81;p11"/>
          <p:cNvSpPr txBox="1"/>
          <p:nvPr>
            <p:ph type="body" idx="1"/>
          </p:nvPr>
        </p:nvSpPr>
        <p:spPr bwMode="auto">
          <a:xfrm rot="5400000">
            <a:off x="4334603" y="-1417408"/>
            <a:ext cx="3522793"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7"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583348447" name="Google Shape;82;p11"/>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6432170" name="Google Shape;83;p11"/>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723243368" name="Google Shape;84;p11"/>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vertical y texto" preserve="0" showMasterPhAnim="0" showMasterSp="1" type="vertTitleAndTx" userDrawn="1">
  <p:cSld name="VERTICAL_TITLE_AND_VERTICAL_TEXT">
    <p:spTree>
      <p:nvGrpSpPr>
        <p:cNvPr id="1" name=""/>
        <p:cNvGrpSpPr/>
        <p:nvPr/>
      </p:nvGrpSpPr>
      <p:grpSpPr bwMode="auto">
        <a:xfrm>
          <a:off x="0" y="0"/>
          <a:ext cx="0" cy="0"/>
          <a:chOff x="0" y="0"/>
          <a:chExt cx="0" cy="0"/>
        </a:xfrm>
      </p:grpSpPr>
      <p:sp>
        <p:nvSpPr>
          <p:cNvPr id="1946303183" name="Google Shape;86;p12"/>
          <p:cNvSpPr/>
          <p:nvPr/>
        </p:nvSpPr>
        <p:spPr bwMode="auto">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25729831" name="Google Shape;87;p12"/>
          <p:cNvSpPr txBox="1"/>
          <p:nvPr>
            <p:ph type="title"/>
          </p:nvPr>
        </p:nvSpPr>
        <p:spPr bwMode="auto">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786389861" name="Google Shape;88;p12"/>
          <p:cNvSpPr txBox="1"/>
          <p:nvPr>
            <p:ph type="body" idx="1"/>
          </p:nvPr>
        </p:nvSpPr>
        <p:spPr bwMode="auto">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925011739" name="Google Shape;89;p12"/>
          <p:cNvSpPr txBox="1"/>
          <p:nvPr>
            <p:ph type="dt" idx="10"/>
          </p:nvPr>
        </p:nvSpPr>
        <p:spPr bwMode="auto">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83568631" name="Google Shape;90;p12"/>
          <p:cNvSpPr txBox="1"/>
          <p:nvPr>
            <p:ph type="ftr" idx="11"/>
          </p:nvPr>
        </p:nvSpPr>
        <p:spPr bwMode="auto">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806046764" name="Google Shape;91;p12"/>
          <p:cNvSpPr txBox="1"/>
          <p:nvPr>
            <p:ph type="sldNum" idx="12"/>
          </p:nvPr>
        </p:nvSpPr>
        <p:spPr bwMode="auto">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143476563" name="Google Shape;6;p1"/>
          <p:cNvSpPr txBox="1"/>
          <p:nvPr>
            <p:ph type="title"/>
          </p:nvPr>
        </p:nvSpPr>
        <p:spPr bwMode="auto">
          <a:xfrm>
            <a:off x="581192" y="705123"/>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9pPr>
          </a:lstStyle>
          <a:p>
            <a:pPr>
              <a:defRPr/>
            </a:pPr>
            <a:endParaRPr/>
          </a:p>
        </p:txBody>
      </p:sp>
      <p:sp>
        <p:nvSpPr>
          <p:cNvPr id="76715525" name="Google Shape;7;p1"/>
          <p:cNvSpPr txBox="1"/>
          <p:nvPr>
            <p:ph type="body" idx="1"/>
          </p:nvPr>
        </p:nvSpPr>
        <p:spPr bwMode="auto">
          <a:xfrm>
            <a:off x="581192" y="2336003"/>
            <a:ext cx="11029616" cy="3522793"/>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defRPr>
            </a:lvl2pPr>
            <a:lvl3pPr marL="1371600" marR="0" lvl="2" indent="-310387"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9pPr>
          </a:lstStyle>
          <a:p>
            <a:pPr>
              <a:defRPr/>
            </a:pPr>
            <a:endParaRPr/>
          </a:p>
        </p:txBody>
      </p:sp>
      <p:sp>
        <p:nvSpPr>
          <p:cNvPr id="526100674" name="Google Shape;8;p1"/>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9pPr>
          </a:lstStyle>
          <a:p>
            <a:pPr>
              <a:defRPr/>
            </a:pPr>
            <a:endParaRPr/>
          </a:p>
        </p:txBody>
      </p:sp>
      <p:sp>
        <p:nvSpPr>
          <p:cNvPr id="397288618" name="Google Shape;9;p1"/>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9pPr>
          </a:lstStyle>
          <a:p>
            <a:pPr>
              <a:defRPr/>
            </a:pPr>
            <a:endParaRPr/>
          </a:p>
        </p:txBody>
      </p:sp>
      <p:sp>
        <p:nvSpPr>
          <p:cNvPr id="1767797527" name="Google Shape;10;p1"/>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
        <p:nvSpPr>
          <p:cNvPr id="1665090906" name="Google Shape;11;p1"/>
          <p:cNvSpPr/>
          <p:nvPr/>
        </p:nvSpPr>
        <p:spPr bwMode="auto">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850777003" name="Google Shape;12;p1"/>
          <p:cNvSpPr/>
          <p:nvPr/>
        </p:nvSpPr>
        <p:spPr bwMode="auto">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006542234" name="Google Shape;13;p1"/>
          <p:cNvSpPr/>
          <p:nvPr/>
        </p:nvSpPr>
        <p:spPr bwMode="auto">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7.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22.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4.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5.png"/><Relationship Id="rId4" Type="http://schemas.openxmlformats.org/officeDocument/2006/relationships/image" Target="../media/image26.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8.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image" Target="../media/image32.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3.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4.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5.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6.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7.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8.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9.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0.jp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1.jp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2.jp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66390" name="Google Shape;96;p13"/>
          <p:cNvSpPr txBox="1"/>
          <p:nvPr>
            <p:ph type="ctrTitle"/>
          </p:nvPr>
        </p:nvSpPr>
        <p:spPr bwMode="auto">
          <a:xfrm>
            <a:off x="599226" y="3063240"/>
            <a:ext cx="10993549" cy="1216151"/>
          </a:xfrm>
          <a:prstGeom prst="rect">
            <a:avLst/>
          </a:prstGeom>
          <a:noFill/>
          <a:ln>
            <a:noFill/>
          </a:ln>
        </p:spPr>
        <p:txBody>
          <a:bodyPr spcFirstLastPara="1" wrap="square" lIns="27432" tIns="18288" rIns="27432" bIns="18288" anchor="b" anchorCtr="0">
            <a:noAutofit/>
          </a:bodyPr>
          <a:lstStyle/>
          <a:p>
            <a:pPr marL="0" lvl="0" indent="0" algn="ctr" rtl="0">
              <a:lnSpc>
                <a:spcPct val="100000"/>
              </a:lnSpc>
              <a:spcBef>
                <a:spcPts val="0"/>
              </a:spcBef>
              <a:spcAft>
                <a:spcPts val="200"/>
              </a:spcAft>
              <a:buClr>
                <a:schemeClr val="lt1"/>
              </a:buClr>
              <a:buSzPts val="3600"/>
              <a:buFont typeface="Gill Sans"/>
              <a:buNone/>
              <a:defRPr/>
            </a:pPr>
            <a:r>
              <a:rPr sz="3000" b="0" i="0">
                <a:solidFill>
                  <a:srgbClr val="FFFFFF"/>
                </a:solidFill>
                <a:latin typeface="Cambria"/>
              </a:rPr>
              <a:t>MANUAL DE CONFIGURACIÓN</a:t>
            </a:r>
            <a:endParaRPr/>
          </a:p>
          <a:p>
            <a:pPr algn="ctr">
              <a:spcBef>
                <a:spcPts val="0"/>
              </a:spcBef>
              <a:spcAft>
                <a:spcPts val="600"/>
              </a:spcAft>
              <a:defRPr/>
            </a:pPr>
            <a:r>
              <a:rPr sz="3000" b="0" i="0">
                <a:solidFill>
                  <a:srgbClr val="FFFFFF"/>
                </a:solidFill>
                <a:latin typeface="Cambria"/>
              </a:rPr>
              <a:t>CONVERSIÓN DE UNIDADES MONSTER</a:t>
            </a:r>
            <a:endParaRPr/>
          </a:p>
          <a:p>
            <a:pPr algn="ctr">
              <a:spcBef>
                <a:spcPts val="0"/>
              </a:spcBef>
              <a:spcAft>
                <a:spcPts val="600"/>
              </a:spcAft>
              <a:defRPr/>
            </a:pPr>
            <a:r>
              <a:rPr sz="3000" b="0" i="0">
                <a:solidFill>
                  <a:srgbClr val="FFFFFF"/>
                </a:solidFill>
                <a:latin typeface="Cambria"/>
              </a:rPr>
              <a:t>SOAP SIN BDD EN JAVA</a:t>
            </a:r>
            <a:endParaRPr/>
          </a:p>
        </p:txBody>
      </p:sp>
      <p:sp>
        <p:nvSpPr>
          <p:cNvPr id="789506563" name="Google Shape;97;p13"/>
          <p:cNvSpPr txBox="1"/>
          <p:nvPr>
            <p:ph type="subTitle" idx="1"/>
          </p:nvPr>
        </p:nvSpPr>
        <p:spPr bwMode="auto">
          <a:xfrm>
            <a:off x="658368" y="4544568"/>
            <a:ext cx="6629400" cy="1737360"/>
          </a:xfrm>
          <a:prstGeom prst="rect">
            <a:avLst/>
          </a:prstGeom>
          <a:noFill/>
          <a:ln>
            <a:noFill/>
          </a:ln>
        </p:spPr>
        <p:txBody>
          <a:bodyPr spcFirstLastPara="1" wrap="square" lIns="27432" tIns="18288" rIns="27432" bIns="18288" anchor="t" anchorCtr="0">
            <a:noAutofit/>
          </a:bodyPr>
          <a:lstStyle/>
          <a:p>
            <a:pPr marL="0" lvl="0" indent="0" algn="l" rtl="0">
              <a:lnSpc>
                <a:spcPct val="100000"/>
              </a:lnSpc>
              <a:spcBef>
                <a:spcPts val="0"/>
              </a:spcBef>
              <a:spcAft>
                <a:spcPts val="200"/>
              </a:spcAft>
              <a:buSzPts val="1472"/>
              <a:buNone/>
              <a:defRPr/>
            </a:pPr>
            <a:r>
              <a:rPr sz="1400" b="1" i="0">
                <a:solidFill>
                  <a:srgbClr val="FFFFFF"/>
                </a:solidFill>
                <a:latin typeface="Cambria"/>
              </a:rPr>
              <a:t>INTEGRANTES:</a:t>
            </a:r>
            <a:endParaRPr b="1">
              <a:solidFill>
                <a:schemeClr val="lt1"/>
              </a:solidFill>
            </a:endParaRPr>
          </a:p>
          <a:p>
            <a:pPr algn="l">
              <a:spcBef>
                <a:spcPts val="0"/>
              </a:spcBef>
              <a:spcAft>
                <a:spcPts val="600"/>
              </a:spcAft>
              <a:defRPr/>
            </a:pPr>
            <a:r>
              <a:rPr sz="1400" b="0" i="0">
                <a:solidFill>
                  <a:srgbClr val="FFFFFF"/>
                </a:solidFill>
                <a:latin typeface="Cambria"/>
              </a:rPr>
              <a:t>MOISÉS SEBASTIÁN BENALCÁZAR FARINANGO</a:t>
            </a:r>
            <a:endParaRPr/>
          </a:p>
          <a:p>
            <a:pPr algn="l">
              <a:spcBef>
                <a:spcPts val="0"/>
              </a:spcBef>
              <a:spcAft>
                <a:spcPts val="600"/>
              </a:spcAft>
              <a:defRPr/>
            </a:pPr>
            <a:r>
              <a:rPr sz="1400" b="0" i="0">
                <a:solidFill>
                  <a:srgbClr val="FFFFFF"/>
                </a:solidFill>
                <a:latin typeface="Cambria"/>
              </a:rPr>
              <a:t>WILMER OMAR BUESTÁN GUAILLAS</a:t>
            </a:r>
            <a:endParaRPr/>
          </a:p>
          <a:p>
            <a:pPr algn="l">
              <a:spcBef>
                <a:spcPts val="0"/>
              </a:spcBef>
              <a:spcAft>
                <a:spcPts val="600"/>
              </a:spcAft>
              <a:defRPr/>
            </a:pPr>
            <a:r>
              <a:rPr sz="1400" b="0" i="0">
                <a:solidFill>
                  <a:srgbClr val="FFFFFF"/>
                </a:solidFill>
                <a:latin typeface="Cambria"/>
              </a:rPr>
              <a:t>JEFFERSON SANTIAGO MASAPANTA GUILCATOMA</a:t>
            </a:r>
            <a:endParaRPr/>
          </a:p>
        </p:txBody>
      </p:sp>
      <p:pic>
        <p:nvPicPr>
          <p:cNvPr id="1963211673" name="Google Shape;98;p13" descr="Resultado de imagen para espe"/>
          <p:cNvPicPr/>
          <p:nvPr/>
        </p:nvPicPr>
        <p:blipFill rotWithShape="1">
          <a:blip r:embed="rId3">
            <a:alphaModFix/>
          </a:blip>
          <a:srcRect l="0" t="0" r="0" b="0"/>
          <a:stretch/>
        </p:blipFill>
        <p:spPr bwMode="auto">
          <a:xfrm>
            <a:off x="319597" y="716302"/>
            <a:ext cx="11647502" cy="2193925"/>
          </a:xfrm>
          <a:prstGeom prst="rect">
            <a:avLst/>
          </a:prstGeom>
          <a:noFill/>
          <a:ln>
            <a:noFill/>
          </a:ln>
        </p:spPr>
      </p:pic>
      <p:sp>
        <p:nvSpPr>
          <p:cNvPr id="458991108" name="Google Shape;99;p13"/>
          <p:cNvSpPr txBox="1"/>
          <p:nvPr/>
        </p:nvSpPr>
        <p:spPr bwMode="auto">
          <a:xfrm>
            <a:off x="8092440" y="5715000"/>
            <a:ext cx="3657600" cy="548640"/>
          </a:xfrm>
          <a:prstGeom prst="rect">
            <a:avLst/>
          </a:prstGeom>
          <a:noFill/>
          <a:ln>
            <a:noFill/>
          </a:ln>
        </p:spPr>
        <p:txBody>
          <a:bodyPr spcFirstLastPara="1" wrap="square" lIns="27432" tIns="18288" rIns="27432" bIns="18288" anchor="t" anchorCtr="0">
            <a:noAutofit/>
          </a:bodyPr>
          <a:lstStyle/>
          <a:p>
            <a:pPr marL="0" marR="0" lvl="0" indent="0" algn="l" rtl="0">
              <a:lnSpc>
                <a:spcPct val="100000"/>
              </a:lnSpc>
              <a:spcBef>
                <a:spcPts val="0"/>
              </a:spcBef>
              <a:spcAft>
                <a:spcPts val="200"/>
              </a:spcAft>
              <a:buClr>
                <a:srgbClr val="4590B8"/>
              </a:buClr>
              <a:buSzPts val="1472"/>
              <a:buFont typeface="Noto Sans Symbols"/>
              <a:buNone/>
              <a:defRPr/>
            </a:pPr>
            <a:r>
              <a:rPr sz="1300" b="0" i="0">
                <a:solidFill>
                  <a:srgbClr val="FFFFFF"/>
                </a:solidFill>
                <a:latin typeface="Cambria"/>
              </a:rPr>
              <a:t>FECHA: 27/10/2026</a:t>
            </a:r>
            <a:endParaRPr sz="1600" b="0" i="0" u="none" strike="noStrike" cap="none">
              <a:solidFill>
                <a:srgbClr val="FFFFFF"/>
              </a:solidFill>
              <a:latin typeface="Gill Sans"/>
              <a:ea typeface="Gill Sans"/>
              <a:cs typeface="Gill Sans"/>
            </a:endParaRPr>
          </a:p>
          <a:p>
            <a:pPr algn="l">
              <a:spcBef>
                <a:spcPts val="0"/>
              </a:spcBef>
              <a:spcAft>
                <a:spcPts val="600"/>
              </a:spcAft>
              <a:defRPr/>
            </a:pPr>
            <a:r>
              <a:rPr sz="1300" b="0" i="0">
                <a:solidFill>
                  <a:srgbClr val="FFFFFF"/>
                </a:solidFill>
                <a:latin typeface="Cambria"/>
              </a:rPr>
              <a:t>TUTOR: Ing. Eduardo Mauricio Campaña Ortega</a:t>
            </a:r>
            <a:endParaRPr/>
          </a:p>
        </p:txBody>
      </p:sp>
      <p:sp>
        <p:nvSpPr>
          <p:cNvPr id="859645788" name="Google Shape;100;p13"/>
          <p:cNvSpPr txBox="1"/>
          <p:nvPr/>
        </p:nvSpPr>
        <p:spPr bwMode="auto">
          <a:xfrm>
            <a:off x="11817675" y="6474048"/>
            <a:ext cx="374325" cy="400110"/>
          </a:xfrm>
          <a:prstGeom prst="rect">
            <a:avLst/>
          </a:prstGeom>
          <a:noFill/>
          <a:ln>
            <a:noFill/>
          </a:ln>
        </p:spPr>
        <p:txBody>
          <a:bodyPr spcFirstLastPara="1" wrap="square" lIns="91425" tIns="45700" rIns="91425" bIns="45700" anchor="t" anchorCtr="0">
            <a:spAutoFit/>
          </a:bodyPr>
          <a:lstStyle/>
          <a:p>
            <a:pPr>
              <a:defRPr/>
            </a:pPr>
            <a:r>
              <a:rPr/>
              <a:t>1</a:t>
            </a:r>
            <a:endParaRPr/>
          </a:p>
        </p:txBody>
      </p:sp>
      <p:pic>
        <p:nvPicPr>
          <p:cNvPr id="2073132418" name="Picture 100" descr="image1.jpg"/>
          <p:cNvPicPr>
            <a:picLocks noChangeAspect="1"/>
          </p:cNvPicPr>
          <p:nvPr/>
        </p:nvPicPr>
        <p:blipFill rotWithShape="1">
          <a:blip r:embed="rId4"/>
          <a:stretch/>
        </p:blipFill>
        <p:spPr bwMode="auto">
          <a:xfrm>
            <a:off x="8119872" y="4352544"/>
            <a:ext cx="3602735" cy="12893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lt1"/>
        </a:solidFill>
      </p:bgPr>
    </p:bg>
    <p:spTree>
      <p:nvGrpSpPr>
        <p:cNvPr id="1" name=""/>
        <p:cNvGrpSpPr/>
        <p:nvPr/>
      </p:nvGrpSpPr>
      <p:grpSpPr bwMode="auto">
        <a:xfrm>
          <a:off x="0" y="0"/>
          <a:ext cx="0" cy="0"/>
          <a:chOff x="0" y="0"/>
          <a:chExt cx="0" cy="0"/>
        </a:xfrm>
      </p:grpSpPr>
      <p:sp>
        <p:nvSpPr>
          <p:cNvPr id="289480532" name="Google Shape;105;p14"/>
          <p:cNvSpPr/>
          <p:nvPr/>
        </p:nvSpPr>
        <p:spPr bwMode="auto">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defRPr/>
            </a:pPr>
            <a:endParaRPr sz="1800" b="0" i="0" u="none" strike="noStrike" cap="none">
              <a:solidFill>
                <a:srgbClr val="FFFFFF"/>
              </a:solidFill>
              <a:latin typeface="Gill Sans"/>
              <a:ea typeface="Gill Sans"/>
              <a:cs typeface="Gill Sans"/>
            </a:endParaRPr>
          </a:p>
        </p:txBody>
      </p:sp>
      <p:sp>
        <p:nvSpPr>
          <p:cNvPr id="1176796041" name="Google Shape;106;p14"/>
          <p:cNvSpPr/>
          <p:nvPr/>
        </p:nvSpPr>
        <p:spPr bwMode="auto">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defRPr/>
            </a:pPr>
            <a:endParaRPr sz="1800" b="0" i="0" u="none" strike="noStrike" cap="none">
              <a:solidFill>
                <a:schemeClr val="lt1"/>
              </a:solidFill>
              <a:latin typeface="Gill Sans"/>
              <a:ea typeface="Gill Sans"/>
              <a:cs typeface="Gill Sans"/>
            </a:endParaRPr>
          </a:p>
        </p:txBody>
      </p:sp>
      <p:sp>
        <p:nvSpPr>
          <p:cNvPr id="1002804702" name="Google Shape;107;p14"/>
          <p:cNvSpPr txBox="1"/>
          <p:nvPr>
            <p:ph type="body" idx="1"/>
          </p:nvPr>
        </p:nvSpPr>
        <p:spPr bwMode="auto">
          <a:xfrm>
            <a:off x="596348" y="701336"/>
            <a:ext cx="3389726" cy="5424255"/>
          </a:xfrm>
          <a:prstGeom prst="rect">
            <a:avLst/>
          </a:prstGeom>
          <a:noFill/>
          <a:ln>
            <a:noFill/>
          </a:ln>
        </p:spPr>
        <p:txBody>
          <a:bodyPr spcFirstLastPara="1" wrap="square" lIns="27432" tIns="18288" rIns="27432" bIns="18288" anchor="ctr" anchorCtr="0">
            <a:noAutofit/>
          </a:bodyPr>
          <a:lstStyle/>
          <a:p>
            <a:pPr marL="306000" lvl="0" indent="-306000" algn="l" rtl="0">
              <a:lnSpc>
                <a:spcPct val="100000"/>
              </a:lnSpc>
              <a:spcBef>
                <a:spcPts val="0"/>
              </a:spcBef>
              <a:spcAft>
                <a:spcPts val="200"/>
              </a:spcAft>
              <a:buSzPts val="1656"/>
              <a:buChar char="◼"/>
              <a:defRPr/>
            </a:pPr>
            <a:r>
              <a:rPr sz="1700" b="0" i="0">
                <a:solidFill>
                  <a:srgbClr val="FFFFFF"/>
                </a:solidFill>
                <a:latin typeface="Cambria"/>
              </a:rPr>
              <a:t>INTRODUCCIÓN</a:t>
            </a:r>
            <a:endParaRPr/>
          </a:p>
          <a:p>
            <a:pPr algn="l">
              <a:spcBef>
                <a:spcPts val="0"/>
              </a:spcBef>
              <a:spcAft>
                <a:spcPts val="600"/>
              </a:spcAft>
              <a:defRPr/>
            </a:pPr>
            <a:r>
              <a:rPr sz="1700" b="0" i="0">
                <a:solidFill>
                  <a:srgbClr val="FFFFFF"/>
                </a:solidFill>
                <a:latin typeface="Cambria"/>
              </a:rPr>
              <a:t>OBJETIVOS</a:t>
            </a:r>
            <a:endParaRPr/>
          </a:p>
          <a:p>
            <a:pPr algn="l">
              <a:spcBef>
                <a:spcPts val="0"/>
              </a:spcBef>
              <a:spcAft>
                <a:spcPts val="600"/>
              </a:spcAft>
              <a:defRPr/>
            </a:pPr>
            <a:r>
              <a:rPr sz="1700" b="0" i="0">
                <a:solidFill>
                  <a:srgbClr val="FFFFFF"/>
                </a:solidFill>
                <a:latin typeface="Cambria"/>
              </a:rPr>
              <a:t>MARCO TEÓRICO</a:t>
            </a:r>
            <a:endParaRPr/>
          </a:p>
          <a:p>
            <a:pPr algn="l">
              <a:spcBef>
                <a:spcPts val="0"/>
              </a:spcBef>
              <a:spcAft>
                <a:spcPts val="600"/>
              </a:spcAft>
              <a:defRPr/>
            </a:pPr>
            <a:r>
              <a:rPr sz="1700" b="0" i="0">
                <a:solidFill>
                  <a:srgbClr val="FFFFFF"/>
                </a:solidFill>
                <a:latin typeface="Cambria"/>
              </a:rPr>
              <a:t>SERVIDOR SOAP</a:t>
            </a:r>
            <a:endParaRPr/>
          </a:p>
          <a:p>
            <a:pPr algn="l">
              <a:spcBef>
                <a:spcPts val="0"/>
              </a:spcBef>
              <a:spcAft>
                <a:spcPts val="600"/>
              </a:spcAft>
              <a:defRPr/>
            </a:pPr>
            <a:r>
              <a:rPr sz="1700" b="0" i="0">
                <a:solidFill>
                  <a:srgbClr val="FFFFFF"/>
                </a:solidFill>
                <a:latin typeface="Cambria"/>
              </a:rPr>
              <a:t>CLIENTE CONSOLA</a:t>
            </a:r>
            <a:endParaRPr/>
          </a:p>
          <a:p>
            <a:pPr algn="l">
              <a:spcBef>
                <a:spcPts val="0"/>
              </a:spcBef>
              <a:spcAft>
                <a:spcPts val="600"/>
              </a:spcAft>
              <a:defRPr/>
            </a:pPr>
            <a:r>
              <a:rPr sz="1700" b="0" i="0">
                <a:solidFill>
                  <a:srgbClr val="FFFFFF"/>
                </a:solidFill>
                <a:latin typeface="Cambria"/>
              </a:rPr>
              <a:t>PROYECTO MAUI</a:t>
            </a:r>
            <a:endParaRPr/>
          </a:p>
          <a:p>
            <a:pPr algn="l">
              <a:spcBef>
                <a:spcPts val="0"/>
              </a:spcBef>
              <a:spcAft>
                <a:spcPts val="600"/>
              </a:spcAft>
              <a:defRPr/>
            </a:pPr>
            <a:r>
              <a:rPr sz="1700" b="0" i="0">
                <a:solidFill>
                  <a:srgbClr val="FFFFFF"/>
                </a:solidFill>
                <a:latin typeface="Cambria"/>
              </a:rPr>
              <a:t>CLIENTE ESCRITORIO</a:t>
            </a:r>
            <a:endParaRPr/>
          </a:p>
          <a:p>
            <a:pPr algn="l">
              <a:spcBef>
                <a:spcPts val="0"/>
              </a:spcBef>
              <a:spcAft>
                <a:spcPts val="600"/>
              </a:spcAft>
              <a:defRPr/>
            </a:pPr>
            <a:r>
              <a:rPr sz="1700" b="0" i="0">
                <a:solidFill>
                  <a:srgbClr val="FFFFFF"/>
                </a:solidFill>
                <a:latin typeface="Cambria"/>
              </a:rPr>
              <a:t>CLIENTE WEB</a:t>
            </a:r>
            <a:endParaRPr/>
          </a:p>
          <a:p>
            <a:pPr algn="l">
              <a:spcBef>
                <a:spcPts val="0"/>
              </a:spcBef>
              <a:spcAft>
                <a:spcPts val="600"/>
              </a:spcAft>
              <a:defRPr/>
            </a:pPr>
            <a:r>
              <a:rPr sz="1700" b="0" i="0">
                <a:solidFill>
                  <a:srgbClr val="FFFFFF"/>
                </a:solidFill>
                <a:latin typeface="Cambria"/>
              </a:rPr>
              <a:t>CLIENTE MÓVIL</a:t>
            </a:r>
            <a:endParaRPr/>
          </a:p>
          <a:p>
            <a:pPr algn="l">
              <a:spcBef>
                <a:spcPts val="0"/>
              </a:spcBef>
              <a:spcAft>
                <a:spcPts val="600"/>
              </a:spcAft>
              <a:defRPr/>
            </a:pPr>
            <a:r>
              <a:rPr sz="1700" b="0" i="0">
                <a:solidFill>
                  <a:srgbClr val="FFFFFF"/>
                </a:solidFill>
                <a:latin typeface="Cambria"/>
              </a:rPr>
              <a:t>CONCLUSIONES</a:t>
            </a:r>
            <a:endParaRPr/>
          </a:p>
          <a:p>
            <a:pPr algn="l">
              <a:spcBef>
                <a:spcPts val="0"/>
              </a:spcBef>
              <a:spcAft>
                <a:spcPts val="600"/>
              </a:spcAft>
              <a:defRPr/>
            </a:pPr>
            <a:r>
              <a:rPr sz="1700" b="0" i="0">
                <a:solidFill>
                  <a:srgbClr val="FFFFFF"/>
                </a:solidFill>
                <a:latin typeface="Cambria"/>
              </a:rPr>
              <a:t>RECOMENDACIONES</a:t>
            </a:r>
            <a:endParaRPr/>
          </a:p>
        </p:txBody>
      </p:sp>
      <p:pic>
        <p:nvPicPr>
          <p:cNvPr id="1262338015" name="Google Shape;108;p14" descr="Resultado de imagen para AGENDA PNG"/>
          <p:cNvPicPr/>
          <p:nvPr/>
        </p:nvPicPr>
        <p:blipFill rotWithShape="1">
          <a:blip r:embed="rId3">
            <a:alphaModFix/>
          </a:blip>
          <a:srcRect l="0" t="0" r="0" b="0"/>
          <a:stretch/>
        </p:blipFill>
        <p:spPr bwMode="auto">
          <a:xfrm>
            <a:off x="4791522" y="1935576"/>
            <a:ext cx="6489819" cy="3007476"/>
          </a:xfrm>
          <a:prstGeom prst="rect">
            <a:avLst/>
          </a:prstGeom>
          <a:noFill/>
          <a:ln>
            <a:noFill/>
          </a:ln>
        </p:spPr>
      </p:pic>
      <p:sp>
        <p:nvSpPr>
          <p:cNvPr id="1382903670" name="Google Shape;109;p14"/>
          <p:cNvSpPr txBox="1"/>
          <p:nvPr/>
        </p:nvSpPr>
        <p:spPr bwMode="auto">
          <a:xfrm>
            <a:off x="11817675" y="6474048"/>
            <a:ext cx="374325" cy="400110"/>
          </a:xfrm>
          <a:prstGeom prst="rect">
            <a:avLst/>
          </a:prstGeom>
          <a:noFill/>
          <a:ln>
            <a:noFill/>
          </a:ln>
        </p:spPr>
        <p:txBody>
          <a:bodyPr spcFirstLastPara="1" wrap="square" lIns="91425" tIns="45700" rIns="91425" bIns="45700" anchor="t" anchorCtr="0">
            <a:spAutoFit/>
          </a:bodyPr>
          <a:lstStyle/>
          <a:p>
            <a:pPr>
              <a:defRPr/>
            </a:pPr>
            <a:r>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2112445" name="Google Shape;114;p1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INTRODUCCIÓN</a:t>
            </a:r>
            <a:endParaRPr/>
          </a:p>
        </p:txBody>
      </p:sp>
      <p:sp>
        <p:nvSpPr>
          <p:cNvPr id="669174312" name="Google Shape;115;p15"/>
          <p:cNvSpPr txBox="1"/>
          <p:nvPr>
            <p:ph type="body" idx="1"/>
          </p:nvPr>
        </p:nvSpPr>
        <p:spPr bwMode="auto">
          <a:xfrm>
            <a:off x="581192" y="2180496"/>
            <a:ext cx="8589300" cy="36783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900"/>
              </a:spcAft>
              <a:buNone/>
              <a:defRPr/>
            </a:pPr>
            <a:r>
              <a:rPr sz="1650" b="1">
                <a:solidFill>
                  <a:srgbClr val="373737"/>
                </a:solidFill>
                <a:latin typeface="Cambria"/>
              </a:rPr>
              <a:t>INTRODUCCIÓN AL SISTEMA MONSTER</a:t>
            </a:r>
            <a:endParaRPr b="1"/>
          </a:p>
          <a:p>
            <a:pPr algn="l">
              <a:spcAft>
                <a:spcPts val="900"/>
              </a:spcAft>
              <a:buNone/>
              <a:defRPr/>
            </a:pPr>
            <a:r>
              <a:rPr sz="1650" b="0">
                <a:solidFill>
                  <a:srgbClr val="373737"/>
                </a:solidFill>
                <a:latin typeface="Cambria"/>
              </a:rPr>
              <a:t>• SOAP permite que sistemas diferentes intercambien mensajes estructurados en XML. El contrato WSDL define las operaciones disponibles.</a:t>
            </a:r>
            <a:endParaRPr/>
          </a:p>
          <a:p>
            <a:pPr algn="l">
              <a:spcAft>
                <a:spcPts val="900"/>
              </a:spcAft>
              <a:buNone/>
              <a:defRPr/>
            </a:pPr>
            <a:r>
              <a:rPr sz="1650" b="0">
                <a:solidFill>
                  <a:srgbClr val="373737"/>
                </a:solidFill>
                <a:latin typeface="Cambria"/>
              </a:rPr>
              <a:t>• El servidor de conversión está desarrollado en Java con JAX-WS y desplegado en Payara Server (Jakarta EE).</a:t>
            </a:r>
            <a:endParaRPr/>
          </a:p>
          <a:p>
            <a:pPr algn="l">
              <a:spcAft>
                <a:spcPts val="900"/>
              </a:spcAft>
              <a:buNone/>
              <a:defRPr/>
            </a:pPr>
            <a:r>
              <a:rPr sz="1650" b="0">
                <a:solidFill>
                  <a:srgbClr val="373737"/>
                </a:solidFill>
                <a:latin typeface="Cambria"/>
              </a:rPr>
              <a:t>• Los clientes de consola, web, escritorio y móvil consumen el mismo servicio bajo una arquitectura cliente-servidor y orientada a servicios.</a:t>
            </a:r>
            <a:endParaRPr/>
          </a:p>
        </p:txBody>
      </p:sp>
      <p:sp>
        <p:nvSpPr>
          <p:cNvPr id="1582027541" name="Google Shape;116;p1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200" b="1" i="0" u="none" strike="noStrike" cap="none">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CONCLUSIONES</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RECOMENDACIONES</a:t>
            </a:r>
            <a:endParaRPr sz="14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9258547" name="Google Shape;114;p1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OBJETIVOS</a:t>
            </a:r>
            <a:endParaRPr/>
          </a:p>
        </p:txBody>
      </p:sp>
      <p:sp>
        <p:nvSpPr>
          <p:cNvPr id="826713395" name="Google Shape;115;p15"/>
          <p:cNvSpPr txBox="1"/>
          <p:nvPr>
            <p:ph type="body" idx="1"/>
          </p:nvPr>
        </p:nvSpPr>
        <p:spPr bwMode="auto">
          <a:xfrm>
            <a:off x="581192" y="2180496"/>
            <a:ext cx="8589300" cy="36783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900"/>
              </a:spcAft>
              <a:buNone/>
              <a:defRPr/>
            </a:pPr>
            <a:r>
              <a:rPr sz="1600" b="1">
                <a:solidFill>
                  <a:srgbClr val="373737"/>
                </a:solidFill>
                <a:latin typeface="Cambria"/>
              </a:rPr>
              <a:t>OBJETIVO GENERAL</a:t>
            </a:r>
            <a:endParaRPr b="1"/>
          </a:p>
          <a:p>
            <a:pPr algn="l">
              <a:spcAft>
                <a:spcPts val="900"/>
              </a:spcAft>
              <a:buNone/>
              <a:defRPr/>
            </a:pPr>
            <a:r>
              <a:rPr sz="1600" b="0">
                <a:solidFill>
                  <a:srgbClr val="373737"/>
                </a:solidFill>
                <a:latin typeface="Cambria"/>
              </a:rPr>
              <a:t>Documentar la construcción de un conversor de unidades Monster mediante un servidor SOAP en Java y Payara, con clientes de consola, escritorio, web y móvil, utilizando una arquitectura cliente-servidor y MVC.</a:t>
            </a:r>
            <a:endParaRPr/>
          </a:p>
          <a:p>
            <a:pPr algn="l">
              <a:spcAft>
                <a:spcPts val="900"/>
              </a:spcAft>
              <a:buNone/>
              <a:defRPr/>
            </a:pPr>
            <a:r>
              <a:rPr sz="1600" b="0">
                <a:solidFill>
                  <a:srgbClr val="373737"/>
                </a:solidFill>
                <a:latin typeface="Cambria"/>
              </a:rPr>
              <a:t>OBJETIVOS ESPECÍFICOS</a:t>
            </a:r>
            <a:endParaRPr/>
          </a:p>
          <a:p>
            <a:pPr algn="l">
              <a:spcAft>
                <a:spcPts val="900"/>
              </a:spcAft>
              <a:buNone/>
              <a:defRPr/>
            </a:pPr>
            <a:r>
              <a:rPr sz="1600" b="0">
                <a:solidFill>
                  <a:srgbClr val="373737"/>
                </a:solidFill>
                <a:latin typeface="Cambria"/>
              </a:rPr>
              <a:t>• Describir la implementación JAX-WS y la publicación del contrato WSDL.</a:t>
            </a:r>
            <a:endParaRPr/>
          </a:p>
          <a:p>
            <a:pPr algn="l">
              <a:spcAft>
                <a:spcPts val="900"/>
              </a:spcAft>
              <a:buNone/>
              <a:defRPr/>
            </a:pPr>
            <a:r>
              <a:rPr sz="1600" b="0">
                <a:solidFill>
                  <a:srgbClr val="373737"/>
                </a:solidFill>
                <a:latin typeface="Cambria"/>
              </a:rPr>
              <a:t>• Presentar el desarrollo y consumo del servicio desde múltiples plataformas.</a:t>
            </a:r>
            <a:endParaRPr/>
          </a:p>
          <a:p>
            <a:pPr algn="l">
              <a:spcAft>
                <a:spcPts val="900"/>
              </a:spcAft>
              <a:buNone/>
              <a:defRPr/>
            </a:pPr>
            <a:r>
              <a:rPr sz="1600" b="0">
                <a:solidFill>
                  <a:srgbClr val="373737"/>
                </a:solidFill>
                <a:latin typeface="Cambria"/>
              </a:rPr>
              <a:t>• Explicar los fundamentos de SOA, la interoperabilidad y la seguridad del intercambio de datos.</a:t>
            </a:r>
            <a:endParaRPr/>
          </a:p>
        </p:txBody>
      </p:sp>
      <p:sp>
        <p:nvSpPr>
          <p:cNvPr id="577228076" name="Google Shape;116;p1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OBJETIVOS</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200" b="1" i="0" u="none" strike="noStrike" cap="none">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CONCLUSIONES</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RECOMENDACIONES</a:t>
            </a:r>
            <a:endParaRPr sz="14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4515514" name="Google Shape;114;p1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MARCO TEÓRICO</a:t>
            </a:r>
            <a:endParaRPr/>
          </a:p>
        </p:txBody>
      </p:sp>
      <p:sp>
        <p:nvSpPr>
          <p:cNvPr id="563902199" name="Google Shape;115;p15"/>
          <p:cNvSpPr txBox="1"/>
          <p:nvPr>
            <p:ph type="body" idx="1"/>
          </p:nvPr>
        </p:nvSpPr>
        <p:spPr bwMode="auto">
          <a:xfrm>
            <a:off x="581192" y="2180496"/>
            <a:ext cx="8589300" cy="36783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900"/>
              </a:spcAft>
              <a:buNone/>
              <a:defRPr/>
            </a:pPr>
            <a:r>
              <a:rPr sz="1600" b="1">
                <a:solidFill>
                  <a:srgbClr val="373737"/>
                </a:solidFill>
                <a:latin typeface="Cambria"/>
              </a:rPr>
              <a:t>SOAP Y WSDL</a:t>
            </a:r>
            <a:endParaRPr b="1"/>
          </a:p>
          <a:p>
            <a:pPr algn="l">
              <a:spcAft>
                <a:spcPts val="900"/>
              </a:spcAft>
              <a:buNone/>
              <a:defRPr/>
            </a:pPr>
            <a:r>
              <a:rPr sz="1600" b="0">
                <a:solidFill>
                  <a:srgbClr val="373737"/>
                </a:solidFill>
                <a:latin typeface="Cambria"/>
              </a:rPr>
              <a:t>SOAP intercambia mensajes XML estructurados. WSDL describe operaciones, parámetros y direcciones de acceso al servicio.</a:t>
            </a:r>
            <a:endParaRPr/>
          </a:p>
          <a:p>
            <a:pPr algn="l">
              <a:spcAft>
                <a:spcPts val="900"/>
              </a:spcAft>
              <a:buNone/>
              <a:defRPr/>
            </a:pPr>
            <a:r>
              <a:rPr sz="1600" b="0">
                <a:solidFill>
                  <a:srgbClr val="373737"/>
                </a:solidFill>
                <a:latin typeface="Cambria"/>
              </a:rPr>
              <a:t>ARQUITECTURA SOA</a:t>
            </a:r>
            <a:endParaRPr/>
          </a:p>
          <a:p>
            <a:pPr algn="l">
              <a:spcAft>
                <a:spcPts val="900"/>
              </a:spcAft>
              <a:buNone/>
              <a:defRPr/>
            </a:pPr>
            <a:r>
              <a:rPr sz="1600" b="0">
                <a:solidFill>
                  <a:srgbClr val="373737"/>
                </a:solidFill>
                <a:latin typeface="Cambria"/>
              </a:rPr>
              <a:t>Los servicios independientes exponen funcionalidades reutilizables que distintas aplicaciones pueden consumir por red.</a:t>
            </a:r>
            <a:endParaRPr/>
          </a:p>
          <a:p>
            <a:pPr algn="l">
              <a:spcAft>
                <a:spcPts val="900"/>
              </a:spcAft>
              <a:buNone/>
              <a:defRPr/>
            </a:pPr>
            <a:r>
              <a:rPr sz="1600" b="0">
                <a:solidFill>
                  <a:srgbClr val="373737"/>
                </a:solidFill>
                <a:latin typeface="Cambria"/>
              </a:rPr>
              <a:t>PATRÓN MVC</a:t>
            </a:r>
            <a:endParaRPr/>
          </a:p>
          <a:p>
            <a:pPr algn="l">
              <a:spcAft>
                <a:spcPts val="900"/>
              </a:spcAft>
              <a:buNone/>
              <a:defRPr/>
            </a:pPr>
            <a:r>
              <a:rPr sz="1600" b="0">
                <a:solidFill>
                  <a:srgbClr val="373737"/>
                </a:solidFill>
                <a:latin typeface="Cambria"/>
              </a:rPr>
              <a:t>Separa modelo, vista y controlador para mejorar la organización y el mantenimiento.</a:t>
            </a:r>
            <a:endParaRPr/>
          </a:p>
          <a:p>
            <a:pPr algn="l">
              <a:spcAft>
                <a:spcPts val="900"/>
              </a:spcAft>
              <a:buNone/>
              <a:defRPr/>
            </a:pPr>
            <a:r>
              <a:rPr sz="1600" b="0">
                <a:solidFill>
                  <a:srgbClr val="373737"/>
                </a:solidFill>
                <a:latin typeface="Cambria"/>
              </a:rPr>
              <a:t>PAYARA Y JAX-WS</a:t>
            </a:r>
            <a:endParaRPr/>
          </a:p>
          <a:p>
            <a:pPr algn="l">
              <a:spcAft>
                <a:spcPts val="900"/>
              </a:spcAft>
              <a:buNone/>
              <a:defRPr/>
            </a:pPr>
            <a:r>
              <a:rPr sz="1600" b="0">
                <a:solidFill>
                  <a:srgbClr val="373737"/>
                </a:solidFill>
                <a:latin typeface="Cambria"/>
              </a:rPr>
              <a:t>Payara proporciona el entorno Jakarta EE; JAX-WS expone métodos Java y genera automáticamente el WSDL.</a:t>
            </a:r>
            <a:endParaRPr/>
          </a:p>
        </p:txBody>
      </p:sp>
      <p:sp>
        <p:nvSpPr>
          <p:cNvPr id="964555918" name="Google Shape;116;p1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MARCO TEÓRICO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200" b="1" i="0" u="none" strike="noStrike" cap="none">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CONCLUSIONES</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RECOMENDACIONES</a:t>
            </a:r>
            <a:endParaRPr sz="14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3198415" name="Google Shape;121;p1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318854179" name="Google Shape;122;p16"/>
          <p:cNvSpPr txBox="1"/>
          <p:nvPr>
            <p:ph type="body" idx="1"/>
          </p:nvPr>
        </p:nvSpPr>
        <p:spPr bwMode="auto">
          <a:xfrm>
            <a:off x="581200" y="2180500"/>
            <a:ext cx="8589300" cy="16335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785"/>
              <a:buChar char="∙"/>
              <a:defRPr/>
            </a:pPr>
            <a:r>
              <a:rPr sz="1650" b="1" i="0">
                <a:solidFill>
                  <a:srgbClr val="373737"/>
                </a:solidFill>
                <a:latin typeface="Cambria"/>
              </a:rPr>
              <a:t>4.1.1  Servidor Payara</a:t>
            </a:r>
            <a:endParaRPr sz="1950" b="1">
              <a:latin typeface="Cambria"/>
              <a:ea typeface="Cambria"/>
              <a:cs typeface="Cambria"/>
            </a:endParaRPr>
          </a:p>
          <a:p>
            <a:pPr algn="l">
              <a:spcBef>
                <a:spcPts val="0"/>
              </a:spcBef>
              <a:spcAft>
                <a:spcPts val="600"/>
              </a:spcAft>
              <a:defRPr/>
            </a:pPr>
            <a:r>
              <a:rPr sz="1650" b="0" i="0">
                <a:solidFill>
                  <a:srgbClr val="373737"/>
                </a:solidFill>
                <a:latin typeface="Cambria"/>
              </a:rPr>
              <a:t>En primer lugar, en NetBeans 29, en la sección de Servicios se crea un servidor, específicamente Payara.</a:t>
            </a:r>
            <a:endParaRPr/>
          </a:p>
        </p:txBody>
      </p:sp>
      <p:sp>
        <p:nvSpPr>
          <p:cNvPr id="1169442448" name="Google Shape;123;p1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660692818" name="Google Shape;124;p16"/>
          <p:cNvPicPr/>
          <p:nvPr/>
        </p:nvPicPr>
        <p:blipFill rotWithShape="1">
          <a:blip r:embed="rId3">
            <a:alphaModFix/>
          </a:blip>
          <a:stretch/>
        </p:blipFill>
        <p:spPr bwMode="auto">
          <a:xfrm>
            <a:off x="2594613" y="4121062"/>
            <a:ext cx="4562475" cy="197927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7891021" name="Google Shape;129;p1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29353277" name="Google Shape;130;p17"/>
          <p:cNvSpPr txBox="1"/>
          <p:nvPr>
            <p:ph type="body" idx="1"/>
          </p:nvPr>
        </p:nvSpPr>
        <p:spPr bwMode="auto">
          <a:xfrm>
            <a:off x="581200" y="1781575"/>
            <a:ext cx="8589300" cy="16335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656"/>
              <a:buFont typeface="Noto Sans Symbols"/>
              <a:buChar char="∙"/>
              <a:defRPr/>
            </a:pPr>
            <a:r>
              <a:rPr sz="1550" b="1" i="0">
                <a:solidFill>
                  <a:srgbClr val="373737"/>
                </a:solidFill>
                <a:latin typeface="Cambria"/>
              </a:rPr>
              <a:t>4.1.2  Configuración del servidor</a:t>
            </a:r>
            <a:endParaRPr>
              <a:latin typeface="Cambria"/>
              <a:ea typeface="Cambria"/>
              <a:cs typeface="Cambria"/>
            </a:endParaRPr>
          </a:p>
          <a:p>
            <a:pPr algn="l">
              <a:spcBef>
                <a:spcPts val="0"/>
              </a:spcBef>
              <a:spcAft>
                <a:spcPts val="600"/>
              </a:spcAft>
              <a:defRPr/>
            </a:pPr>
            <a:r>
              <a:rPr sz="1550" b="0" i="0">
                <a:solidFill>
                  <a:srgbClr val="373737"/>
                </a:solidFill>
                <a:latin typeface="Cambria"/>
              </a:rPr>
              <a:t>Se selecciona la versión 7.2026.4, se aceptan los términos de condiciones y se selecciona un directorio donde instalar el servidor.</a:t>
            </a:r>
            <a:endParaRPr/>
          </a:p>
        </p:txBody>
      </p:sp>
      <p:sp>
        <p:nvSpPr>
          <p:cNvPr id="307670149" name="Google Shape;131;p17"/>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941224903" name="Google Shape;132;p17"/>
          <p:cNvPicPr/>
          <p:nvPr/>
        </p:nvPicPr>
        <p:blipFill rotWithShape="1">
          <a:blip r:embed="rId3">
            <a:alphaModFix/>
          </a:blip>
          <a:stretch/>
        </p:blipFill>
        <p:spPr bwMode="auto">
          <a:xfrm>
            <a:off x="2542225" y="3215842"/>
            <a:ext cx="4667250" cy="32266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8441686" name="Google Shape;137;p1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91742156" name="Google Shape;138;p18"/>
          <p:cNvSpPr txBox="1"/>
          <p:nvPr>
            <p:ph type="body" idx="1"/>
          </p:nvPr>
        </p:nvSpPr>
        <p:spPr bwMode="auto">
          <a:xfrm>
            <a:off x="581192" y="2180497"/>
            <a:ext cx="8589300" cy="1248599"/>
          </a:xfrm>
          <a:prstGeom prst="rect">
            <a:avLst/>
          </a:prstGeom>
          <a:noFill/>
          <a:ln>
            <a:noFill/>
          </a:ln>
        </p:spPr>
        <p:txBody>
          <a:bodyPr spcFirstLastPara="1" wrap="square" lIns="27432" tIns="18288" rIns="27432" bIns="18288" anchor="ctr" anchorCtr="0">
            <a:noAutofit/>
          </a:bodyPr>
          <a:lstStyle/>
          <a:p>
            <a:pPr marL="457200" lvl="0" indent="-333756" algn="l" rtl="0">
              <a:lnSpc>
                <a:spcPct val="107000"/>
              </a:lnSpc>
              <a:spcBef>
                <a:spcPts val="0"/>
              </a:spcBef>
              <a:spcAft>
                <a:spcPts val="200"/>
              </a:spcAft>
              <a:buSzPts val="1656"/>
              <a:buChar char="∙"/>
              <a:defRPr/>
            </a:pPr>
            <a:r>
              <a:rPr sz="1550" b="1" i="0">
                <a:solidFill>
                  <a:srgbClr val="373737"/>
                </a:solidFill>
                <a:latin typeface="Cambria"/>
              </a:rPr>
              <a:t>4.1.3  Dominio, host y puertos</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Para terminar la configuración del servidor de payara se configura un nombre de dominio, un host (en nuestro caso, loopback) y se cambian los puertos si se desea.</a:t>
            </a:r>
            <a:endParaRPr/>
          </a:p>
        </p:txBody>
      </p:sp>
      <p:sp>
        <p:nvSpPr>
          <p:cNvPr id="2088911664" name="Google Shape;139;p18"/>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682998082" name="Google Shape;140;p18"/>
          <p:cNvPicPr/>
          <p:nvPr/>
        </p:nvPicPr>
        <p:blipFill rotWithShape="1">
          <a:blip r:embed="rId3">
            <a:alphaModFix/>
          </a:blip>
          <a:stretch/>
        </p:blipFill>
        <p:spPr bwMode="auto">
          <a:xfrm>
            <a:off x="2623250" y="3176926"/>
            <a:ext cx="4505325" cy="348512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1647277" name="Google Shape;145;p1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06838375" name="Google Shape;146;p19"/>
          <p:cNvSpPr txBox="1"/>
          <p:nvPr>
            <p:ph type="body" idx="1"/>
          </p:nvPr>
        </p:nvSpPr>
        <p:spPr bwMode="auto">
          <a:xfrm>
            <a:off x="581200" y="2180500"/>
            <a:ext cx="8589300" cy="16335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785"/>
              <a:buChar char="∙"/>
              <a:defRPr/>
            </a:pPr>
            <a:r>
              <a:rPr sz="1650" b="1" i="0">
                <a:solidFill>
                  <a:srgbClr val="373737"/>
                </a:solidFill>
                <a:latin typeface="Cambria"/>
              </a:rPr>
              <a:t>4.1.4  Creación del proyecto Java</a:t>
            </a:r>
            <a:endParaRPr sz="1950" b="1">
              <a:latin typeface="Cambria"/>
              <a:ea typeface="Cambria"/>
              <a:cs typeface="Cambria"/>
            </a:endParaRPr>
          </a:p>
          <a:p>
            <a:pPr algn="l">
              <a:spcBef>
                <a:spcPts val="0"/>
              </a:spcBef>
              <a:spcAft>
                <a:spcPts val="600"/>
              </a:spcAft>
              <a:defRPr/>
            </a:pPr>
            <a:r>
              <a:rPr sz="1650" b="0" i="0">
                <a:solidFill>
                  <a:srgbClr val="373737"/>
                </a:solidFill>
                <a:latin typeface="Cambria"/>
              </a:rPr>
              <a:t>Una vez creado el servidor, se crea un proyecto Java, Web Application</a:t>
            </a:r>
            <a:endParaRPr/>
          </a:p>
        </p:txBody>
      </p:sp>
      <p:sp>
        <p:nvSpPr>
          <p:cNvPr id="827594078" name="Google Shape;147;p1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455662592" name="Google Shape;148;p19"/>
          <p:cNvPicPr/>
          <p:nvPr/>
        </p:nvPicPr>
        <p:blipFill rotWithShape="1">
          <a:blip r:embed="rId3">
            <a:alphaModFix/>
          </a:blip>
          <a:stretch/>
        </p:blipFill>
        <p:spPr bwMode="auto">
          <a:xfrm>
            <a:off x="2546527" y="3549050"/>
            <a:ext cx="4658646" cy="32004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9235294" name="Google Shape;153;p2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752687448" name="Google Shape;154;p20"/>
          <p:cNvSpPr txBox="1"/>
          <p:nvPr>
            <p:ph type="body" idx="1"/>
          </p:nvPr>
        </p:nvSpPr>
        <p:spPr bwMode="auto">
          <a:xfrm>
            <a:off x="581192" y="1948172"/>
            <a:ext cx="8589300" cy="1248599"/>
          </a:xfrm>
          <a:prstGeom prst="rect">
            <a:avLst/>
          </a:prstGeom>
          <a:noFill/>
          <a:ln>
            <a:noFill/>
          </a:ln>
        </p:spPr>
        <p:txBody>
          <a:bodyPr spcFirstLastPara="1" wrap="square" lIns="27432" tIns="18288" rIns="27432" bIns="18288" anchor="ctr" anchorCtr="0">
            <a:noAutofit/>
          </a:bodyPr>
          <a:lstStyle/>
          <a:p>
            <a:pPr marL="457200" lvl="0" indent="-333756" algn="l" rtl="0">
              <a:lnSpc>
                <a:spcPct val="107000"/>
              </a:lnSpc>
              <a:spcBef>
                <a:spcPts val="0"/>
              </a:spcBef>
              <a:spcAft>
                <a:spcPts val="200"/>
              </a:spcAft>
              <a:buSzPts val="1656"/>
              <a:buChar char="∙"/>
              <a:defRPr/>
            </a:pPr>
            <a:r>
              <a:rPr sz="1350" b="1" i="0">
                <a:solidFill>
                  <a:srgbClr val="373737"/>
                </a:solidFill>
                <a:latin typeface="Cambria"/>
              </a:rPr>
              <a:t>4.1.5 y 4.1.6  Proyecto y servidor</a:t>
            </a:r>
            <a:endParaRPr sz="1300">
              <a:latin typeface="Cambria"/>
              <a:ea typeface="Cambria"/>
              <a:cs typeface="Cambria"/>
            </a:endParaRPr>
          </a:p>
          <a:p>
            <a:pPr algn="l">
              <a:spcBef>
                <a:spcPts val="0"/>
              </a:spcBef>
              <a:spcAft>
                <a:spcPts val="600"/>
              </a:spcAft>
              <a:defRPr/>
            </a:pPr>
            <a:r>
              <a:rPr sz="1350" b="0" i="0">
                <a:solidFill>
                  <a:srgbClr val="373737"/>
                </a:solidFill>
                <a:latin typeface="Cambria"/>
              </a:rPr>
              <a:t>Se aplica el nombre del proyecto como ‘WS_CON_UNI_JAVA_SOAP’, y se configura el grupo como ‘ec.edu.monster’</a:t>
            </a:r>
            <a:endParaRPr/>
          </a:p>
          <a:p>
            <a:pPr algn="l">
              <a:spcBef>
                <a:spcPts val="0"/>
              </a:spcBef>
              <a:spcAft>
                <a:spcPts val="600"/>
              </a:spcAft>
              <a:defRPr/>
            </a:pPr>
            <a:r>
              <a:rPr sz="1350" b="0" i="0">
                <a:solidFill>
                  <a:srgbClr val="373737"/>
                </a:solidFill>
                <a:latin typeface="Cambria"/>
              </a:rPr>
              <a:t>Se selecciona nuestro Servidor Payara creado y Jakarta EE 11 como conjunto de desarrollo de aplicaciones Java.</a:t>
            </a:r>
            <a:endParaRPr/>
          </a:p>
        </p:txBody>
      </p:sp>
      <p:sp>
        <p:nvSpPr>
          <p:cNvPr id="1609437439" name="Google Shape;155;p2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304375929" name="Google Shape;156;p20"/>
          <p:cNvPicPr/>
          <p:nvPr/>
        </p:nvPicPr>
        <p:blipFill rotWithShape="1">
          <a:blip r:embed="rId3">
            <a:alphaModFix/>
          </a:blip>
          <a:stretch/>
        </p:blipFill>
        <p:spPr bwMode="auto">
          <a:xfrm>
            <a:off x="597667" y="3429100"/>
            <a:ext cx="4072764" cy="2807825"/>
          </a:xfrm>
          <a:prstGeom prst="rect">
            <a:avLst/>
          </a:prstGeom>
          <a:noFill/>
          <a:ln>
            <a:noFill/>
          </a:ln>
        </p:spPr>
      </p:pic>
      <p:pic>
        <p:nvPicPr>
          <p:cNvPr id="1340674938" name="Google Shape;157;p20"/>
          <p:cNvPicPr/>
          <p:nvPr/>
        </p:nvPicPr>
        <p:blipFill rotWithShape="1">
          <a:blip r:embed="rId4">
            <a:alphaModFix/>
          </a:blip>
          <a:stretch/>
        </p:blipFill>
        <p:spPr bwMode="auto">
          <a:xfrm>
            <a:off x="4695158" y="3251850"/>
            <a:ext cx="4584059" cy="31623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3549894" name="Google Shape;162;p2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957242584" name="Google Shape;163;p21"/>
          <p:cNvSpPr txBox="1"/>
          <p:nvPr>
            <p:ph type="body" idx="1"/>
          </p:nvPr>
        </p:nvSpPr>
        <p:spPr bwMode="auto">
          <a:xfrm>
            <a:off x="581200" y="2180500"/>
            <a:ext cx="4557900" cy="38700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677"/>
              <a:buChar char="∙"/>
              <a:defRPr/>
            </a:pPr>
            <a:r>
              <a:rPr sz="1650" b="1" i="0">
                <a:solidFill>
                  <a:srgbClr val="373737"/>
                </a:solidFill>
                <a:latin typeface="Cambria"/>
              </a:rPr>
              <a:t>4.1.7  Estructura MVC</a:t>
            </a:r>
            <a:endParaRPr sz="1700" b="1">
              <a:latin typeface="Cambria"/>
              <a:ea typeface="Cambria"/>
              <a:cs typeface="Cambria"/>
            </a:endParaRPr>
          </a:p>
          <a:p>
            <a:pPr algn="l">
              <a:spcBef>
                <a:spcPts val="0"/>
              </a:spcBef>
              <a:spcAft>
                <a:spcPts val="600"/>
              </a:spcAft>
              <a:defRPr/>
            </a:pPr>
            <a:r>
              <a:rPr sz="1650" b="0" i="0">
                <a:solidFill>
                  <a:srgbClr val="373737"/>
                </a:solidFill>
                <a:latin typeface="Cambria"/>
              </a:rPr>
              <a:t>Aplicando un patrón arquitectónico MVC junto a otras capas se configuran los paquetes principales.</a:t>
            </a:r>
            <a:endParaRPr/>
          </a:p>
        </p:txBody>
      </p:sp>
      <p:sp>
        <p:nvSpPr>
          <p:cNvPr id="327561067" name="Google Shape;164;p2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623499902" name="Google Shape;165;p21"/>
          <p:cNvPicPr/>
          <p:nvPr/>
        </p:nvPicPr>
        <p:blipFill rotWithShape="1">
          <a:blip r:embed="rId3">
            <a:alphaModFix/>
          </a:blip>
          <a:stretch/>
        </p:blipFill>
        <p:spPr bwMode="auto">
          <a:xfrm>
            <a:off x="5651675" y="2854405"/>
            <a:ext cx="3219449" cy="252218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1392946" name="Google Shape;170;p2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580283397" name="Google Shape;171;p22"/>
          <p:cNvSpPr txBox="1"/>
          <p:nvPr>
            <p:ph type="body" idx="1"/>
          </p:nvPr>
        </p:nvSpPr>
        <p:spPr bwMode="auto">
          <a:xfrm>
            <a:off x="581200" y="2180500"/>
            <a:ext cx="8589300" cy="16335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785"/>
              <a:buChar char="∙"/>
              <a:defRPr/>
            </a:pPr>
            <a:r>
              <a:rPr sz="1350" b="1" i="0">
                <a:solidFill>
                  <a:srgbClr val="373737"/>
                </a:solidFill>
                <a:latin typeface="Cambria"/>
              </a:rPr>
              <a:t>4.1.8 y 4.1.9  WebService</a:t>
            </a:r>
            <a:endParaRPr>
              <a:latin typeface="Cambria"/>
              <a:ea typeface="Cambria"/>
              <a:cs typeface="Cambria"/>
            </a:endParaRPr>
          </a:p>
          <a:p>
            <a:pPr algn="l">
              <a:spcBef>
                <a:spcPts val="0"/>
              </a:spcBef>
              <a:spcAft>
                <a:spcPts val="600"/>
              </a:spcAft>
              <a:defRPr/>
            </a:pPr>
            <a:r>
              <a:rPr sz="1350" b="0" i="0">
                <a:solidFill>
                  <a:srgbClr val="373737"/>
                </a:solidFill>
                <a:latin typeface="Cambria"/>
              </a:rPr>
              <a:t>Dentro del paquete controladores.ws se crea un webservice.</a:t>
            </a:r>
            <a:endParaRPr/>
          </a:p>
          <a:p>
            <a:pPr algn="l">
              <a:spcBef>
                <a:spcPts val="0"/>
              </a:spcBef>
              <a:spcAft>
                <a:spcPts val="600"/>
              </a:spcAft>
              <a:defRPr/>
            </a:pPr>
            <a:r>
              <a:rPr sz="1350" b="0" i="0">
                <a:solidFill>
                  <a:srgbClr val="373737"/>
                </a:solidFill>
                <a:latin typeface="Cambria"/>
              </a:rPr>
              <a:t>Se configura el web service con su nombre WSConversorUnidades.</a:t>
            </a:r>
            <a:endParaRPr/>
          </a:p>
        </p:txBody>
      </p:sp>
      <p:sp>
        <p:nvSpPr>
          <p:cNvPr id="1476521947" name="Google Shape;172;p2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2081024763" name="Google Shape;173;p22"/>
          <p:cNvPicPr/>
          <p:nvPr/>
        </p:nvPicPr>
        <p:blipFill rotWithShape="1">
          <a:blip r:embed="rId3">
            <a:alphaModFix/>
          </a:blip>
          <a:stretch/>
        </p:blipFill>
        <p:spPr bwMode="auto">
          <a:xfrm>
            <a:off x="958600" y="4132317"/>
            <a:ext cx="3280199" cy="1996016"/>
          </a:xfrm>
          <a:prstGeom prst="rect">
            <a:avLst/>
          </a:prstGeom>
          <a:noFill/>
          <a:ln>
            <a:noFill/>
          </a:ln>
        </p:spPr>
      </p:pic>
      <p:pic>
        <p:nvPicPr>
          <p:cNvPr id="1582081834" name="Google Shape;174;p22"/>
          <p:cNvPicPr/>
          <p:nvPr/>
        </p:nvPicPr>
        <p:blipFill rotWithShape="1">
          <a:blip r:embed="rId4">
            <a:alphaModFix/>
          </a:blip>
          <a:stretch/>
        </p:blipFill>
        <p:spPr bwMode="auto">
          <a:xfrm>
            <a:off x="5344697" y="3844438"/>
            <a:ext cx="3327056" cy="25717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4658552" name="Google Shape;179;p2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666574557" name="Google Shape;180;p23"/>
          <p:cNvSpPr txBox="1"/>
          <p:nvPr>
            <p:ph type="body" idx="1"/>
          </p:nvPr>
        </p:nvSpPr>
        <p:spPr bwMode="auto">
          <a:xfrm>
            <a:off x="581200" y="2180500"/>
            <a:ext cx="2402100" cy="3965700"/>
          </a:xfrm>
          <a:prstGeom prst="rect">
            <a:avLst/>
          </a:prstGeom>
          <a:noFill/>
          <a:ln>
            <a:noFill/>
          </a:ln>
        </p:spPr>
        <p:txBody>
          <a:bodyPr spcFirstLastPara="1" wrap="square" lIns="27432" tIns="18288" rIns="27432" bIns="18288" anchor="ctr" anchorCtr="0">
            <a:noAutofit/>
          </a:bodyPr>
          <a:lstStyle/>
          <a:p>
            <a:pPr marL="457200" lvl="0" indent="-335090" algn="l" rtl="0">
              <a:lnSpc>
                <a:spcPct val="107000"/>
              </a:lnSpc>
              <a:spcBef>
                <a:spcPts val="0"/>
              </a:spcBef>
              <a:spcAft>
                <a:spcPts val="200"/>
              </a:spcAft>
              <a:buSzPts val="1677"/>
              <a:buFont typeface="Cambria"/>
              <a:buChar char="∙"/>
              <a:defRPr/>
            </a:pPr>
            <a:r>
              <a:rPr sz="1550" b="1" i="0">
                <a:solidFill>
                  <a:srgbClr val="373737"/>
                </a:solidFill>
                <a:latin typeface="Cambria"/>
              </a:rPr>
              <a:t>4.1.10  Implementación del WebService</a:t>
            </a:r>
            <a:endParaRPr sz="1700" b="1">
              <a:latin typeface="Cambria"/>
              <a:ea typeface="Cambria"/>
              <a:cs typeface="Cambria"/>
            </a:endParaRPr>
          </a:p>
          <a:p>
            <a:pPr algn="l">
              <a:spcBef>
                <a:spcPts val="0"/>
              </a:spcBef>
              <a:spcAft>
                <a:spcPts val="600"/>
              </a:spcAft>
              <a:defRPr/>
            </a:pPr>
            <a:r>
              <a:rPr sz="1550" b="0" i="0">
                <a:solidFill>
                  <a:srgbClr val="373737"/>
                </a:solidFill>
                <a:latin typeface="Cambria"/>
              </a:rPr>
              <a:t>Importaciones Java para el servicio de conversión.</a:t>
            </a:r>
            <a:endParaRPr/>
          </a:p>
        </p:txBody>
      </p:sp>
      <p:sp>
        <p:nvSpPr>
          <p:cNvPr id="584137413" name="Google Shape;181;p23"/>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392483884" name="Google Shape;182;p23"/>
          <p:cNvGraphicFramePr>
            <a:graphicFrameLocks xmlns:a="http://schemas.openxmlformats.org/drawingml/2006/main"/>
          </p:cNvGraphicFramePr>
          <p:nvPr/>
        </p:nvGraphicFramePr>
        <p:xfrm rot="0">
          <a:off x="3395925" y="2866125"/>
          <a:ext cx="3000000" cy="3000000"/>
        </p:xfrm>
        <a:graphic>
          <a:graphicData uri="http://schemas.openxmlformats.org/drawingml/2006/table">
            <a:tbl>
              <a:tblPr firstRow="0" firstCol="0" lastRow="0" lastCol="0" bandRow="0" bandCol="0">
                <a:tableStyleId>{BF136021-7255-42B7-A7E7-87A8D8FFE9CA}</a:tableStyleId>
                <a:noFill/>
              </a:tblPr>
              <a:tblGrid>
                <a:gridCol w="5400050"/>
              </a:tblGrid>
              <a:tr h="12700">
                <a:tc>
                  <a:txBody>
                    <a:bodyPr/>
                    <a:p>
                      <a:pPr marL="0" lvl="0" indent="0" algn="l" rtl="0">
                        <a:lnSpc>
                          <a:spcPct val="100000"/>
                        </a:lnSpc>
                        <a:spcBef>
                          <a:spcPts val="0"/>
                        </a:spcBef>
                        <a:spcAft>
                          <a:spcPts val="0"/>
                        </a:spcAft>
                        <a:buNone/>
                        <a:defRPr/>
                      </a:pPr>
                      <a:r>
                        <a:rPr sz="1050">
                          <a:solidFill>
                            <a:srgbClr val="417BC1"/>
                          </a:solidFill>
                          <a:latin typeface="Consolas"/>
                        </a:rPr>
                        <a:t>package ec.edu.monster.controladores.ws;</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ec.edu.monster.modelos.utilidades.ConversorLongitud;</a:t>
                      </a:r>
                      <a:endParaRPr/>
                    </a:p>
                    <a:p>
                      <a:pPr>
                        <a:lnSpc>
                          <a:spcPct val="100000"/>
                        </a:lnSpc>
                        <a:spcBef>
                          <a:spcPts val="0"/>
                        </a:spcBef>
                        <a:spcAft>
                          <a:spcPts val="0"/>
                        </a:spcAft>
                        <a:defRPr/>
                      </a:pPr>
                      <a:r>
                        <a:rPr sz="1050">
                          <a:solidFill>
                            <a:srgbClr val="417BC1"/>
                          </a:solidFill>
                          <a:latin typeface="Consolas"/>
                        </a:rPr>
                        <a:t>import ec.edu.monster.modelos.utilidades.ConversorMasa;</a:t>
                      </a:r>
                      <a:endParaRPr/>
                    </a:p>
                    <a:p>
                      <a:pPr>
                        <a:lnSpc>
                          <a:spcPct val="100000"/>
                        </a:lnSpc>
                        <a:spcBef>
                          <a:spcPts val="0"/>
                        </a:spcBef>
                        <a:spcAft>
                          <a:spcPts val="0"/>
                        </a:spcAft>
                        <a:defRPr/>
                      </a:pPr>
                      <a:r>
                        <a:rPr sz="1050">
                          <a:solidFill>
                            <a:srgbClr val="417BC1"/>
                          </a:solidFill>
                          <a:latin typeface="Consolas"/>
                        </a:rPr>
                        <a:t>import ec.edu.monster.modelos.utilidades.ConversorTemperatura;</a:t>
                      </a:r>
                      <a:endParaRPr/>
                    </a:p>
                    <a:p>
                      <a:pPr>
                        <a:lnSpc>
                          <a:spcPct val="100000"/>
                        </a:lnSpc>
                        <a:spcBef>
                          <a:spcPts val="0"/>
                        </a:spcBef>
                        <a:spcAft>
                          <a:spcPts val="0"/>
                        </a:spcAft>
                        <a:defRPr/>
                      </a:pPr>
                      <a:r>
                        <a:rPr sz="1050">
                          <a:solidFill>
                            <a:srgbClr val="417BC1"/>
                          </a:solidFill>
                          <a:latin typeface="Consolas"/>
                        </a:rPr>
                        <a:t>import ec.edu.monster.modelos.utilidades.unidades.UnidadLongitud;</a:t>
                      </a:r>
                      <a:endParaRPr/>
                    </a:p>
                    <a:p>
                      <a:pPr>
                        <a:lnSpc>
                          <a:spcPct val="100000"/>
                        </a:lnSpc>
                        <a:spcBef>
                          <a:spcPts val="0"/>
                        </a:spcBef>
                        <a:spcAft>
                          <a:spcPts val="0"/>
                        </a:spcAft>
                        <a:defRPr/>
                      </a:pPr>
                      <a:r>
                        <a:rPr sz="1050">
                          <a:solidFill>
                            <a:srgbClr val="417BC1"/>
                          </a:solidFill>
                          <a:latin typeface="Consolas"/>
                        </a:rPr>
                        <a:t>import ec.edu.monster.modelos.utilidades.unidades.UnidadMasa;</a:t>
                      </a:r>
                      <a:endParaRPr/>
                    </a:p>
                    <a:p>
                      <a:pPr>
                        <a:lnSpc>
                          <a:spcPct val="100000"/>
                        </a:lnSpc>
                        <a:spcBef>
                          <a:spcPts val="0"/>
                        </a:spcBef>
                        <a:spcAft>
                          <a:spcPts val="0"/>
                        </a:spcAft>
                        <a:defRPr/>
                      </a:pPr>
                      <a:r>
                        <a:rPr sz="1050">
                          <a:solidFill>
                            <a:srgbClr val="417BC1"/>
                          </a:solidFill>
                          <a:latin typeface="Consolas"/>
                        </a:rPr>
                        <a:t>import ec.edu.monster.modelos.utilidades.unidades.UnidadTemperatura;</a:t>
                      </a:r>
                      <a:endParaRPr/>
                    </a:p>
                    <a:p>
                      <a:pPr>
                        <a:lnSpc>
                          <a:spcPct val="100000"/>
                        </a:lnSpc>
                        <a:spcBef>
                          <a:spcPts val="0"/>
                        </a:spcBef>
                        <a:spcAft>
                          <a:spcPts val="0"/>
                        </a:spcAft>
                        <a:defRPr/>
                      </a:pPr>
                      <a:r>
                        <a:rPr sz="1050">
                          <a:solidFill>
                            <a:srgbClr val="417BC1"/>
                          </a:solidFill>
                          <a:latin typeface="Consolas"/>
                        </a:rPr>
                        <a:t>import ec.edu.monster.seguridad.AdministradorCredenciales;</a:t>
                      </a:r>
                      <a:endParaRPr/>
                    </a:p>
                    <a:p>
                      <a:pPr>
                        <a:lnSpc>
                          <a:spcPct val="100000"/>
                        </a:lnSpc>
                        <a:spcBef>
                          <a:spcPts val="0"/>
                        </a:spcBef>
                        <a:spcAft>
                          <a:spcPts val="0"/>
                        </a:spcAft>
                        <a:defRPr/>
                      </a:pPr>
                      <a:r>
                        <a:rPr sz="1050">
                          <a:solidFill>
                            <a:srgbClr val="417BC1"/>
                          </a:solidFill>
                          <a:latin typeface="Consolas"/>
                        </a:rPr>
                        <a:t>import ec.edu.monster.seguridad.AdministradorTokens;</a:t>
                      </a:r>
                      <a:endParaRPr/>
                    </a:p>
                    <a:p>
                      <a:pPr>
                        <a:lnSpc>
                          <a:spcPct val="100000"/>
                        </a:lnSpc>
                        <a:spcBef>
                          <a:spcPts val="0"/>
                        </a:spcBef>
                        <a:spcAft>
                          <a:spcPts val="0"/>
                        </a:spcAft>
                        <a:defRPr/>
                      </a:pPr>
                      <a:r>
                        <a:rPr sz="1050">
                          <a:solidFill>
                            <a:srgbClr val="417BC1"/>
                          </a:solidFill>
                          <a:latin typeface="Consolas"/>
                        </a:rPr>
                        <a:t>import ec.edu.monster.servicios.ServicioConversor;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jakarta.jws.HandlerChain;</a:t>
                      </a:r>
                      <a:endParaRPr/>
                    </a:p>
                    <a:p>
                      <a:pPr>
                        <a:lnSpc>
                          <a:spcPct val="100000"/>
                        </a:lnSpc>
                        <a:spcBef>
                          <a:spcPts val="0"/>
                        </a:spcBef>
                        <a:spcAft>
                          <a:spcPts val="0"/>
                        </a:spcAft>
                        <a:defRPr/>
                      </a:pPr>
                      <a:r>
                        <a:rPr sz="1050">
                          <a:solidFill>
                            <a:srgbClr val="417BC1"/>
                          </a:solidFill>
                          <a:latin typeface="Consolas"/>
                        </a:rPr>
                        <a:t>import jakarta.jws.WebMethod;</a:t>
                      </a:r>
                      <a:endParaRPr/>
                    </a:p>
                    <a:p>
                      <a:pPr>
                        <a:lnSpc>
                          <a:spcPct val="100000"/>
                        </a:lnSpc>
                        <a:spcBef>
                          <a:spcPts val="0"/>
                        </a:spcBef>
                        <a:spcAft>
                          <a:spcPts val="0"/>
                        </a:spcAft>
                        <a:defRPr/>
                      </a:pPr>
                      <a:r>
                        <a:rPr sz="1050">
                          <a:solidFill>
                            <a:srgbClr val="417BC1"/>
                          </a:solidFill>
                          <a:latin typeface="Consolas"/>
                        </a:rPr>
                        <a:t>import jakarta.jws.WebParam;</a:t>
                      </a:r>
                      <a:endParaRPr/>
                    </a:p>
                    <a:p>
                      <a:pPr>
                        <a:lnSpc>
                          <a:spcPct val="100000"/>
                        </a:lnSpc>
                        <a:spcBef>
                          <a:spcPts val="0"/>
                        </a:spcBef>
                        <a:spcAft>
                          <a:spcPts val="0"/>
                        </a:spcAft>
                        <a:defRPr/>
                      </a:pPr>
                      <a:r>
                        <a:rPr sz="1050">
                          <a:solidFill>
                            <a:srgbClr val="417BC1"/>
                          </a:solidFill>
                          <a:latin typeface="Consolas"/>
                        </a:rPr>
                        <a:t>import jakarta.jws.WebService;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9461839" name="Google Shape;187;p2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07566349" name="Google Shape;188;p24"/>
          <p:cNvSpPr txBox="1"/>
          <p:nvPr>
            <p:ph type="body" idx="1"/>
          </p:nvPr>
        </p:nvSpPr>
        <p:spPr bwMode="auto">
          <a:xfrm>
            <a:off x="581200" y="2180500"/>
            <a:ext cx="2402100" cy="3965700"/>
          </a:xfrm>
          <a:prstGeom prst="rect">
            <a:avLst/>
          </a:prstGeom>
          <a:noFill/>
          <a:ln>
            <a:noFill/>
          </a:ln>
        </p:spPr>
        <p:txBody>
          <a:bodyPr spcFirstLastPara="1" wrap="square" lIns="27432" tIns="18288" rIns="27432" bIns="18288" anchor="ctr" anchorCtr="0">
            <a:noAutofit/>
          </a:bodyPr>
          <a:lstStyle/>
          <a:p>
            <a:pPr marL="457200" lvl="0" indent="-335090" algn="l" rtl="0">
              <a:lnSpc>
                <a:spcPct val="107000"/>
              </a:lnSpc>
              <a:spcBef>
                <a:spcPts val="0"/>
              </a:spcBef>
              <a:spcAft>
                <a:spcPts val="200"/>
              </a:spcAft>
              <a:buSzPts val="1677"/>
              <a:buFont typeface="Cambria"/>
              <a:buChar char="∙"/>
              <a:defRPr/>
            </a:pPr>
            <a:r>
              <a:rPr sz="1550" b="1" i="0">
                <a:solidFill>
                  <a:srgbClr val="373737"/>
                </a:solidFill>
                <a:latin typeface="Cambria"/>
              </a:rPr>
              <a:t>Endpoint SOAP y atributos</a:t>
            </a:r>
            <a:endParaRPr sz="1700">
              <a:latin typeface="Cambria"/>
              <a:ea typeface="Cambria"/>
              <a:cs typeface="Cambria"/>
            </a:endParaRPr>
          </a:p>
          <a:p>
            <a:pPr algn="l">
              <a:spcBef>
                <a:spcPts val="0"/>
              </a:spcBef>
              <a:spcAft>
                <a:spcPts val="600"/>
              </a:spcAft>
              <a:defRPr/>
            </a:pPr>
            <a:r>
              <a:rPr sz="1550" b="0" i="0">
                <a:solidFill>
                  <a:srgbClr val="373737"/>
                </a:solidFill>
                <a:latin typeface="Cambria"/>
              </a:rPr>
              <a:t>Anotaciones @WebService, @HandlerChain y clases de servicio.</a:t>
            </a:r>
            <a:endParaRPr/>
          </a:p>
        </p:txBody>
      </p:sp>
      <p:sp>
        <p:nvSpPr>
          <p:cNvPr id="1350542795" name="Google Shape;189;p2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819136533" name="Google Shape;190;p24"/>
          <p:cNvGraphicFramePr>
            <a:graphicFrameLocks xmlns:a="http://schemas.openxmlformats.org/drawingml/2006/main"/>
          </p:cNvGraphicFramePr>
          <p:nvPr/>
        </p:nvGraphicFramePr>
        <p:xfrm rot="0">
          <a:off x="3701450" y="2180500"/>
          <a:ext cx="3000000" cy="3000000"/>
        </p:xfrm>
        <a:graphic>
          <a:graphicData uri="http://schemas.openxmlformats.org/drawingml/2006/table">
            <a:tbl>
              <a:tblPr firstRow="0" firstCol="0" lastRow="0" lastCol="0" bandRow="0" bandCol="0">
                <a:tableStyleId>{BF136021-7255-42B7-A7E7-87A8D8FFE9CA}</a:tableStyleId>
                <a:noFill/>
              </a:tblPr>
              <a:tblGrid>
                <a:gridCol w="5400050"/>
              </a:tblGrid>
              <a:tr h="12700">
                <a:tc>
                  <a:txBody>
                    <a:bodyPr/>
                    <a:p>
                      <a:pPr marL="0" lvl="0" indent="0" algn="l" rtl="0">
                        <a:lnSpc>
                          <a:spcPct val="100000"/>
                        </a:lnSpc>
                        <a:spcBef>
                          <a:spcPts val="0"/>
                        </a:spcBef>
                        <a:spcAft>
                          <a:spcPts val="0"/>
                        </a:spcAft>
                        <a:buNone/>
                        <a:defRPr/>
                      </a:pPr>
                      <a:r>
                        <a:rPr sz="1050">
                          <a:solidFill>
                            <a:srgbClr val="417BC1"/>
                          </a:solidFill>
                          <a:latin typeface="Consolas"/>
                        </a:rPr>
                        <a:t>@WebService(serviceName = "WSConversorUnidades")</a:t>
                      </a:r>
                      <a:endParaRPr sz="11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@HandlerChain(file = "manejador.xml")</a:t>
                      </a:r>
                      <a:endParaRPr/>
                    </a:p>
                    <a:p>
                      <a:pPr>
                        <a:lnSpc>
                          <a:spcPct val="100000"/>
                        </a:lnSpc>
                        <a:spcBef>
                          <a:spcPts val="0"/>
                        </a:spcBef>
                        <a:spcAft>
                          <a:spcPts val="0"/>
                        </a:spcAft>
                        <a:defRPr/>
                      </a:pPr>
                      <a:r>
                        <a:rPr sz="1050">
                          <a:solidFill>
                            <a:srgbClr val="417BC1"/>
                          </a:solidFill>
                          <a:latin typeface="Consolas"/>
                        </a:rPr>
                        <a:t>public class WSConversorUnidades {</a:t>
                      </a:r>
                      <a:endParaRPr/>
                    </a:p>
                  </a:txBody>
                  <a:tcPr marL="63500" marR="63500" marT="63500" marB="63500"/>
                </a:tc>
              </a:tr>
            </a:tbl>
          </a:graphicData>
        </a:graphic>
      </p:graphicFrame>
      <p:graphicFrame>
        <p:nvGraphicFramePr>
          <p:cNvPr id="816210906" name="Google Shape;191;p24"/>
          <p:cNvGraphicFramePr>
            <a:graphicFrameLocks xmlns:a="http://schemas.openxmlformats.org/drawingml/2006/main"/>
          </p:cNvGraphicFramePr>
          <p:nvPr/>
        </p:nvGraphicFramePr>
        <p:xfrm rot="0">
          <a:off x="3701450" y="3375275"/>
          <a:ext cx="3000000" cy="3000000"/>
        </p:xfrm>
        <a:graphic>
          <a:graphicData uri="http://schemas.openxmlformats.org/drawingml/2006/table">
            <a:tbl>
              <a:tblPr firstRow="0" firstCol="0" lastRow="0" lastCol="0" bandRow="0" bandCol="0">
                <a:tableStyleId>{BF136021-7255-42B7-A7E7-87A8D8FFE9CA}</a:tableStyleId>
                <a:noFill/>
              </a:tblPr>
              <a:tblGrid>
                <a:gridCol w="5400050"/>
              </a:tblGrid>
              <a:tr h="12700">
                <a:tc>
                  <a:txBody>
                    <a:bodyPr/>
                    <a:p>
                      <a:pPr marL="0" lvl="0" indent="0" algn="l" rtl="0">
                        <a:lnSpc>
                          <a:spcPct val="100000"/>
                        </a:lnSpc>
                        <a:spcBef>
                          <a:spcPts val="0"/>
                        </a:spcBef>
                        <a:spcAft>
                          <a:spcPts val="0"/>
                        </a:spcAft>
                        <a:buNone/>
                        <a:defRPr/>
                      </a:pPr>
                      <a:r>
                        <a:rPr sz="800">
                          <a:solidFill>
                            <a:srgbClr val="417BC1"/>
                          </a:solidFill>
                          <a:latin typeface="Consolas"/>
                        </a:rPr>
                        <a:t>    private final ServicioConversor&lt;UnidadLongitud&gt; servicioLongitud = new ServicioConversor&lt;&gt;(new ConversorLongitud());</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final ServicioConversor&lt;UnidadMasa&gt; servicioMasa = new ServicioConversor&lt;&gt;(new ConversorMasa());</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final ServicioConversor&lt;UnidadTemperatura&gt; servicioTemperatura = new ServicioConversor&lt;&gt;(new ConversorTemperatura());</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6304811" name="Google Shape;196;p2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65186153" name="Google Shape;197;p25"/>
          <p:cNvSpPr txBox="1"/>
          <p:nvPr>
            <p:ph type="body" idx="1"/>
          </p:nvPr>
        </p:nvSpPr>
        <p:spPr bwMode="auto">
          <a:xfrm>
            <a:off x="581200" y="2180500"/>
            <a:ext cx="2402100" cy="3965700"/>
          </a:xfrm>
          <a:prstGeom prst="rect">
            <a:avLst/>
          </a:prstGeom>
          <a:noFill/>
          <a:ln>
            <a:noFill/>
          </a:ln>
        </p:spPr>
        <p:txBody>
          <a:bodyPr spcFirstLastPara="1" wrap="square" lIns="27432" tIns="18288" rIns="27432" bIns="18288" anchor="ctr" anchorCtr="0">
            <a:noAutofit/>
          </a:bodyPr>
          <a:lstStyle/>
          <a:p>
            <a:pPr marL="457200" lvl="0" indent="-335090" algn="l" rtl="0">
              <a:lnSpc>
                <a:spcPct val="107000"/>
              </a:lnSpc>
              <a:spcBef>
                <a:spcPts val="0"/>
              </a:spcBef>
              <a:spcAft>
                <a:spcPts val="200"/>
              </a:spcAft>
              <a:buSzPts val="1677"/>
              <a:buFont typeface="Cambria"/>
              <a:buChar char="∙"/>
              <a:defRPr/>
            </a:pPr>
            <a:r>
              <a:rPr sz="1550" b="1" i="0">
                <a:solidFill>
                  <a:srgbClr val="373737"/>
                </a:solidFill>
                <a:latin typeface="Cambria"/>
              </a:rPr>
              <a:t>Métodos de autenticación</a:t>
            </a:r>
            <a:endParaRPr sz="1700" b="1">
              <a:latin typeface="Cambria"/>
              <a:ea typeface="Cambria"/>
              <a:cs typeface="Cambria"/>
            </a:endParaRPr>
          </a:p>
          <a:p>
            <a:pPr algn="l">
              <a:spcBef>
                <a:spcPts val="0"/>
              </a:spcBef>
              <a:spcAft>
                <a:spcPts val="600"/>
              </a:spcAft>
              <a:defRPr/>
            </a:pPr>
            <a:r>
              <a:rPr sz="1550" b="0" i="0">
                <a:solidFill>
                  <a:srgbClr val="373737"/>
                </a:solidFill>
                <a:latin typeface="Cambria"/>
              </a:rPr>
              <a:t>Operaciones login, cambio de contraseña y conversión.</a:t>
            </a:r>
            <a:endParaRPr/>
          </a:p>
        </p:txBody>
      </p:sp>
      <p:sp>
        <p:nvSpPr>
          <p:cNvPr id="1856643760" name="Google Shape;198;p2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237456134" name="Google Shape;199;p25"/>
          <p:cNvGraphicFramePr>
            <a:graphicFrameLocks xmlns:a="http://schemas.openxmlformats.org/drawingml/2006/main"/>
          </p:cNvGraphicFramePr>
          <p:nvPr/>
        </p:nvGraphicFramePr>
        <p:xfrm rot="0">
          <a:off x="3917100" y="1928900"/>
          <a:ext cx="3000000" cy="3000000"/>
        </p:xfrm>
        <a:graphic>
          <a:graphicData uri="http://schemas.openxmlformats.org/drawingml/2006/table">
            <a:tbl>
              <a:tblPr firstRow="0" firstCol="0" lastRow="0" lastCol="0" bandRow="0" bandCol="0">
                <a:tableStyleId>{BF136021-7255-42B7-A7E7-87A8D8FFE9CA}</a:tableStyleId>
                <a:noFill/>
              </a:tblPr>
              <a:tblGrid>
                <a:gridCol w="4894525"/>
              </a:tblGrid>
              <a:tr h="4533675">
                <a:tc>
                  <a:txBody>
                    <a:bodyPr/>
                    <a:p>
                      <a:pPr marL="0" lvl="0" indent="0" algn="l" rtl="0">
                        <a:lnSpc>
                          <a:spcPct val="100000"/>
                        </a:lnSpc>
                        <a:spcBef>
                          <a:spcPts val="0"/>
                        </a:spcBef>
                        <a:spcAft>
                          <a:spcPts val="0"/>
                        </a:spcAft>
                        <a:buNone/>
                        <a:defRPr/>
                      </a:pPr>
                      <a:r>
                        <a:rPr sz="1050">
                          <a:solidFill>
                            <a:srgbClr val="417BC1"/>
                          </a:solidFill>
                          <a:latin typeface="Consolas"/>
                        </a:rPr>
                        <a:t>/**</a:t>
                      </a:r>
                      <a:endParaRPr sz="10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 permite autenticarse y obtener un token de sesión.</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@WebMethod(operationName = "login")</a:t>
                      </a:r>
                      <a:endParaRPr/>
                    </a:p>
                    <a:p>
                      <a:pPr>
                        <a:lnSpc>
                          <a:spcPct val="100000"/>
                        </a:lnSpc>
                        <a:spcBef>
                          <a:spcPts val="0"/>
                        </a:spcBef>
                        <a:spcAft>
                          <a:spcPts val="0"/>
                        </a:spcAft>
                        <a:defRPr/>
                      </a:pPr>
                      <a:r>
                        <a:rPr sz="1050">
                          <a:solidFill>
                            <a:srgbClr val="417BC1"/>
                          </a:solidFill>
                          <a:latin typeface="Consolas"/>
                        </a:rPr>
                        <a:t>    public String login(</a:t>
                      </a:r>
                      <a:endParaRPr/>
                    </a:p>
                    <a:p>
                      <a:pPr>
                        <a:lnSpc>
                          <a:spcPct val="100000"/>
                        </a:lnSpc>
                        <a:spcBef>
                          <a:spcPts val="0"/>
                        </a:spcBef>
                        <a:spcAft>
                          <a:spcPts val="0"/>
                        </a:spcAft>
                        <a:defRPr/>
                      </a:pPr>
                      <a:r>
                        <a:rPr sz="1050">
                          <a:solidFill>
                            <a:srgbClr val="417BC1"/>
                          </a:solidFill>
                          <a:latin typeface="Consolas"/>
                        </a:rPr>
                        <a:t>            @WebParam(name = "usuario") String usuario,</a:t>
                      </a:r>
                      <a:endParaRPr/>
                    </a:p>
                    <a:p>
                      <a:pPr>
                        <a:lnSpc>
                          <a:spcPct val="100000"/>
                        </a:lnSpc>
                        <a:spcBef>
                          <a:spcPts val="0"/>
                        </a:spcBef>
                        <a:spcAft>
                          <a:spcPts val="0"/>
                        </a:spcAft>
                        <a:defRPr/>
                      </a:pPr>
                      <a:r>
                        <a:rPr sz="1050">
                          <a:solidFill>
                            <a:srgbClr val="417BC1"/>
                          </a:solidFill>
                          <a:latin typeface="Consolas"/>
                        </a:rPr>
                        <a:t>            @WebParam(name = "contrasenia") String contrasenia){</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if(AdministradorCredenciales.validarCredenciales(usuario, contrasenia)){</a:t>
                      </a:r>
                      <a:endParaRPr/>
                    </a:p>
                    <a:p>
                      <a:pPr>
                        <a:lnSpc>
                          <a:spcPct val="100000"/>
                        </a:lnSpc>
                        <a:spcBef>
                          <a:spcPts val="0"/>
                        </a:spcBef>
                        <a:spcAft>
                          <a:spcPts val="0"/>
                        </a:spcAft>
                        <a:defRPr/>
                      </a:pPr>
                      <a:r>
                        <a:rPr sz="1050">
                          <a:solidFill>
                            <a:srgbClr val="417BC1"/>
                          </a:solidFill>
                          <a:latin typeface="Consolas"/>
                        </a:rPr>
                        <a:t>            return AdministradorTokens.generarToken();</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throw new RuntimeException("Credenciales incorrectas");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permite cambiar la contraseña global.</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@WebMethod(operationName = "cambiarContrasenia")</a:t>
                      </a:r>
                      <a:endParaRPr/>
                    </a:p>
                    <a:p>
                      <a:pPr>
                        <a:lnSpc>
                          <a:spcPct val="100000"/>
                        </a:lnSpc>
                        <a:spcBef>
                          <a:spcPts val="0"/>
                        </a:spcBef>
                        <a:spcAft>
                          <a:spcPts val="0"/>
                        </a:spcAft>
                        <a:defRPr/>
                      </a:pPr>
                      <a:r>
                        <a:rPr sz="1050">
                          <a:solidFill>
                            <a:srgbClr val="417BC1"/>
                          </a:solidFill>
                          <a:latin typeface="Consolas"/>
                        </a:rPr>
                        <a:t>    public String cambiarContrasenia(</a:t>
                      </a:r>
                      <a:endParaRPr/>
                    </a:p>
                    <a:p>
                      <a:pPr>
                        <a:lnSpc>
                          <a:spcPct val="100000"/>
                        </a:lnSpc>
                        <a:spcBef>
                          <a:spcPts val="0"/>
                        </a:spcBef>
                        <a:spcAft>
                          <a:spcPts val="0"/>
                        </a:spcAft>
                        <a:defRPr/>
                      </a:pPr>
                      <a:r>
                        <a:rPr sz="1050">
                          <a:solidFill>
                            <a:srgbClr val="417BC1"/>
                          </a:solidFill>
                          <a:latin typeface="Consolas"/>
                        </a:rPr>
                        <a:t>            @WebParam(name = "contraseniaActual") String contraseniaActual,</a:t>
                      </a:r>
                      <a:endParaRPr/>
                    </a:p>
                    <a:p>
                      <a:pPr>
                        <a:lnSpc>
                          <a:spcPct val="100000"/>
                        </a:lnSpc>
                        <a:spcBef>
                          <a:spcPts val="0"/>
                        </a:spcBef>
                        <a:spcAft>
                          <a:spcPts val="0"/>
                        </a:spcAft>
                        <a:defRPr/>
                      </a:pPr>
                      <a:r>
                        <a:rPr sz="1050">
                          <a:solidFill>
                            <a:srgbClr val="417BC1"/>
                          </a:solidFill>
                          <a:latin typeface="Consolas"/>
                        </a:rPr>
                        <a:t>            @WebParam(name = "contraseniaNueva") String contraseniaNueva){</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AdministradorCredenciales.cambiarContrasenia(contraseniaActual, contraseniaNueva);</a:t>
                      </a:r>
                      <a:endParaRPr/>
                    </a:p>
                    <a:p>
                      <a:pPr>
                        <a:lnSpc>
                          <a:spcPct val="100000"/>
                        </a:lnSpc>
                        <a:spcBef>
                          <a:spcPts val="0"/>
                        </a:spcBef>
                        <a:spcAft>
                          <a:spcPts val="0"/>
                        </a:spcAft>
                        <a:defRPr/>
                      </a:pPr>
                      <a:r>
                        <a:rPr sz="1050">
                          <a:solidFill>
                            <a:srgbClr val="417BC1"/>
                          </a:solidFill>
                          <a:latin typeface="Consolas"/>
                        </a:rPr>
                        <a:t>        return "Contraseña cambiada con exito.";</a:t>
                      </a:r>
                      <a:endParaRPr/>
                    </a:p>
                    <a:p>
                      <a:pPr>
                        <a:lnSpc>
                          <a:spcPct val="100000"/>
                        </a:lnSpc>
                        <a:spcBef>
                          <a:spcPts val="0"/>
                        </a:spcBef>
                        <a:spcAft>
                          <a:spcPts val="0"/>
                        </a:spcAft>
                        <a:defRPr/>
                      </a:pPr>
                      <a:r>
                        <a:rPr sz="1050">
                          <a:solidFill>
                            <a:srgbClr val="417BC1"/>
                          </a:solidFill>
                          <a:latin typeface="Consolas"/>
                        </a:rPr>
                        <a:t>// ...</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2119299691" name="Google Shape;204;p26"/>
          <p:cNvGraphicFramePr>
            <a:graphicFrameLocks xmlns:a="http://schemas.openxmlformats.org/drawingml/2006/main"/>
          </p:cNvGraphicFramePr>
          <p:nvPr/>
        </p:nvGraphicFramePr>
        <p:xfrm rot="0">
          <a:off x="3881150" y="2291900"/>
          <a:ext cx="3000000" cy="3000000"/>
        </p:xfrm>
        <a:graphic>
          <a:graphicData uri="http://schemas.openxmlformats.org/drawingml/2006/table">
            <a:tbl>
              <a:tblPr firstRow="0" firstCol="0" lastRow="0" lastCol="0" bandRow="0" bandCol="0">
                <a:tableStyleId>{BF136021-7255-42B7-A7E7-87A8D8FFE9CA}</a:tableStyleId>
                <a:noFill/>
              </a:tblPr>
              <a:tblGrid>
                <a:gridCol w="4894525"/>
              </a:tblGrid>
              <a:tr h="3742900">
                <a:tc>
                  <a:txBody>
                    <a:bodyPr/>
                    <a:p>
                      <a:pPr marL="0" lvl="0" indent="0" algn="l" rtl="0">
                        <a:lnSpc>
                          <a:spcPct val="100000"/>
                        </a:lnSpc>
                        <a:spcBef>
                          <a:spcPts val="0"/>
                        </a:spcBef>
                        <a:spcAft>
                          <a:spcPts val="0"/>
                        </a:spcAft>
                        <a:buNone/>
                        <a:defRPr/>
                      </a:pPr>
                      <a:r>
                        <a:rPr sz="1050">
                          <a:solidFill>
                            <a:srgbClr val="417BC1"/>
                          </a:solidFill>
                          <a:latin typeface="Consolas"/>
                        </a:rPr>
                        <a:t>            @WebParam(name = "unidadInicial") String unidadInicial ,</a:t>
                      </a:r>
                      <a:endParaRPr sz="10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@WebParam(name = "unidadFinal") String unidadFinal){</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UnidadLongitud origen = UnidadLongitud.valueOf(unidadInicial.toUpperCase());</a:t>
                      </a:r>
                      <a:endParaRPr/>
                    </a:p>
                    <a:p>
                      <a:pPr>
                        <a:lnSpc>
                          <a:spcPct val="100000"/>
                        </a:lnSpc>
                        <a:spcBef>
                          <a:spcPts val="0"/>
                        </a:spcBef>
                        <a:spcAft>
                          <a:spcPts val="0"/>
                        </a:spcAft>
                        <a:defRPr/>
                      </a:pPr>
                      <a:r>
                        <a:rPr sz="1050">
                          <a:solidFill>
                            <a:srgbClr val="417BC1"/>
                          </a:solidFill>
                          <a:latin typeface="Consolas"/>
                        </a:rPr>
                        <a:t>        UnidadLongitud destino = UnidadLongitud.valueOf(unidadFinal.toUpperCase());</a:t>
                      </a:r>
                      <a:endParaRPr/>
                    </a:p>
                    <a:p>
                      <a:pPr>
                        <a:lnSpc>
                          <a:spcPct val="100000"/>
                        </a:lnSpc>
                        <a:spcBef>
                          <a:spcPts val="0"/>
                        </a:spcBef>
                        <a:spcAft>
                          <a:spcPts val="0"/>
                        </a:spcAft>
                        <a:defRPr/>
                      </a:pPr>
                      <a:r>
                        <a:rPr sz="1050">
                          <a:solidFill>
                            <a:srgbClr val="417BC1"/>
                          </a:solidFill>
                          <a:latin typeface="Consolas"/>
                        </a:rPr>
                        <a:t>        return servicioLongitud.conversor(valor, origen, destino);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conversion de unidades de masa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@WebMethod(operationName = "convertirMasa")</a:t>
                      </a:r>
                      <a:endParaRPr/>
                    </a:p>
                    <a:p>
                      <a:pPr>
                        <a:lnSpc>
                          <a:spcPct val="100000"/>
                        </a:lnSpc>
                        <a:spcBef>
                          <a:spcPts val="0"/>
                        </a:spcBef>
                        <a:spcAft>
                          <a:spcPts val="0"/>
                        </a:spcAft>
                        <a:defRPr/>
                      </a:pPr>
                      <a:r>
                        <a:rPr sz="1050">
                          <a:solidFill>
                            <a:srgbClr val="417BC1"/>
                          </a:solidFill>
                          <a:latin typeface="Consolas"/>
                        </a:rPr>
                        <a:t>    public double convertirMasa(</a:t>
                      </a:r>
                      <a:endParaRPr/>
                    </a:p>
                    <a:p>
                      <a:pPr>
                        <a:lnSpc>
                          <a:spcPct val="100000"/>
                        </a:lnSpc>
                        <a:spcBef>
                          <a:spcPts val="0"/>
                        </a:spcBef>
                        <a:spcAft>
                          <a:spcPts val="0"/>
                        </a:spcAft>
                        <a:defRPr/>
                      </a:pPr>
                      <a:r>
                        <a:rPr sz="1050">
                          <a:solidFill>
                            <a:srgbClr val="417BC1"/>
                          </a:solidFill>
                          <a:latin typeface="Consolas"/>
                        </a:rPr>
                        <a:t>            @WebParam(name = "valor") double valor,</a:t>
                      </a:r>
                      <a:endParaRPr/>
                    </a:p>
                    <a:p>
                      <a:pPr>
                        <a:lnSpc>
                          <a:spcPct val="100000"/>
                        </a:lnSpc>
                        <a:spcBef>
                          <a:spcPts val="0"/>
                        </a:spcBef>
                        <a:spcAft>
                          <a:spcPts val="0"/>
                        </a:spcAft>
                        <a:defRPr/>
                      </a:pPr>
                      <a:r>
                        <a:rPr sz="1050">
                          <a:solidFill>
                            <a:srgbClr val="417BC1"/>
                          </a:solidFill>
                          <a:latin typeface="Consolas"/>
                        </a:rPr>
                        <a:t>            @WebParam(name = "unidadInicial") String unidadInicial,</a:t>
                      </a:r>
                      <a:endParaRPr/>
                    </a:p>
                    <a:p>
                      <a:pPr>
                        <a:lnSpc>
                          <a:spcPct val="100000"/>
                        </a:lnSpc>
                        <a:spcBef>
                          <a:spcPts val="0"/>
                        </a:spcBef>
                        <a:spcAft>
                          <a:spcPts val="0"/>
                        </a:spcAft>
                        <a:defRPr/>
                      </a:pPr>
                      <a:r>
                        <a:rPr sz="1050">
                          <a:solidFill>
                            <a:srgbClr val="417BC1"/>
                          </a:solidFill>
                          <a:latin typeface="Consolas"/>
                        </a:rPr>
                        <a:t>            @WebParam(name = "unidadFinal") String unidadFinal)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UnidadMasa origen = UnidadMasa.valueOf(unidadInicial.toUpperCase());</a:t>
                      </a:r>
                      <a:endParaRPr/>
                    </a:p>
                    <a:p>
                      <a:pPr>
                        <a:lnSpc>
                          <a:spcPct val="100000"/>
                        </a:lnSpc>
                        <a:spcBef>
                          <a:spcPts val="0"/>
                        </a:spcBef>
                        <a:spcAft>
                          <a:spcPts val="0"/>
                        </a:spcAft>
                        <a:defRPr/>
                      </a:pPr>
                      <a:r>
                        <a:rPr sz="1050">
                          <a:solidFill>
                            <a:srgbClr val="417BC1"/>
                          </a:solidFill>
                          <a:latin typeface="Consolas"/>
                        </a:rPr>
                        <a:t>        UnidadMasa destino = UnidadMasa.valueOf(unidadFinal.toUpperCase());</a:t>
                      </a:r>
                      <a:endParaRPr/>
                    </a:p>
                    <a:p>
                      <a:pPr>
                        <a:lnSpc>
                          <a:spcPct val="100000"/>
                        </a:lnSpc>
                        <a:spcBef>
                          <a:spcPts val="0"/>
                        </a:spcBef>
                        <a:spcAft>
                          <a:spcPts val="0"/>
                        </a:spcAft>
                        <a:defRPr/>
                      </a:pPr>
                      <a:r>
                        <a:rPr sz="1050">
                          <a:solidFill>
                            <a:srgbClr val="417BC1"/>
                          </a:solidFill>
                          <a:latin typeface="Consolas"/>
                        </a:rPr>
                        <a:t>        return servicioMasa.conversor(valor, origen, destino);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conversion de unidades de temperatura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txBody>
                  <a:tcPr marL="63500" marR="63500" marT="63500" marB="63500"/>
                </a:tc>
              </a:tr>
            </a:tbl>
          </a:graphicData>
        </a:graphic>
      </p:graphicFrame>
      <p:sp>
        <p:nvSpPr>
          <p:cNvPr id="234494212" name="Google Shape;205;p2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133810702" name="Google Shape;206;p26"/>
          <p:cNvSpPr txBox="1"/>
          <p:nvPr>
            <p:ph type="body" idx="1"/>
          </p:nvPr>
        </p:nvSpPr>
        <p:spPr bwMode="auto">
          <a:xfrm>
            <a:off x="581200" y="2180500"/>
            <a:ext cx="2402100" cy="3965700"/>
          </a:xfrm>
          <a:prstGeom prst="rect">
            <a:avLst/>
          </a:prstGeom>
          <a:noFill/>
          <a:ln>
            <a:noFill/>
          </a:ln>
        </p:spPr>
        <p:txBody>
          <a:bodyPr spcFirstLastPara="1" wrap="square" lIns="27432" tIns="18288" rIns="27432" bIns="18288" anchor="ctr" anchorCtr="0">
            <a:noAutofit/>
          </a:bodyPr>
          <a:lstStyle/>
          <a:p>
            <a:pPr marL="457200" lvl="0" indent="-335090" algn="l" rtl="0">
              <a:lnSpc>
                <a:spcPct val="107000"/>
              </a:lnSpc>
              <a:spcBef>
                <a:spcPts val="0"/>
              </a:spcBef>
              <a:spcAft>
                <a:spcPts val="200"/>
              </a:spcAft>
              <a:buSzPts val="1677"/>
              <a:buFont typeface="Cambria"/>
              <a:buChar char="∙"/>
              <a:defRPr/>
            </a:pPr>
            <a:r>
              <a:rPr sz="1550" b="1" i="0">
                <a:solidFill>
                  <a:srgbClr val="373737"/>
                </a:solidFill>
                <a:latin typeface="Cambria"/>
              </a:rPr>
              <a:t>Operaciones de conversión</a:t>
            </a:r>
            <a:endParaRPr sz="1700" b="1">
              <a:latin typeface="Cambria"/>
              <a:ea typeface="Cambria"/>
              <a:cs typeface="Cambria"/>
            </a:endParaRPr>
          </a:p>
          <a:p>
            <a:pPr algn="l">
              <a:spcBef>
                <a:spcPts val="0"/>
              </a:spcBef>
              <a:spcAft>
                <a:spcPts val="600"/>
              </a:spcAft>
              <a:defRPr/>
            </a:pPr>
            <a:r>
              <a:rPr sz="1550" b="0" i="0">
                <a:solidFill>
                  <a:srgbClr val="373737"/>
                </a:solidFill>
                <a:latin typeface="Cambria"/>
              </a:rPr>
              <a:t>Longitud, masa y temperatura mediante SOAP.</a:t>
            </a:r>
            <a:endParaRPr/>
          </a:p>
        </p:txBody>
      </p:sp>
      <p:sp>
        <p:nvSpPr>
          <p:cNvPr id="1226523218" name="Google Shape;207;p2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3617958" name="Google Shape;212;p2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26900721" name="Google Shape;213;p27"/>
          <p:cNvSpPr txBox="1"/>
          <p:nvPr>
            <p:ph type="body" idx="1"/>
          </p:nvPr>
        </p:nvSpPr>
        <p:spPr bwMode="auto">
          <a:xfrm>
            <a:off x="581200" y="2018775"/>
            <a:ext cx="8589300" cy="16335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785"/>
              <a:buChar char="∙"/>
              <a:defRPr/>
            </a:pPr>
            <a:r>
              <a:rPr sz="1450" b="1" i="0">
                <a:solidFill>
                  <a:srgbClr val="373737"/>
                </a:solidFill>
                <a:latin typeface="Cambria"/>
              </a:rPr>
              <a:t>4.1.11  Autenticación SOAP</a:t>
            </a:r>
            <a:endParaRPr>
              <a:latin typeface="Cambria"/>
              <a:ea typeface="Cambria"/>
              <a:cs typeface="Cambria"/>
            </a:endParaRPr>
          </a:p>
          <a:p>
            <a:pPr algn="l">
              <a:spcBef>
                <a:spcPts val="0"/>
              </a:spcBef>
              <a:spcAft>
                <a:spcPts val="600"/>
              </a:spcAft>
              <a:defRPr/>
            </a:pPr>
            <a:r>
              <a:rPr sz="1450" b="0" i="0">
                <a:solidFill>
                  <a:srgbClr val="373737"/>
                </a:solidFill>
                <a:latin typeface="Cambria"/>
              </a:rPr>
              <a:t>Una clase importante a mencionar es el ManejadorAutenticacion.java, que sirve como un middleware en servicios SOAP con el fin de autenticar debidamente antes de permitir el paso a los métodos del WebService. Esta clase se crea en Web Services &gt; Message Handler.</a:t>
            </a:r>
            <a:endParaRPr/>
          </a:p>
        </p:txBody>
      </p:sp>
      <p:sp>
        <p:nvSpPr>
          <p:cNvPr id="1608489783" name="Google Shape;214;p27"/>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868074585" name="Google Shape;215;p27"/>
          <p:cNvPicPr/>
          <p:nvPr/>
        </p:nvPicPr>
        <p:blipFill rotWithShape="1">
          <a:blip r:embed="rId3">
            <a:alphaModFix/>
          </a:blip>
          <a:stretch/>
        </p:blipFill>
        <p:spPr bwMode="auto">
          <a:xfrm>
            <a:off x="2624680" y="3549050"/>
            <a:ext cx="4502340" cy="31242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3894855" name="Google Shape;220;p2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76390617" name="Google Shape;221;p28"/>
          <p:cNvSpPr txBox="1"/>
          <p:nvPr>
            <p:ph type="body" idx="1"/>
          </p:nvPr>
        </p:nvSpPr>
        <p:spPr bwMode="auto">
          <a:xfrm>
            <a:off x="581192" y="1876272"/>
            <a:ext cx="8589300" cy="1248599"/>
          </a:xfrm>
          <a:prstGeom prst="rect">
            <a:avLst/>
          </a:prstGeom>
          <a:noFill/>
          <a:ln>
            <a:noFill/>
          </a:ln>
        </p:spPr>
        <p:txBody>
          <a:bodyPr spcFirstLastPara="1" wrap="square" lIns="27432" tIns="18288" rIns="27432" bIns="18288" anchor="ctr" anchorCtr="0">
            <a:noAutofit/>
          </a:bodyPr>
          <a:lstStyle/>
          <a:p>
            <a:pPr marL="457200" lvl="0" indent="-327406" algn="l" rtl="0">
              <a:lnSpc>
                <a:spcPct val="107000"/>
              </a:lnSpc>
              <a:spcBef>
                <a:spcPts val="0"/>
              </a:spcBef>
              <a:spcAft>
                <a:spcPts val="200"/>
              </a:spcAft>
              <a:buSzPts val="1556"/>
              <a:buChar char="∙"/>
              <a:defRPr/>
            </a:pPr>
            <a:r>
              <a:rPr sz="1450" b="1" i="0">
                <a:solidFill>
                  <a:srgbClr val="373737"/>
                </a:solidFill>
                <a:latin typeface="Cambria"/>
              </a:rPr>
              <a:t>Manejador SOAP y autenticación</a:t>
            </a:r>
            <a:endParaRPr sz="1200">
              <a:latin typeface="Cambria"/>
              <a:ea typeface="Cambria"/>
              <a:cs typeface="Cambria"/>
            </a:endParaRPr>
          </a:p>
          <a:p>
            <a:pPr algn="l">
              <a:spcBef>
                <a:spcPts val="0"/>
              </a:spcBef>
              <a:spcAft>
                <a:spcPts val="600"/>
              </a:spcAft>
              <a:defRPr/>
            </a:pPr>
            <a:r>
              <a:rPr sz="1450" b="0" i="0">
                <a:solidFill>
                  <a:srgbClr val="373737"/>
                </a:solidFill>
                <a:latin typeface="Cambria"/>
              </a:rPr>
              <a:t>Esta clase contiene la lógica que se puede observar en la Tabla 5 junto a la complementaria para gestionar la autenticación con tokens y la autenticación que maneja credenciales quemadas en código (Usuario: Monster, Contraseña: Monster9) y pueden ser cambiadas en tiempo de ejecución (Cambiar Contraseña, que se puede ver como otro webservice expuesto).</a:t>
            </a:r>
            <a:endParaRPr/>
          </a:p>
          <a:p>
            <a:pPr algn="l">
              <a:spcBef>
                <a:spcPts val="0"/>
              </a:spcBef>
              <a:spcAft>
                <a:spcPts val="600"/>
              </a:spcAft>
              <a:defRPr/>
            </a:pPr>
            <a:r>
              <a:rPr sz="1450" b="0" i="0">
                <a:solidFill>
                  <a:srgbClr val="373737"/>
                </a:solidFill>
                <a:latin typeface="Cambria"/>
              </a:rPr>
              <a:t>Sin embargo, es fundamental mencionar que se debe crear un xml dentro de los recursos que mapee a la clase para que el proyecto pueda poner en ejecución el handler.</a:t>
            </a:r>
            <a:endParaRPr/>
          </a:p>
        </p:txBody>
      </p:sp>
      <p:sp>
        <p:nvSpPr>
          <p:cNvPr id="1863214694" name="Google Shape;222;p28"/>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639662039" name="Google Shape;223;p28"/>
          <p:cNvPicPr/>
          <p:nvPr/>
        </p:nvPicPr>
        <p:blipFill rotWithShape="1">
          <a:blip r:embed="rId3">
            <a:alphaModFix/>
          </a:blip>
          <a:stretch/>
        </p:blipFill>
        <p:spPr bwMode="auto">
          <a:xfrm>
            <a:off x="160770" y="3548490"/>
            <a:ext cx="3981586" cy="1381125"/>
          </a:xfrm>
          <a:prstGeom prst="rect">
            <a:avLst/>
          </a:prstGeom>
          <a:noFill/>
          <a:ln>
            <a:noFill/>
          </a:ln>
        </p:spPr>
      </p:pic>
      <p:graphicFrame>
        <p:nvGraphicFramePr>
          <p:cNvPr id="1340172463" name="Google Shape;224;p28"/>
          <p:cNvGraphicFramePr>
            <a:graphicFrameLocks xmlns:a="http://schemas.openxmlformats.org/drawingml/2006/main"/>
          </p:cNvGraphicFramePr>
          <p:nvPr/>
        </p:nvGraphicFramePr>
        <p:xfrm rot="0">
          <a:off x="4338075" y="2995548"/>
          <a:ext cx="4894524" cy="5194299"/>
        </p:xfrm>
        <a:graphic>
          <a:graphicData uri="http://schemas.openxmlformats.org/drawingml/2006/table">
            <a:tbl>
              <a:tblPr firstRow="0" firstCol="0" lastRow="0" lastCol="0" bandRow="0" bandCol="0">
                <a:tableStyleId>{BF136021-7255-42B7-A7E7-87A8D8FFE9CA}</a:tableStyleId>
                <a:noFill/>
              </a:tblPr>
              <a:tblGrid>
                <a:gridCol w="4894525"/>
              </a:tblGrid>
              <a:tr h="2215300">
                <a:tc>
                  <a:txBody>
                    <a:bodyPr/>
                    <a:p>
                      <a:pPr marL="0" lvl="0" indent="0" algn="l" rtl="0">
                        <a:lnSpc>
                          <a:spcPct val="100000"/>
                        </a:lnSpc>
                        <a:spcBef>
                          <a:spcPts val="0"/>
                        </a:spcBef>
                        <a:spcAft>
                          <a:spcPts val="0"/>
                        </a:spcAft>
                        <a:buNone/>
                        <a:defRPr/>
                      </a:pPr>
                      <a:r>
                        <a:rPr sz="1050">
                          <a:solidFill>
                            <a:srgbClr val="417BC1"/>
                          </a:solidFill>
                          <a:latin typeface="Consolas"/>
                        </a:rPr>
                        <a:t>package ec.edu.monster.controladores.manejadoresws;</a:t>
                      </a:r>
                      <a:endParaRPr sz="10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ec.edu.monster.seguridad.AdministradorTokens;</a:t>
                      </a:r>
                      <a:endParaRPr/>
                    </a:p>
                    <a:p>
                      <a:pPr>
                        <a:lnSpc>
                          <a:spcPct val="100000"/>
                        </a:lnSpc>
                        <a:spcBef>
                          <a:spcPts val="0"/>
                        </a:spcBef>
                        <a:spcAft>
                          <a:spcPts val="0"/>
                        </a:spcAft>
                        <a:defRPr/>
                      </a:pPr>
                      <a:r>
                        <a:rPr sz="1050">
                          <a:solidFill>
                            <a:srgbClr val="417BC1"/>
                          </a:solidFill>
                          <a:latin typeface="Consolas"/>
                        </a:rPr>
                        <a:t>import jakarta.xml.ws.handler.MessageContext;</a:t>
                      </a:r>
                      <a:endParaRPr/>
                    </a:p>
                    <a:p>
                      <a:pPr>
                        <a:lnSpc>
                          <a:spcPct val="100000"/>
                        </a:lnSpc>
                        <a:spcBef>
                          <a:spcPts val="0"/>
                        </a:spcBef>
                        <a:spcAft>
                          <a:spcPts val="0"/>
                        </a:spcAft>
                        <a:defRPr/>
                      </a:pPr>
                      <a:r>
                        <a:rPr sz="1050">
                          <a:solidFill>
                            <a:srgbClr val="417BC1"/>
                          </a:solidFill>
                          <a:latin typeface="Consolas"/>
                        </a:rPr>
                        <a:t>import jakarta.xml.ws.handler.soap.SOAPHandler;</a:t>
                      </a:r>
                      <a:endParaRPr/>
                    </a:p>
                    <a:p>
                      <a:pPr>
                        <a:lnSpc>
                          <a:spcPct val="100000"/>
                        </a:lnSpc>
                        <a:spcBef>
                          <a:spcPts val="0"/>
                        </a:spcBef>
                        <a:spcAft>
                          <a:spcPts val="0"/>
                        </a:spcAft>
                        <a:defRPr/>
                      </a:pPr>
                      <a:r>
                        <a:rPr sz="1050">
                          <a:solidFill>
                            <a:srgbClr val="417BC1"/>
                          </a:solidFill>
                          <a:latin typeface="Consolas"/>
                        </a:rPr>
                        <a:t>import jakarta.xml.ws.handler.soap.SOAPMessageContext;</a:t>
                      </a:r>
                      <a:endParaRPr/>
                    </a:p>
                    <a:p>
                      <a:pPr>
                        <a:lnSpc>
                          <a:spcPct val="100000"/>
                        </a:lnSpc>
                        <a:spcBef>
                          <a:spcPts val="0"/>
                        </a:spcBef>
                        <a:spcAft>
                          <a:spcPts val="0"/>
                        </a:spcAft>
                        <a:defRPr/>
                      </a:pPr>
                      <a:r>
                        <a:rPr sz="1050">
                          <a:solidFill>
                            <a:srgbClr val="417BC1"/>
                          </a:solidFill>
                          <a:latin typeface="Consolas"/>
                        </a:rPr>
                        <a:t>import java.util.Set;</a:t>
                      </a:r>
                      <a:endParaRPr/>
                    </a:p>
                    <a:p>
                      <a:pPr>
                        <a:lnSpc>
                          <a:spcPct val="100000"/>
                        </a:lnSpc>
                        <a:spcBef>
                          <a:spcPts val="0"/>
                        </a:spcBef>
                        <a:spcAft>
                          <a:spcPts val="0"/>
                        </a:spcAft>
                        <a:defRPr/>
                      </a:pPr>
                      <a:r>
                        <a:rPr sz="1050">
                          <a:solidFill>
                            <a:srgbClr val="417BC1"/>
                          </a:solidFill>
                          <a:latin typeface="Consolas"/>
                        </a:rPr>
                        <a:t>import javax.xml.namespace.QName;</a:t>
                      </a:r>
                      <a:endParaRPr/>
                    </a:p>
                    <a:p>
                      <a:pPr>
                        <a:lnSpc>
                          <a:spcPct val="100000"/>
                        </a:lnSpc>
                        <a:spcBef>
                          <a:spcPts val="0"/>
                        </a:spcBef>
                        <a:spcAft>
                          <a:spcPts val="0"/>
                        </a:spcAft>
                        <a:defRPr/>
                      </a:pPr>
                      <a:r>
                        <a:rPr sz="1050">
                          <a:solidFill>
                            <a:srgbClr val="417BC1"/>
                          </a:solidFill>
                          <a:latin typeface="Consolas"/>
                        </a:rPr>
                        <a:t>import org.w3c.dom.NodeList;</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ManejadorAutenticacion implements SOAPHandler&lt;SOAPMessageContext&gt;{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boolean handleMessage(SOAPMessageContext contexto) {</a:t>
                      </a:r>
                      <a:endParaRPr/>
                    </a:p>
                    <a:p>
                      <a:pPr>
                        <a:lnSpc>
                          <a:spcPct val="100000"/>
                        </a:lnSpc>
                        <a:spcBef>
                          <a:spcPts val="0"/>
                        </a:spcBef>
                        <a:spcAft>
                          <a:spcPts val="0"/>
                        </a:spcAft>
                        <a:defRPr/>
                      </a:pPr>
                      <a:r>
                        <a:rPr sz="1050">
                          <a:solidFill>
                            <a:srgbClr val="417BC1"/>
                          </a:solidFill>
                          <a:latin typeface="Consolas"/>
                        </a:rPr>
                        <a:t>         Boolean esSalida = (Boolean) contexto.get(MessageContext.MESSAGE_OUTBOUND_PROPERTY);</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 interseptamos peticiones entrantes del cliente al servidor</a:t>
                      </a:r>
                      <a:endParaRPr/>
                    </a:p>
                    <a:p>
                      <a:pPr>
                        <a:lnSpc>
                          <a:spcPct val="100000"/>
                        </a:lnSpc>
                        <a:spcBef>
                          <a:spcPts val="0"/>
                        </a:spcBef>
                        <a:spcAft>
                          <a:spcPts val="0"/>
                        </a:spcAft>
                        <a:defRPr/>
                      </a:pPr>
                      <a:r>
                        <a:rPr sz="1050">
                          <a:solidFill>
                            <a:srgbClr val="417BC1"/>
                          </a:solidFill>
                          <a:latin typeface="Consolas"/>
                        </a:rPr>
                        <a:t>        if(!esSalida){</a:t>
                      </a:r>
                      <a:endParaRPr/>
                    </a:p>
                    <a:p>
                      <a:pPr>
                        <a:lnSpc>
                          <a:spcPct val="100000"/>
                        </a:lnSpc>
                        <a:spcBef>
                          <a:spcPts val="0"/>
                        </a:spcBef>
                        <a:spcAft>
                          <a:spcPts val="0"/>
                        </a:spcAft>
                        <a:defRPr/>
                      </a:pPr>
                      <a:r>
                        <a:rPr sz="1050">
                          <a:solidFill>
                            <a:srgbClr val="417BC1"/>
                          </a:solidFill>
                          <a:latin typeface="Consolas"/>
                        </a:rPr>
                        <a:t>            try {</a:t>
                      </a:r>
                      <a:endParaRPr/>
                    </a:p>
                    <a:p>
                      <a:pPr>
                        <a:lnSpc>
                          <a:spcPct val="100000"/>
                        </a:lnSpc>
                        <a:spcBef>
                          <a:spcPts val="0"/>
                        </a:spcBef>
                        <a:spcAft>
                          <a:spcPts val="0"/>
                        </a:spcAft>
                        <a:defRPr/>
                      </a:pPr>
                      <a:r>
                        <a:rPr sz="1050">
                          <a:solidFill>
                            <a:srgbClr val="417BC1"/>
                          </a:solidFill>
                          <a:latin typeface="Consolas"/>
                        </a:rPr>
                        <a:t>                // obtener el nombre de la operacion WSDL-llamada</a:t>
                      </a:r>
                      <a:endParaRPr/>
                    </a:p>
                    <a:p>
                      <a:pPr>
                        <a:lnSpc>
                          <a:spcPct val="100000"/>
                        </a:lnSpc>
                        <a:spcBef>
                          <a:spcPts val="0"/>
                        </a:spcBef>
                        <a:spcAft>
                          <a:spcPts val="0"/>
                        </a:spcAft>
                        <a:defRPr/>
                      </a:pPr>
                      <a:r>
                        <a:rPr sz="1050">
                          <a:solidFill>
                            <a:srgbClr val="417BC1"/>
                          </a:solidFill>
                          <a:latin typeface="Consolas"/>
                        </a:rPr>
                        <a:t>                QName operacion = (QName) contexto.get(MessageContext.WSDL_OPERATION);</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7291556" name="Google Shape;229;p2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51529297" name="Google Shape;230;p29"/>
          <p:cNvSpPr txBox="1"/>
          <p:nvPr>
            <p:ph type="body" idx="1"/>
          </p:nvPr>
        </p:nvSpPr>
        <p:spPr bwMode="auto">
          <a:xfrm>
            <a:off x="581200" y="1876275"/>
            <a:ext cx="2132400" cy="4701300"/>
          </a:xfrm>
          <a:prstGeom prst="rect">
            <a:avLst/>
          </a:prstGeom>
          <a:noFill/>
          <a:ln>
            <a:noFill/>
          </a:ln>
        </p:spPr>
        <p:txBody>
          <a:bodyPr spcFirstLastPara="1" wrap="square" lIns="27432" tIns="18288" rIns="27432" bIns="18288" anchor="ctr" anchorCtr="0">
            <a:noAutofit/>
          </a:bodyPr>
          <a:lstStyle/>
          <a:p>
            <a:pPr marL="457200" lvl="0" indent="-327406" algn="l" rtl="0">
              <a:lnSpc>
                <a:spcPct val="107000"/>
              </a:lnSpc>
              <a:spcBef>
                <a:spcPts val="0"/>
              </a:spcBef>
              <a:spcAft>
                <a:spcPts val="200"/>
              </a:spcAft>
              <a:buSzPts val="1556"/>
              <a:buChar char="∙"/>
              <a:defRPr/>
            </a:pPr>
            <a:r>
              <a:rPr sz="1550" b="1" i="0">
                <a:solidFill>
                  <a:srgbClr val="373737"/>
                </a:solidFill>
                <a:latin typeface="Cambria"/>
              </a:rPr>
              <a:t>Validación de peticiones SOAP</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El handler verifica los tokens de sesión.</a:t>
            </a:r>
            <a:endParaRPr/>
          </a:p>
        </p:txBody>
      </p:sp>
      <p:sp>
        <p:nvSpPr>
          <p:cNvPr id="77165227" name="Google Shape;231;p2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963013066" name="Google Shape;232;p29"/>
          <p:cNvGraphicFramePr>
            <a:graphicFrameLocks xmlns:a="http://schemas.openxmlformats.org/drawingml/2006/main"/>
          </p:cNvGraphicFramePr>
          <p:nvPr/>
        </p:nvGraphicFramePr>
        <p:xfrm rot="0">
          <a:off x="2964625" y="18762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4701300">
                <a:tc>
                  <a:txBody>
                    <a:bodyPr/>
                    <a:p>
                      <a:pPr marL="0" lvl="0" indent="0" algn="l" rtl="0">
                        <a:lnSpc>
                          <a:spcPct val="100000"/>
                        </a:lnSpc>
                        <a:spcBef>
                          <a:spcPts val="0"/>
                        </a:spcBef>
                        <a:spcAft>
                          <a:spcPts val="0"/>
                        </a:spcAft>
                        <a:buNone/>
                        <a:defRPr/>
                      </a:pP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                // si la operacion es login no requiere token previo</a:t>
                      </a:r>
                      <a:endParaRPr/>
                    </a:p>
                    <a:p>
                      <a:pPr>
                        <a:lnSpc>
                          <a:spcPct val="100000"/>
                        </a:lnSpc>
                        <a:spcBef>
                          <a:spcPts val="0"/>
                        </a:spcBef>
                        <a:spcAft>
                          <a:spcPts val="0"/>
                        </a:spcAft>
                        <a:defRPr/>
                      </a:pPr>
                      <a:r>
                        <a:rPr sz="800">
                          <a:solidFill>
                            <a:srgbClr val="417BC1"/>
                          </a:solidFill>
                          <a:latin typeface="Consolas"/>
                        </a:rPr>
                        <a:t>                if(operacion != null &amp;&amp; "login".equals(operacion.getLocalPart())){</a:t>
                      </a:r>
                      <a:endParaRPr/>
                    </a:p>
                    <a:p>
                      <a:pPr>
                        <a:lnSpc>
                          <a:spcPct val="100000"/>
                        </a:lnSpc>
                        <a:spcBef>
                          <a:spcPts val="0"/>
                        </a:spcBef>
                        <a:spcAft>
                          <a:spcPts val="0"/>
                        </a:spcAft>
                        <a:defRPr/>
                      </a:pPr>
                      <a:r>
                        <a:rPr sz="800">
                          <a:solidFill>
                            <a:srgbClr val="417BC1"/>
                          </a:solidFill>
                          <a:latin typeface="Consolas"/>
                        </a:rPr>
                        <a:t>                    return true;</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para cualquier otra operacion, inspeccionamos el Header SOAP</a:t>
                      </a:r>
                      <a:endParaRPr/>
                    </a:p>
                    <a:p>
                      <a:pPr>
                        <a:lnSpc>
                          <a:spcPct val="100000"/>
                        </a:lnSpc>
                        <a:spcBef>
                          <a:spcPts val="0"/>
                        </a:spcBef>
                        <a:spcAft>
                          <a:spcPts val="0"/>
                        </a:spcAft>
                        <a:defRPr/>
                      </a:pPr>
                      <a:r>
                        <a:rPr sz="800">
                          <a:solidFill>
                            <a:srgbClr val="417BC1"/>
                          </a:solidFill>
                          <a:latin typeface="Consolas"/>
                        </a:rPr>
                        <a:t>                var mensajeSOAP = contexto.getMessage();</a:t>
                      </a:r>
                      <a:endParaRPr/>
                    </a:p>
                    <a:p>
                      <a:pPr>
                        <a:lnSpc>
                          <a:spcPct val="100000"/>
                        </a:lnSpc>
                        <a:spcBef>
                          <a:spcPts val="0"/>
                        </a:spcBef>
                        <a:spcAft>
                          <a:spcPts val="0"/>
                        </a:spcAft>
                        <a:defRPr/>
                      </a:pPr>
                      <a:r>
                        <a:rPr sz="800">
                          <a:solidFill>
                            <a:srgbClr val="417BC1"/>
                          </a:solidFill>
                          <a:latin typeface="Consolas"/>
                        </a:rPr>
                        <a:t>                var encabezado = mensajeSOAP.getSOAPHeader();</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if(encabezado == null){</a:t>
                      </a:r>
                      <a:endParaRPr/>
                    </a:p>
                    <a:p>
                      <a:pPr>
                        <a:lnSpc>
                          <a:spcPct val="100000"/>
                        </a:lnSpc>
                        <a:spcBef>
                          <a:spcPts val="0"/>
                        </a:spcBef>
                        <a:spcAft>
                          <a:spcPts val="0"/>
                        </a:spcAft>
                        <a:defRPr/>
                      </a:pPr>
                      <a:r>
                        <a:rPr sz="800">
                          <a:solidFill>
                            <a:srgbClr val="417BC1"/>
                          </a:solidFill>
                          <a:latin typeface="Consolas"/>
                        </a:rPr>
                        <a:t>                    throw new RuntimeException("Acceso denegado: Se requiere encabezado SOAP con el token de seguridad.");</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buscamos el nodo &lt;token&gt; dentro de la cabecera XML</a:t>
                      </a:r>
                      <a:endParaRPr/>
                    </a:p>
                    <a:p>
                      <a:pPr>
                        <a:lnSpc>
                          <a:spcPct val="100000"/>
                        </a:lnSpc>
                        <a:spcBef>
                          <a:spcPts val="0"/>
                        </a:spcBef>
                        <a:spcAft>
                          <a:spcPts val="0"/>
                        </a:spcAft>
                        <a:defRPr/>
                      </a:pPr>
                      <a:r>
                        <a:rPr sz="800">
                          <a:solidFill>
                            <a:srgbClr val="417BC1"/>
                          </a:solidFill>
                          <a:latin typeface="Consolas"/>
                        </a:rPr>
                        <a:t>                NodeList nodosToken = encabezado.getElementsByTagNameNS("*", "token");</a:t>
                      </a:r>
                      <a:endParaRPr/>
                    </a:p>
                    <a:p>
                      <a:pPr>
                        <a:lnSpc>
                          <a:spcPct val="100000"/>
                        </a:lnSpc>
                        <a:spcBef>
                          <a:spcPts val="0"/>
                        </a:spcBef>
                        <a:spcAft>
                          <a:spcPts val="0"/>
                        </a:spcAft>
                        <a:defRPr/>
                      </a:pPr>
                      <a:r>
                        <a:rPr sz="800">
                          <a:solidFill>
                            <a:srgbClr val="417BC1"/>
                          </a:solidFill>
                          <a:latin typeface="Consolas"/>
                        </a:rPr>
                        <a:t>                if(nodosToken.getLength() == 0){</a:t>
                      </a:r>
                      <a:endParaRPr/>
                    </a:p>
                    <a:p>
                      <a:pPr>
                        <a:lnSpc>
                          <a:spcPct val="100000"/>
                        </a:lnSpc>
                        <a:spcBef>
                          <a:spcPts val="0"/>
                        </a:spcBef>
                        <a:spcAft>
                          <a:spcPts val="0"/>
                        </a:spcAft>
                        <a:defRPr/>
                      </a:pPr>
                      <a:r>
                        <a:rPr sz="800">
                          <a:solidFill>
                            <a:srgbClr val="417BC1"/>
                          </a:solidFill>
                          <a:latin typeface="Consolas"/>
                        </a:rPr>
                        <a:t>                    throw new RuntimeException("Acceso denegado: No se encontro el token. Inicie sesión primero.");</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String token = nodosToken.item(0).getTextContent();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validamos el token contra nuestro administrador de tokens</a:t>
                      </a:r>
                      <a:endParaRPr/>
                    </a:p>
                    <a:p>
                      <a:pPr>
                        <a:lnSpc>
                          <a:spcPct val="100000"/>
                        </a:lnSpc>
                        <a:spcBef>
                          <a:spcPts val="0"/>
                        </a:spcBef>
                        <a:spcAft>
                          <a:spcPts val="0"/>
                        </a:spcAft>
                        <a:defRPr/>
                      </a:pPr>
                      <a:r>
                        <a:rPr sz="800">
                          <a:solidFill>
                            <a:srgbClr val="417BC1"/>
                          </a:solidFill>
                          <a:latin typeface="Consolas"/>
                        </a:rPr>
                        <a:t>                if(!AdministradorTokens.validarToken(token)){</a:t>
                      </a:r>
                      <a:endParaRPr/>
                    </a:p>
                    <a:p>
                      <a:pPr>
                        <a:lnSpc>
                          <a:spcPct val="100000"/>
                        </a:lnSpc>
                        <a:spcBef>
                          <a:spcPts val="0"/>
                        </a:spcBef>
                        <a:spcAft>
                          <a:spcPts val="0"/>
                        </a:spcAft>
                        <a:defRPr/>
                      </a:pPr>
                      <a:r>
                        <a:rPr sz="800">
                          <a:solidFill>
                            <a:srgbClr val="417BC1"/>
                          </a:solidFill>
                          <a:latin typeface="Consolas"/>
                        </a:rPr>
                        <a:t>                    throw new RuntimeException("Acceso denegado: Token invalido o expirado.");</a:t>
                      </a:r>
                      <a:endParaRPr/>
                    </a:p>
                    <a:p>
                      <a:pPr>
                        <a:lnSpc>
                          <a:spcPct val="100000"/>
                        </a:lnSpc>
                        <a:spcBef>
                          <a:spcPts val="0"/>
                        </a:spcBef>
                        <a:spcAft>
                          <a:spcPts val="0"/>
                        </a:spcAft>
                        <a:defRPr/>
                      </a:pPr>
                      <a:r>
                        <a:rPr sz="800">
                          <a:solidFill>
                            <a:srgbClr val="417BC1"/>
                          </a:solidFill>
                          <a:latin typeface="Consolas"/>
                        </a:rPr>
                        <a:t>                }</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7475565" name="Google Shape;237;p3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96537095" name="Google Shape;238;p30"/>
          <p:cNvSpPr txBox="1"/>
          <p:nvPr>
            <p:ph type="body" idx="1"/>
          </p:nvPr>
        </p:nvSpPr>
        <p:spPr bwMode="auto">
          <a:xfrm>
            <a:off x="581200" y="1876275"/>
            <a:ext cx="2132400" cy="4701300"/>
          </a:xfrm>
          <a:prstGeom prst="rect">
            <a:avLst/>
          </a:prstGeom>
          <a:noFill/>
          <a:ln>
            <a:noFill/>
          </a:ln>
        </p:spPr>
        <p:txBody>
          <a:bodyPr spcFirstLastPara="1" wrap="square" lIns="27432" tIns="18288" rIns="27432" bIns="18288" anchor="ctr" anchorCtr="0">
            <a:noAutofit/>
          </a:bodyPr>
          <a:lstStyle/>
          <a:p>
            <a:pPr marL="457200" lvl="0" indent="-327406" algn="l" rtl="0">
              <a:lnSpc>
                <a:spcPct val="107000"/>
              </a:lnSpc>
              <a:spcBef>
                <a:spcPts val="0"/>
              </a:spcBef>
              <a:spcAft>
                <a:spcPts val="200"/>
              </a:spcAft>
              <a:buSzPts val="1556"/>
              <a:buChar char="∙"/>
              <a:defRPr/>
            </a:pPr>
            <a:r>
              <a:rPr sz="1550" b="1" i="0">
                <a:solidFill>
                  <a:srgbClr val="373737"/>
                </a:solidFill>
                <a:latin typeface="Cambria"/>
              </a:rPr>
              <a:t>Gestión de errores SOAP</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Tratamiento de fallos y finalización del handler.</a:t>
            </a:r>
            <a:endParaRPr/>
          </a:p>
        </p:txBody>
      </p:sp>
      <p:sp>
        <p:nvSpPr>
          <p:cNvPr id="2096422160" name="Google Shape;239;p3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851228442" name="Google Shape;240;p30"/>
          <p:cNvGraphicFramePr>
            <a:graphicFrameLocks xmlns:a="http://schemas.openxmlformats.org/drawingml/2006/main"/>
          </p:cNvGraphicFramePr>
          <p:nvPr/>
        </p:nvGraphicFramePr>
        <p:xfrm rot="0">
          <a:off x="3064662" y="1947154"/>
          <a:ext cx="6062674" cy="4630419"/>
        </p:xfrm>
        <a:graphic>
          <a:graphicData uri="http://schemas.openxmlformats.org/drawingml/2006/table">
            <a:tbl>
              <a:tblPr firstRow="0" firstCol="0" lastRow="0" lastCol="0" bandRow="0" bandCol="0">
                <a:tableStyleId>{BF136021-7255-42B7-A7E7-87A8D8FFE9CA}</a:tableStyleId>
                <a:noFill/>
              </a:tblPr>
              <a:tblGrid>
                <a:gridCol w="6062675"/>
              </a:tblGrid>
              <a:tr h="1951625">
                <a:tc>
                  <a:txBody>
                    <a:bodyPr/>
                    <a:p>
                      <a:pPr marL="0" lvl="0" indent="0" algn="l" rtl="0">
                        <a:lnSpc>
                          <a:spcPct val="100000"/>
                        </a:lnSpc>
                        <a:spcBef>
                          <a:spcPts val="0"/>
                        </a:spcBef>
                        <a:spcAft>
                          <a:spcPts val="0"/>
                        </a:spcAft>
                        <a:buNone/>
                        <a:defRPr/>
                      </a:pPr>
                      <a:endParaRPr sz="12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 catch (Exception e) {</a:t>
                      </a:r>
                      <a:endParaRPr/>
                    </a:p>
                    <a:p>
                      <a:pPr>
                        <a:lnSpc>
                          <a:spcPct val="100000"/>
                        </a:lnSpc>
                        <a:spcBef>
                          <a:spcPts val="0"/>
                        </a:spcBef>
                        <a:spcAft>
                          <a:spcPts val="0"/>
                        </a:spcAft>
                        <a:defRPr/>
                      </a:pPr>
                      <a:r>
                        <a:rPr sz="1050">
                          <a:solidFill>
                            <a:srgbClr val="417BC1"/>
                          </a:solidFill>
                          <a:latin typeface="Consolas"/>
                        </a:rPr>
                        <a:t>                throw new RuntimeException(e.getMessage());</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continuamos con la ejecucion normal del servicio con el true</a:t>
                      </a:r>
                      <a:endParaRPr/>
                    </a:p>
                    <a:p>
                      <a:pPr>
                        <a:lnSpc>
                          <a:spcPct val="100000"/>
                        </a:lnSpc>
                        <a:spcBef>
                          <a:spcPts val="0"/>
                        </a:spcBef>
                        <a:spcAft>
                          <a:spcPts val="0"/>
                        </a:spcAft>
                        <a:defRPr/>
                      </a:pPr>
                      <a:r>
                        <a:rPr sz="1050">
                          <a:solidFill>
                            <a:srgbClr val="417BC1"/>
                          </a:solidFill>
                          <a:latin typeface="Consolas"/>
                        </a:rPr>
                        <a:t>        return true;</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Set&lt;QName&gt; getHeaders() {</a:t>
                      </a:r>
                      <a:endParaRPr/>
                    </a:p>
                    <a:p>
                      <a:pPr>
                        <a:lnSpc>
                          <a:spcPct val="100000"/>
                        </a:lnSpc>
                        <a:spcBef>
                          <a:spcPts val="0"/>
                        </a:spcBef>
                        <a:spcAft>
                          <a:spcPts val="0"/>
                        </a:spcAft>
                        <a:defRPr/>
                      </a:pPr>
                      <a:r>
                        <a:rPr sz="1050">
                          <a:solidFill>
                            <a:srgbClr val="417BC1"/>
                          </a:solidFill>
                          <a:latin typeface="Consolas"/>
                        </a:rPr>
                        <a:t>        return null;</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boolean handleFault(SOAPMessageContext contexto) {</a:t>
                      </a:r>
                      <a:endParaRPr/>
                    </a:p>
                    <a:p>
                      <a:pPr>
                        <a:lnSpc>
                          <a:spcPct val="100000"/>
                        </a:lnSpc>
                        <a:spcBef>
                          <a:spcPts val="0"/>
                        </a:spcBef>
                        <a:spcAft>
                          <a:spcPts val="0"/>
                        </a:spcAft>
                        <a:defRPr/>
                      </a:pPr>
                      <a:r>
                        <a:rPr sz="1050">
                          <a:solidFill>
                            <a:srgbClr val="417BC1"/>
                          </a:solidFill>
                          <a:latin typeface="Consolas"/>
                        </a:rPr>
                        <a:t>        return true;</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void close(MessageContext contexto)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8193756" name="Google Shape;245;p3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9303569" name="Google Shape;246;p31"/>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342900" lvl="0" indent="-342900" algn="l" rtl="0">
              <a:lnSpc>
                <a:spcPct val="107000"/>
              </a:lnSpc>
              <a:spcBef>
                <a:spcPts val="0"/>
              </a:spcBef>
              <a:spcAft>
                <a:spcPts val="200"/>
              </a:spcAft>
              <a:buSzPts val="1785"/>
              <a:buChar char="∙"/>
              <a:defRPr/>
            </a:pPr>
            <a:r>
              <a:rPr sz="1550" b="1" i="0">
                <a:solidFill>
                  <a:srgbClr val="373737"/>
                </a:solidFill>
                <a:latin typeface="Cambria"/>
              </a:rPr>
              <a:t>Interfaz IConversor&lt;T&gt;</a:t>
            </a:r>
            <a:endParaRPr>
              <a:latin typeface="Cambria"/>
              <a:ea typeface="Cambria"/>
              <a:cs typeface="Cambria"/>
            </a:endParaRPr>
          </a:p>
          <a:p>
            <a:pPr algn="l">
              <a:spcBef>
                <a:spcPts val="0"/>
              </a:spcBef>
              <a:spcAft>
                <a:spcPts val="600"/>
              </a:spcAft>
              <a:defRPr/>
            </a:pPr>
            <a:r>
              <a:rPr sz="1550" b="0" i="0">
                <a:solidFill>
                  <a:srgbClr val="373737"/>
                </a:solidFill>
                <a:latin typeface="Cambria"/>
              </a:rPr>
              <a:t>Contrato común para las conversiones.</a:t>
            </a:r>
            <a:endParaRPr/>
          </a:p>
        </p:txBody>
      </p:sp>
      <p:sp>
        <p:nvSpPr>
          <p:cNvPr id="990815542" name="Google Shape;247;p3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126689259" name="Google Shape;248;p31"/>
          <p:cNvGraphicFramePr>
            <a:graphicFrameLocks xmlns:a="http://schemas.openxmlformats.org/drawingml/2006/main"/>
          </p:cNvGraphicFramePr>
          <p:nvPr/>
        </p:nvGraphicFramePr>
        <p:xfrm rot="0">
          <a:off x="3017313" y="3676500"/>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1050">
                          <a:solidFill>
                            <a:srgbClr val="417BC1"/>
                          </a:solidFill>
                          <a:latin typeface="Consolas"/>
                        </a:rPr>
                        <a:t>package ec.edu.monster.modelos.utilidades;</a:t>
                      </a:r>
                      <a:endParaRPr sz="12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interface IConversor&lt;T&gt; {</a:t>
                      </a:r>
                      <a:endParaRPr/>
                    </a:p>
                    <a:p>
                      <a:pPr>
                        <a:lnSpc>
                          <a:spcPct val="100000"/>
                        </a:lnSpc>
                        <a:spcBef>
                          <a:spcPts val="0"/>
                        </a:spcBef>
                        <a:spcAft>
                          <a:spcPts val="0"/>
                        </a:spcAft>
                        <a:defRPr/>
                      </a:pPr>
                      <a:r>
                        <a:rPr sz="1050">
                          <a:solidFill>
                            <a:srgbClr val="417BC1"/>
                          </a:solidFill>
                          <a:latin typeface="Consolas"/>
                        </a:rPr>
                        <a:t>    double convertir(double valor, T unidadInicial, T unidadFinal);</a:t>
                      </a: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2681453" name="Google Shape;253;p3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519796000" name="Google Shape;254;p32"/>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50" b="1" i="0">
                <a:solidFill>
                  <a:srgbClr val="373737"/>
                </a:solidFill>
                <a:latin typeface="Cambria"/>
              </a:rPr>
              <a:t>Conversor de longitud</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Factores y unidades de longitud.</a:t>
            </a:r>
            <a:endParaRPr/>
          </a:p>
        </p:txBody>
      </p:sp>
      <p:sp>
        <p:nvSpPr>
          <p:cNvPr id="1616837687" name="Google Shape;255;p3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307345442" name="Google Shape;256;p32"/>
          <p:cNvGraphicFramePr>
            <a:graphicFrameLocks xmlns:a="http://schemas.openxmlformats.org/drawingml/2006/main"/>
          </p:cNvGraphicFramePr>
          <p:nvPr/>
        </p:nvGraphicFramePr>
        <p:xfrm rot="0">
          <a:off x="3017313" y="18381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800">
                          <a:solidFill>
                            <a:srgbClr val="417BC1"/>
                          </a:solidFill>
                          <a:latin typeface="Consolas"/>
                        </a:rPr>
                        <a:t>package ec.edu.monster.modelos.utilidades;</a:t>
                      </a:r>
                      <a:endParaRPr sz="10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import ec.edu.monster.modelos.utilidades.unidades.UnidadLongitud;</a:t>
                      </a:r>
                      <a:endParaRPr/>
                    </a:p>
                    <a:p>
                      <a:pPr>
                        <a:lnSpc>
                          <a:spcPct val="100000"/>
                        </a:lnSpc>
                        <a:spcBef>
                          <a:spcPts val="0"/>
                        </a:spcBef>
                        <a:spcAft>
                          <a:spcPts val="0"/>
                        </a:spcAft>
                        <a:defRPr/>
                      </a:pPr>
                      <a:r>
                        <a:rPr sz="800">
                          <a:solidFill>
                            <a:srgbClr val="417BC1"/>
                          </a:solidFill>
                          <a:latin typeface="Consolas"/>
                        </a:rPr>
                        <a:t>import java.util.Map;</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ConversorLongitud implements IConversor&lt;UnidadLongitud&gt;{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final Map&lt;UnidadLongitud, Double&gt; factores = Map.of(</a:t>
                      </a:r>
                      <a:endParaRPr/>
                    </a:p>
                    <a:p>
                      <a:pPr>
                        <a:lnSpc>
                          <a:spcPct val="100000"/>
                        </a:lnSpc>
                        <a:spcBef>
                          <a:spcPts val="0"/>
                        </a:spcBef>
                        <a:spcAft>
                          <a:spcPts val="0"/>
                        </a:spcAft>
                        <a:defRPr/>
                      </a:pPr>
                      <a:r>
                        <a:rPr sz="800">
                          <a:solidFill>
                            <a:srgbClr val="417BC1"/>
                          </a:solidFill>
                          <a:latin typeface="Consolas"/>
                        </a:rPr>
                        <a:t>        UnidadLongitud.MILIMETRO, 0.001,</a:t>
                      </a:r>
                      <a:endParaRPr/>
                    </a:p>
                    <a:p>
                      <a:pPr>
                        <a:lnSpc>
                          <a:spcPct val="100000"/>
                        </a:lnSpc>
                        <a:spcBef>
                          <a:spcPts val="0"/>
                        </a:spcBef>
                        <a:spcAft>
                          <a:spcPts val="0"/>
                        </a:spcAft>
                        <a:defRPr/>
                      </a:pPr>
                      <a:r>
                        <a:rPr sz="800">
                          <a:solidFill>
                            <a:srgbClr val="417BC1"/>
                          </a:solidFill>
                          <a:latin typeface="Consolas"/>
                        </a:rPr>
                        <a:t>        UnidadLongitud.CENTIMETRO, 0.01,</a:t>
                      </a:r>
                      <a:endParaRPr/>
                    </a:p>
                    <a:p>
                      <a:pPr>
                        <a:lnSpc>
                          <a:spcPct val="100000"/>
                        </a:lnSpc>
                        <a:spcBef>
                          <a:spcPts val="0"/>
                        </a:spcBef>
                        <a:spcAft>
                          <a:spcPts val="0"/>
                        </a:spcAft>
                        <a:defRPr/>
                      </a:pPr>
                      <a:r>
                        <a:rPr sz="800">
                          <a:solidFill>
                            <a:srgbClr val="417BC1"/>
                          </a:solidFill>
                          <a:latin typeface="Consolas"/>
                        </a:rPr>
                        <a:t>        UnidadLongitud.METRO, 1.0,</a:t>
                      </a:r>
                      <a:endParaRPr/>
                    </a:p>
                    <a:p>
                      <a:pPr>
                        <a:lnSpc>
                          <a:spcPct val="100000"/>
                        </a:lnSpc>
                        <a:spcBef>
                          <a:spcPts val="0"/>
                        </a:spcBef>
                        <a:spcAft>
                          <a:spcPts val="0"/>
                        </a:spcAft>
                        <a:defRPr/>
                      </a:pPr>
                      <a:r>
                        <a:rPr sz="800">
                          <a:solidFill>
                            <a:srgbClr val="417BC1"/>
                          </a:solidFill>
                          <a:latin typeface="Consolas"/>
                        </a:rPr>
                        <a:t>        UnidadLongitud.KILOMETRO, 1000.0,</a:t>
                      </a:r>
                      <a:endParaRPr/>
                    </a:p>
                    <a:p>
                      <a:pPr>
                        <a:lnSpc>
                          <a:spcPct val="100000"/>
                        </a:lnSpc>
                        <a:spcBef>
                          <a:spcPts val="0"/>
                        </a:spcBef>
                        <a:spcAft>
                          <a:spcPts val="0"/>
                        </a:spcAft>
                        <a:defRPr/>
                      </a:pPr>
                      <a:r>
                        <a:rPr sz="800">
                          <a:solidFill>
                            <a:srgbClr val="417BC1"/>
                          </a:solidFill>
                          <a:latin typeface="Consolas"/>
                        </a:rPr>
                        <a:t>        UnidadLongitud.YARDA, 0.9144</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@Override</a:t>
                      </a:r>
                      <a:endParaRPr/>
                    </a:p>
                    <a:p>
                      <a:pPr>
                        <a:lnSpc>
                          <a:spcPct val="100000"/>
                        </a:lnSpc>
                        <a:spcBef>
                          <a:spcPts val="0"/>
                        </a:spcBef>
                        <a:spcAft>
                          <a:spcPts val="0"/>
                        </a:spcAft>
                        <a:defRPr/>
                      </a:pPr>
                      <a:r>
                        <a:rPr sz="800">
                          <a:solidFill>
                            <a:srgbClr val="417BC1"/>
                          </a:solidFill>
                          <a:latin typeface="Consolas"/>
                        </a:rPr>
                        <a:t>    public double convertir(double valor, UnidadLongitud unidadInicial, UnidadLongitud unidadFinal) {</a:t>
                      </a:r>
                      <a:endParaRPr/>
                    </a:p>
                    <a:p>
                      <a:pPr>
                        <a:lnSpc>
                          <a:spcPct val="100000"/>
                        </a:lnSpc>
                        <a:spcBef>
                          <a:spcPts val="0"/>
                        </a:spcBef>
                        <a:spcAft>
                          <a:spcPts val="0"/>
                        </a:spcAft>
                        <a:defRPr/>
                      </a:pPr>
                      <a:r>
                        <a:rPr sz="800">
                          <a:solidFill>
                            <a:srgbClr val="417BC1"/>
                          </a:solidFill>
                          <a:latin typeface="Consolas"/>
                        </a:rPr>
                        <a:t>        if (unidadInicial == null || unidadFinal == null ){</a:t>
                      </a:r>
                      <a:endParaRPr/>
                    </a:p>
                    <a:p>
                      <a:pPr>
                        <a:lnSpc>
                          <a:spcPct val="100000"/>
                        </a:lnSpc>
                        <a:spcBef>
                          <a:spcPts val="0"/>
                        </a:spcBef>
                        <a:spcAft>
                          <a:spcPts val="0"/>
                        </a:spcAft>
                        <a:defRPr/>
                      </a:pPr>
                      <a:r>
                        <a:rPr sz="800">
                          <a:solidFill>
                            <a:srgbClr val="417BC1"/>
                          </a:solidFill>
                          <a:latin typeface="Consolas"/>
                        </a:rPr>
                        <a:t>            throw new IllegalArgumentException("Las unidades no pueden ser nulas");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3181653" name="Google Shape;261;p3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90234476" name="Google Shape;262;p33"/>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50" b="1" i="0">
                <a:solidFill>
                  <a:srgbClr val="373737"/>
                </a:solidFill>
                <a:latin typeface="Cambria"/>
              </a:rPr>
              <a:t>Conversor de masa</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Factores y unidades de masa.</a:t>
            </a:r>
            <a:endParaRPr/>
          </a:p>
        </p:txBody>
      </p:sp>
      <p:sp>
        <p:nvSpPr>
          <p:cNvPr id="102671145" name="Google Shape;263;p33"/>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439339116" name="Google Shape;264;p33"/>
          <p:cNvGraphicFramePr>
            <a:graphicFrameLocks xmlns:a="http://schemas.openxmlformats.org/drawingml/2006/main"/>
          </p:cNvGraphicFramePr>
          <p:nvPr/>
        </p:nvGraphicFramePr>
        <p:xfrm rot="0">
          <a:off x="3017313" y="18381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1050">
                          <a:solidFill>
                            <a:srgbClr val="417BC1"/>
                          </a:solidFill>
                          <a:latin typeface="Consolas"/>
                        </a:rPr>
                        <a:t>package ec.edu.monster.modelos.utilidades;</a:t>
                      </a:r>
                      <a:endParaRPr sz="10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ec.edu.monster.modelos.utilidades.unidades.UnidadMasa;</a:t>
                      </a:r>
                      <a:endParaRPr/>
                    </a:p>
                    <a:p>
                      <a:pPr>
                        <a:lnSpc>
                          <a:spcPct val="100000"/>
                        </a:lnSpc>
                        <a:spcBef>
                          <a:spcPts val="0"/>
                        </a:spcBef>
                        <a:spcAft>
                          <a:spcPts val="0"/>
                        </a:spcAft>
                        <a:defRPr/>
                      </a:pPr>
                      <a:r>
                        <a:rPr sz="1050">
                          <a:solidFill>
                            <a:srgbClr val="417BC1"/>
                          </a:solidFill>
                          <a:latin typeface="Consolas"/>
                        </a:rPr>
                        <a:t>import java.util.Map;</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ConversorMasa implements IConversor&lt;UnidadMasa&gt;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final Map&lt;UnidadMasa,Double&gt; factor = Map.of(</a:t>
                      </a:r>
                      <a:endParaRPr/>
                    </a:p>
                    <a:p>
                      <a:pPr>
                        <a:lnSpc>
                          <a:spcPct val="100000"/>
                        </a:lnSpc>
                        <a:spcBef>
                          <a:spcPts val="0"/>
                        </a:spcBef>
                        <a:spcAft>
                          <a:spcPts val="0"/>
                        </a:spcAft>
                        <a:defRPr/>
                      </a:pPr>
                      <a:r>
                        <a:rPr sz="1050">
                          <a:solidFill>
                            <a:srgbClr val="417BC1"/>
                          </a:solidFill>
                          <a:latin typeface="Consolas"/>
                        </a:rPr>
                        <a:t>            UnidadMasa.MILIGRAMO, 0.001,</a:t>
                      </a:r>
                      <a:endParaRPr/>
                    </a:p>
                    <a:p>
                      <a:pPr>
                        <a:lnSpc>
                          <a:spcPct val="100000"/>
                        </a:lnSpc>
                        <a:spcBef>
                          <a:spcPts val="0"/>
                        </a:spcBef>
                        <a:spcAft>
                          <a:spcPts val="0"/>
                        </a:spcAft>
                        <a:defRPr/>
                      </a:pPr>
                      <a:r>
                        <a:rPr sz="1050">
                          <a:solidFill>
                            <a:srgbClr val="417BC1"/>
                          </a:solidFill>
                          <a:latin typeface="Consolas"/>
                        </a:rPr>
                        <a:t>            UnidadMasa.GRAMO, 1.0,</a:t>
                      </a:r>
                      <a:endParaRPr/>
                    </a:p>
                    <a:p>
                      <a:pPr>
                        <a:lnSpc>
                          <a:spcPct val="100000"/>
                        </a:lnSpc>
                        <a:spcBef>
                          <a:spcPts val="0"/>
                        </a:spcBef>
                        <a:spcAft>
                          <a:spcPts val="0"/>
                        </a:spcAft>
                        <a:defRPr/>
                      </a:pPr>
                      <a:r>
                        <a:rPr sz="1050">
                          <a:solidFill>
                            <a:srgbClr val="417BC1"/>
                          </a:solidFill>
                          <a:latin typeface="Consolas"/>
                        </a:rPr>
                        <a:t>            UnidadMasa.KILOGRAMO, 1000.0,</a:t>
                      </a:r>
                      <a:endParaRPr/>
                    </a:p>
                    <a:p>
                      <a:pPr>
                        <a:lnSpc>
                          <a:spcPct val="100000"/>
                        </a:lnSpc>
                        <a:spcBef>
                          <a:spcPts val="0"/>
                        </a:spcBef>
                        <a:spcAft>
                          <a:spcPts val="0"/>
                        </a:spcAft>
                        <a:defRPr/>
                      </a:pPr>
                      <a:r>
                        <a:rPr sz="1050">
                          <a:solidFill>
                            <a:srgbClr val="417BC1"/>
                          </a:solidFill>
                          <a:latin typeface="Consolas"/>
                        </a:rPr>
                        <a:t>            UnidadMasa.TONELADA, 1_000_000.0,</a:t>
                      </a:r>
                      <a:endParaRPr/>
                    </a:p>
                    <a:p>
                      <a:pPr>
                        <a:lnSpc>
                          <a:spcPct val="100000"/>
                        </a:lnSpc>
                        <a:spcBef>
                          <a:spcPts val="0"/>
                        </a:spcBef>
                        <a:spcAft>
                          <a:spcPts val="0"/>
                        </a:spcAft>
                        <a:defRPr/>
                      </a:pPr>
                      <a:r>
                        <a:rPr sz="1050">
                          <a:solidFill>
                            <a:srgbClr val="417BC1"/>
                          </a:solidFill>
                          <a:latin typeface="Consolas"/>
                        </a:rPr>
                        <a:t>            UnidadMasa.ONZA, 28.3495</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double convertir(double valor, UnidadMasa unidadInicial, UnidadMasa unidadFinal) {</a:t>
                      </a:r>
                      <a:endParaRPr/>
                    </a:p>
                    <a:p>
                      <a:pPr>
                        <a:lnSpc>
                          <a:spcPct val="100000"/>
                        </a:lnSpc>
                        <a:spcBef>
                          <a:spcPts val="0"/>
                        </a:spcBef>
                        <a:spcAft>
                          <a:spcPts val="0"/>
                        </a:spcAft>
                        <a:defRPr/>
                      </a:pPr>
                      <a:r>
                        <a:rPr sz="1050">
                          <a:solidFill>
                            <a:srgbClr val="417BC1"/>
                          </a:solidFill>
                          <a:latin typeface="Consolas"/>
                        </a:rPr>
                        <a:t>        if(unidadInicial == null || unidadFinal == null){</a:t>
                      </a:r>
                      <a:endParaRPr/>
                    </a:p>
                    <a:p>
                      <a:pPr>
                        <a:lnSpc>
                          <a:spcPct val="100000"/>
                        </a:lnSpc>
                        <a:spcBef>
                          <a:spcPts val="0"/>
                        </a:spcBef>
                        <a:spcAft>
                          <a:spcPts val="0"/>
                        </a:spcAft>
                        <a:defRPr/>
                      </a:pPr>
                      <a:r>
                        <a:rPr sz="1050">
                          <a:solidFill>
                            <a:srgbClr val="417BC1"/>
                          </a:solidFill>
                          <a:latin typeface="Consolas"/>
                        </a:rPr>
                        <a:t>            throw new IllegalArgumentException("Las unidades no pueden ser nulas");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if(!factor.containsKey(unidadInicial)||!factor.containsKey(unidadFinal)){</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3096472" name="Google Shape;269;p3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27154416" name="Google Shape;270;p34"/>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50" b="1" i="0">
                <a:solidFill>
                  <a:srgbClr val="373737"/>
                </a:solidFill>
                <a:latin typeface="Cambria"/>
              </a:rPr>
              <a:t>Conversor de temperatura</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Fórmulas de conversión entre escalas.</a:t>
            </a:r>
            <a:endParaRPr/>
          </a:p>
        </p:txBody>
      </p:sp>
      <p:sp>
        <p:nvSpPr>
          <p:cNvPr id="108019335" name="Google Shape;271;p3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685082270" name="Google Shape;272;p34"/>
          <p:cNvGraphicFramePr>
            <a:graphicFrameLocks xmlns:a="http://schemas.openxmlformats.org/drawingml/2006/main"/>
          </p:cNvGraphicFramePr>
          <p:nvPr/>
        </p:nvGraphicFramePr>
        <p:xfrm rot="0">
          <a:off x="2891513" y="2209650"/>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800">
                          <a:solidFill>
                            <a:srgbClr val="417BC1"/>
                          </a:solidFill>
                          <a:latin typeface="Consolas"/>
                        </a:rPr>
                        <a:t>import ec.edu.monster.modelos.utilidades.unidades.UnidadTemperatura;</a:t>
                      </a:r>
                      <a:endParaRPr sz="12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ConversorTemperatura implements IConversor&lt;UnidadTemperatura&gt;{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@Override</a:t>
                      </a:r>
                      <a:endParaRPr/>
                    </a:p>
                    <a:p>
                      <a:pPr>
                        <a:lnSpc>
                          <a:spcPct val="100000"/>
                        </a:lnSpc>
                        <a:spcBef>
                          <a:spcPts val="0"/>
                        </a:spcBef>
                        <a:spcAft>
                          <a:spcPts val="0"/>
                        </a:spcAft>
                        <a:defRPr/>
                      </a:pPr>
                      <a:r>
                        <a:rPr sz="800">
                          <a:solidFill>
                            <a:srgbClr val="417BC1"/>
                          </a:solidFill>
                          <a:latin typeface="Consolas"/>
                        </a:rPr>
                        <a:t>    public double convertir(double valor, UnidadTemperatura unidadInicial, UnidadTemperatura unidadFinal) {</a:t>
                      </a:r>
                      <a:endParaRPr/>
                    </a:p>
                    <a:p>
                      <a:pPr>
                        <a:lnSpc>
                          <a:spcPct val="100000"/>
                        </a:lnSpc>
                        <a:spcBef>
                          <a:spcPts val="0"/>
                        </a:spcBef>
                        <a:spcAft>
                          <a:spcPts val="0"/>
                        </a:spcAft>
                        <a:defRPr/>
                      </a:pPr>
                      <a:r>
                        <a:rPr sz="800">
                          <a:solidFill>
                            <a:srgbClr val="417BC1"/>
                          </a:solidFill>
                          <a:latin typeface="Consolas"/>
                        </a:rPr>
                        <a:t>        if(unidadInicial == null || unidadFinal == null){</a:t>
                      </a:r>
                      <a:endParaRPr/>
                    </a:p>
                    <a:p>
                      <a:pPr>
                        <a:lnSpc>
                          <a:spcPct val="100000"/>
                        </a:lnSpc>
                        <a:spcBef>
                          <a:spcPts val="0"/>
                        </a:spcBef>
                        <a:spcAft>
                          <a:spcPts val="0"/>
                        </a:spcAft>
                        <a:defRPr/>
                      </a:pPr>
                      <a:r>
                        <a:rPr sz="800">
                          <a:solidFill>
                            <a:srgbClr val="417BC1"/>
                          </a:solidFill>
                          <a:latin typeface="Consolas"/>
                        </a:rPr>
                        <a:t>            throw new IllegalArgumentException("Las unidades no pueden ser nulas");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if (unidadInicial == unidadFinal){</a:t>
                      </a:r>
                      <a:endParaRPr/>
                    </a:p>
                    <a:p>
                      <a:pPr>
                        <a:lnSpc>
                          <a:spcPct val="100000"/>
                        </a:lnSpc>
                        <a:spcBef>
                          <a:spcPts val="0"/>
                        </a:spcBef>
                        <a:spcAft>
                          <a:spcPts val="0"/>
                        </a:spcAft>
                        <a:defRPr/>
                      </a:pPr>
                      <a:r>
                        <a:rPr sz="800">
                          <a:solidFill>
                            <a:srgbClr val="417BC1"/>
                          </a:solidFill>
                          <a:latin typeface="Consolas"/>
                        </a:rPr>
                        <a:t>            return valor;</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Para temperatura no aplican factores simples, se usan formulas directas</a:t>
                      </a:r>
                      <a:endParaRPr/>
                    </a:p>
                    <a:p>
                      <a:pPr>
                        <a:lnSpc>
                          <a:spcPct val="100000"/>
                        </a:lnSpc>
                        <a:spcBef>
                          <a:spcPts val="0"/>
                        </a:spcBef>
                        <a:spcAft>
                          <a:spcPts val="0"/>
                        </a:spcAft>
                        <a:defRPr/>
                      </a:pPr>
                      <a:r>
                        <a:rPr sz="800">
                          <a:solidFill>
                            <a:srgbClr val="417BC1"/>
                          </a:solidFill>
                          <a:latin typeface="Consolas"/>
                        </a:rPr>
                        <a:t>        return switch (unidadInicial) {</a:t>
                      </a:r>
                      <a:endParaRPr/>
                    </a:p>
                    <a:p>
                      <a:pPr>
                        <a:lnSpc>
                          <a:spcPct val="100000"/>
                        </a:lnSpc>
                        <a:spcBef>
                          <a:spcPts val="0"/>
                        </a:spcBef>
                        <a:spcAft>
                          <a:spcPts val="0"/>
                        </a:spcAft>
                        <a:defRPr/>
                      </a:pPr>
                      <a:r>
                        <a:rPr sz="800">
                          <a:solidFill>
                            <a:srgbClr val="417BC1"/>
                          </a:solidFill>
                          <a:latin typeface="Consolas"/>
                        </a:rPr>
                        <a:t>            case CELSIUS -&gt; switch (unidadFinal) {</a:t>
                      </a:r>
                      <a:endParaRPr/>
                    </a:p>
                    <a:p>
                      <a:pPr>
                        <a:lnSpc>
                          <a:spcPct val="100000"/>
                        </a:lnSpc>
                        <a:spcBef>
                          <a:spcPts val="0"/>
                        </a:spcBef>
                        <a:spcAft>
                          <a:spcPts val="0"/>
                        </a:spcAft>
                        <a:defRPr/>
                      </a:pPr>
                      <a:r>
                        <a:rPr sz="800">
                          <a:solidFill>
                            <a:srgbClr val="417BC1"/>
                          </a:solidFill>
                          <a:latin typeface="Consolas"/>
                        </a:rPr>
                        <a:t>                case FAHRENHEIT -&gt; (valor * 9 / 5) + 32;</a:t>
                      </a:r>
                      <a:endParaRPr/>
                    </a:p>
                    <a:p>
                      <a:pPr>
                        <a:lnSpc>
                          <a:spcPct val="100000"/>
                        </a:lnSpc>
                        <a:spcBef>
                          <a:spcPts val="0"/>
                        </a:spcBef>
                        <a:spcAft>
                          <a:spcPts val="0"/>
                        </a:spcAft>
                        <a:defRPr/>
                      </a:pPr>
                      <a:r>
                        <a:rPr sz="800">
                          <a:solidFill>
                            <a:srgbClr val="417BC1"/>
                          </a:solidFill>
                          <a:latin typeface="Consolas"/>
                        </a:rPr>
                        <a:t>                case KELVIN -&gt; valor + 273.15;</a:t>
                      </a:r>
                      <a:endParaRPr/>
                    </a:p>
                    <a:p>
                      <a:pPr>
                        <a:lnSpc>
                          <a:spcPct val="100000"/>
                        </a:lnSpc>
                        <a:spcBef>
                          <a:spcPts val="0"/>
                        </a:spcBef>
                        <a:spcAft>
                          <a:spcPts val="0"/>
                        </a:spcAft>
                        <a:defRPr/>
                      </a:pPr>
                      <a:r>
                        <a:rPr sz="800">
                          <a:solidFill>
                            <a:srgbClr val="417BC1"/>
                          </a:solidFill>
                          <a:latin typeface="Consolas"/>
                        </a:rPr>
                        <a:t>                case RANKINE -&gt; (valor + 273.15) * 9 / 5;</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8216016" name="Google Shape;277;p3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69163769" name="Google Shape;278;p35"/>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50" b="1" i="0">
                <a:solidFill>
                  <a:srgbClr val="373737"/>
                </a:solidFill>
                <a:latin typeface="Cambria"/>
              </a:rPr>
              <a:t>Conversor de temperatura (continuación)</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Transformación entre grados Celsius, Fahrenheit y Kelvin.</a:t>
            </a:r>
            <a:endParaRPr/>
          </a:p>
        </p:txBody>
      </p:sp>
      <p:sp>
        <p:nvSpPr>
          <p:cNvPr id="358391961" name="Google Shape;279;p3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587600580" name="Google Shape;280;p35"/>
          <p:cNvGraphicFramePr>
            <a:graphicFrameLocks xmlns:a="http://schemas.openxmlformats.org/drawingml/2006/main"/>
          </p:cNvGraphicFramePr>
          <p:nvPr/>
        </p:nvGraphicFramePr>
        <p:xfrm rot="0">
          <a:off x="2891513" y="18381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1050">
                          <a:solidFill>
                            <a:srgbClr val="417BC1"/>
                          </a:solidFill>
                          <a:latin typeface="Consolas"/>
                        </a:rPr>
                        <a:t>                default -&gt; throw new IllegalArgumentException("Conversión no soportada");</a:t>
                      </a:r>
                      <a:endParaRPr sz="10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case FAHRENHEIT -&gt; switch (unidadFinal) {</a:t>
                      </a:r>
                      <a:endParaRPr/>
                    </a:p>
                    <a:p>
                      <a:pPr>
                        <a:lnSpc>
                          <a:spcPct val="100000"/>
                        </a:lnSpc>
                        <a:spcBef>
                          <a:spcPts val="0"/>
                        </a:spcBef>
                        <a:spcAft>
                          <a:spcPts val="0"/>
                        </a:spcAft>
                        <a:defRPr/>
                      </a:pPr>
                      <a:r>
                        <a:rPr sz="1050">
                          <a:solidFill>
                            <a:srgbClr val="417BC1"/>
                          </a:solidFill>
                          <a:latin typeface="Consolas"/>
                        </a:rPr>
                        <a:t>                case CELSIUS -&gt; (valor - 32) * 5 / 9;</a:t>
                      </a:r>
                      <a:endParaRPr/>
                    </a:p>
                    <a:p>
                      <a:pPr>
                        <a:lnSpc>
                          <a:spcPct val="100000"/>
                        </a:lnSpc>
                        <a:spcBef>
                          <a:spcPts val="0"/>
                        </a:spcBef>
                        <a:spcAft>
                          <a:spcPts val="0"/>
                        </a:spcAft>
                        <a:defRPr/>
                      </a:pPr>
                      <a:r>
                        <a:rPr sz="1050">
                          <a:solidFill>
                            <a:srgbClr val="417BC1"/>
                          </a:solidFill>
                          <a:latin typeface="Consolas"/>
                        </a:rPr>
                        <a:t>                case KELVIN -&gt; (valor - 32) * 5 / 9 + 273.15;</a:t>
                      </a:r>
                      <a:endParaRPr/>
                    </a:p>
                    <a:p>
                      <a:pPr>
                        <a:lnSpc>
                          <a:spcPct val="100000"/>
                        </a:lnSpc>
                        <a:spcBef>
                          <a:spcPts val="0"/>
                        </a:spcBef>
                        <a:spcAft>
                          <a:spcPts val="0"/>
                        </a:spcAft>
                        <a:defRPr/>
                      </a:pPr>
                      <a:r>
                        <a:rPr sz="1050">
                          <a:solidFill>
                            <a:srgbClr val="417BC1"/>
                          </a:solidFill>
                          <a:latin typeface="Consolas"/>
                        </a:rPr>
                        <a:t>                case RANKINE -&gt; valor + 459.67;</a:t>
                      </a:r>
                      <a:endParaRPr/>
                    </a:p>
                    <a:p>
                      <a:pPr>
                        <a:lnSpc>
                          <a:spcPct val="100000"/>
                        </a:lnSpc>
                        <a:spcBef>
                          <a:spcPts val="0"/>
                        </a:spcBef>
                        <a:spcAft>
                          <a:spcPts val="0"/>
                        </a:spcAft>
                        <a:defRPr/>
                      </a:pPr>
                      <a:r>
                        <a:rPr sz="1050">
                          <a:solidFill>
                            <a:srgbClr val="417BC1"/>
                          </a:solidFill>
                          <a:latin typeface="Consolas"/>
                        </a:rPr>
                        <a:t>                default -&gt; throw new IllegalArgumentException("Conversión no soportada");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case KELVIN -&gt; switch (unidadFinal) {</a:t>
                      </a:r>
                      <a:endParaRPr/>
                    </a:p>
                    <a:p>
                      <a:pPr>
                        <a:lnSpc>
                          <a:spcPct val="100000"/>
                        </a:lnSpc>
                        <a:spcBef>
                          <a:spcPts val="0"/>
                        </a:spcBef>
                        <a:spcAft>
                          <a:spcPts val="0"/>
                        </a:spcAft>
                        <a:defRPr/>
                      </a:pPr>
                      <a:r>
                        <a:rPr sz="1050">
                          <a:solidFill>
                            <a:srgbClr val="417BC1"/>
                          </a:solidFill>
                          <a:latin typeface="Consolas"/>
                        </a:rPr>
                        <a:t>                case CELSIUS -&gt; valor - 273.15;</a:t>
                      </a:r>
                      <a:endParaRPr/>
                    </a:p>
                    <a:p>
                      <a:pPr>
                        <a:lnSpc>
                          <a:spcPct val="100000"/>
                        </a:lnSpc>
                        <a:spcBef>
                          <a:spcPts val="0"/>
                        </a:spcBef>
                        <a:spcAft>
                          <a:spcPts val="0"/>
                        </a:spcAft>
                        <a:defRPr/>
                      </a:pPr>
                      <a:r>
                        <a:rPr sz="1050">
                          <a:solidFill>
                            <a:srgbClr val="417BC1"/>
                          </a:solidFill>
                          <a:latin typeface="Consolas"/>
                        </a:rPr>
                        <a:t>                case FAHRENHEIT -&gt; (valor - 273.15) * 9 / 5 + 32;</a:t>
                      </a:r>
                      <a:endParaRPr/>
                    </a:p>
                    <a:p>
                      <a:pPr>
                        <a:lnSpc>
                          <a:spcPct val="100000"/>
                        </a:lnSpc>
                        <a:spcBef>
                          <a:spcPts val="0"/>
                        </a:spcBef>
                        <a:spcAft>
                          <a:spcPts val="0"/>
                        </a:spcAft>
                        <a:defRPr/>
                      </a:pPr>
                      <a:r>
                        <a:rPr sz="1050">
                          <a:solidFill>
                            <a:srgbClr val="417BC1"/>
                          </a:solidFill>
                          <a:latin typeface="Consolas"/>
                        </a:rPr>
                        <a:t>                case RANKINE -&gt; valor * 9 / 5;</a:t>
                      </a:r>
                      <a:endParaRPr/>
                    </a:p>
                    <a:p>
                      <a:pPr>
                        <a:lnSpc>
                          <a:spcPct val="100000"/>
                        </a:lnSpc>
                        <a:spcBef>
                          <a:spcPts val="0"/>
                        </a:spcBef>
                        <a:spcAft>
                          <a:spcPts val="0"/>
                        </a:spcAft>
                        <a:defRPr/>
                      </a:pPr>
                      <a:r>
                        <a:rPr sz="1050">
                          <a:solidFill>
                            <a:srgbClr val="417BC1"/>
                          </a:solidFill>
                          <a:latin typeface="Consolas"/>
                        </a:rPr>
                        <a:t>                default -&gt; throw new IllegalArgumentException("Conversion no soportada");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case RANKINE -&gt; switch (unidadFinal) {</a:t>
                      </a:r>
                      <a:endParaRPr/>
                    </a:p>
                    <a:p>
                      <a:pPr>
                        <a:lnSpc>
                          <a:spcPct val="100000"/>
                        </a:lnSpc>
                        <a:spcBef>
                          <a:spcPts val="0"/>
                        </a:spcBef>
                        <a:spcAft>
                          <a:spcPts val="0"/>
                        </a:spcAft>
                        <a:defRPr/>
                      </a:pPr>
                      <a:r>
                        <a:rPr sz="1050">
                          <a:solidFill>
                            <a:srgbClr val="417BC1"/>
                          </a:solidFill>
                          <a:latin typeface="Consolas"/>
                        </a:rPr>
                        <a:t>                case CELSIUS -&gt; (valor - 491.67) * 5 / 9;</a:t>
                      </a:r>
                      <a:endParaRPr/>
                    </a:p>
                    <a:p>
                      <a:pPr>
                        <a:lnSpc>
                          <a:spcPct val="100000"/>
                        </a:lnSpc>
                        <a:spcBef>
                          <a:spcPts val="0"/>
                        </a:spcBef>
                        <a:spcAft>
                          <a:spcPts val="0"/>
                        </a:spcAft>
                        <a:defRPr/>
                      </a:pPr>
                      <a:r>
                        <a:rPr sz="1050">
                          <a:solidFill>
                            <a:srgbClr val="417BC1"/>
                          </a:solidFill>
                          <a:latin typeface="Consolas"/>
                        </a:rPr>
                        <a:t>                case FAHRENHEIT -&gt; valor - 459.67;</a:t>
                      </a:r>
                      <a:endParaRPr/>
                    </a:p>
                    <a:p>
                      <a:pPr>
                        <a:lnSpc>
                          <a:spcPct val="100000"/>
                        </a:lnSpc>
                        <a:spcBef>
                          <a:spcPts val="0"/>
                        </a:spcBef>
                        <a:spcAft>
                          <a:spcPts val="0"/>
                        </a:spcAft>
                        <a:defRPr/>
                      </a:pPr>
                      <a:r>
                        <a:rPr sz="1050">
                          <a:solidFill>
                            <a:srgbClr val="417BC1"/>
                          </a:solidFill>
                          <a:latin typeface="Consolas"/>
                        </a:rPr>
                        <a:t>                case KELVIN -&gt; valor * 5 / 9;</a:t>
                      </a:r>
                      <a:endParaRPr/>
                    </a:p>
                    <a:p>
                      <a:pPr>
                        <a:lnSpc>
                          <a:spcPct val="100000"/>
                        </a:lnSpc>
                        <a:spcBef>
                          <a:spcPts val="0"/>
                        </a:spcBef>
                        <a:spcAft>
                          <a:spcPts val="0"/>
                        </a:spcAft>
                        <a:defRPr/>
                      </a:pPr>
                      <a:r>
                        <a:rPr sz="1050">
                          <a:solidFill>
                            <a:srgbClr val="417BC1"/>
                          </a:solidFill>
                          <a:latin typeface="Consolas"/>
                        </a:rPr>
                        <a:t>                default -&gt; throw new IllegalArgumentException("Conversion no soportada");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default -&gt; throw new IllegalStateException("Unexpected value: " + (unidadInicial));</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1516485" name="Google Shape;285;p3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568906867" name="Google Shape;286;p36"/>
          <p:cNvSpPr txBox="1"/>
          <p:nvPr>
            <p:ph type="body" idx="1"/>
          </p:nvPr>
        </p:nvSpPr>
        <p:spPr bwMode="auto">
          <a:xfrm>
            <a:off x="581200" y="3037175"/>
            <a:ext cx="2132400" cy="26058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50" b="1" i="0">
                <a:solidFill>
                  <a:srgbClr val="373737"/>
                </a:solidFill>
                <a:latin typeface="Cambria"/>
              </a:rPr>
              <a:t>ServicioConversor&lt;T&gt;</a:t>
            </a:r>
            <a:endParaRPr sz="1300">
              <a:latin typeface="Cambria"/>
              <a:ea typeface="Cambria"/>
              <a:cs typeface="Cambria"/>
            </a:endParaRPr>
          </a:p>
          <a:p>
            <a:pPr algn="l">
              <a:spcBef>
                <a:spcPts val="0"/>
              </a:spcBef>
              <a:spcAft>
                <a:spcPts val="600"/>
              </a:spcAft>
              <a:defRPr/>
            </a:pPr>
            <a:r>
              <a:rPr sz="1550" b="0" i="0">
                <a:solidFill>
                  <a:srgbClr val="373737"/>
                </a:solidFill>
                <a:latin typeface="Cambria"/>
              </a:rPr>
              <a:t>Aplica el contrato de conversión genérico.</a:t>
            </a:r>
            <a:endParaRPr/>
          </a:p>
        </p:txBody>
      </p:sp>
      <p:sp>
        <p:nvSpPr>
          <p:cNvPr id="901198166" name="Google Shape;287;p3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223215389" name="Google Shape;288;p36"/>
          <p:cNvGraphicFramePr>
            <a:graphicFrameLocks xmlns:a="http://schemas.openxmlformats.org/drawingml/2006/main"/>
          </p:cNvGraphicFramePr>
          <p:nvPr/>
        </p:nvGraphicFramePr>
        <p:xfrm rot="0">
          <a:off x="2943704" y="2087586"/>
          <a:ext cx="6062674" cy="4394199"/>
        </p:xfrm>
        <a:graphic>
          <a:graphicData uri="http://schemas.openxmlformats.org/drawingml/2006/table">
            <a:tbl>
              <a:tblPr firstRow="0" firstCol="0" lastRow="0" lastCol="0" bandRow="0" bandCol="0">
                <a:tableStyleId>{BF136021-7255-42B7-A7E7-87A8D8FFE9CA}</a:tableStyleId>
                <a:noFill/>
              </a:tblPr>
              <a:tblGrid>
                <a:gridCol w="6062675"/>
              </a:tblGrid>
              <a:tr h="1160900">
                <a:tc>
                  <a:txBody>
                    <a:bodyPr/>
                    <a:p>
                      <a:pPr marL="0" lvl="0" indent="0" algn="l" rtl="0">
                        <a:lnSpc>
                          <a:spcPct val="100000"/>
                        </a:lnSpc>
                        <a:spcBef>
                          <a:spcPts val="0"/>
                        </a:spcBef>
                        <a:spcAft>
                          <a:spcPts val="0"/>
                        </a:spcAft>
                        <a:buNone/>
                        <a:defRPr/>
                      </a:pPr>
                      <a:r>
                        <a:rPr sz="1050">
                          <a:solidFill>
                            <a:srgbClr val="417BC1"/>
                          </a:solidFill>
                          <a:latin typeface="Consolas"/>
                        </a:rPr>
                        <a:t>package ec.edu.monster.servicios;</a:t>
                      </a:r>
                      <a:endParaRPr sz="12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ec.edu.monster.modelos.utilidades.IConversor;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ServicioConversor&lt;T&gt; {</a:t>
                      </a:r>
                      <a:endParaRPr/>
                    </a:p>
                    <a:p>
                      <a:pPr>
                        <a:lnSpc>
                          <a:spcPct val="100000"/>
                        </a:lnSpc>
                        <a:spcBef>
                          <a:spcPts val="0"/>
                        </a:spcBef>
                        <a:spcAft>
                          <a:spcPts val="0"/>
                        </a:spcAft>
                        <a:defRPr/>
                      </a:pPr>
                      <a:r>
                        <a:rPr sz="1050">
                          <a:solidFill>
                            <a:srgbClr val="417BC1"/>
                          </a:solidFill>
                          <a:latin typeface="Consolas"/>
                        </a:rPr>
                        <a:t>    private final IConversor&lt;T&gt; conversor;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 se inyecta la estrategia concreta del conversor a traves del constructor</a:t>
                      </a:r>
                      <a:endParaRPr/>
                    </a:p>
                    <a:p>
                      <a:pPr>
                        <a:lnSpc>
                          <a:spcPct val="100000"/>
                        </a:lnSpc>
                        <a:spcBef>
                          <a:spcPts val="0"/>
                        </a:spcBef>
                        <a:spcAft>
                          <a:spcPts val="0"/>
                        </a:spcAft>
                        <a:defRPr/>
                      </a:pPr>
                      <a:r>
                        <a:rPr sz="1050">
                          <a:solidFill>
                            <a:srgbClr val="417BC1"/>
                          </a:solidFill>
                          <a:latin typeface="Consolas"/>
                        </a:rPr>
                        <a:t>    public ServicioConversor(IConversor&lt;T&gt; conversor){</a:t>
                      </a:r>
                      <a:endParaRPr/>
                    </a:p>
                    <a:p>
                      <a:pPr>
                        <a:lnSpc>
                          <a:spcPct val="100000"/>
                        </a:lnSpc>
                        <a:spcBef>
                          <a:spcPts val="0"/>
                        </a:spcBef>
                        <a:spcAft>
                          <a:spcPts val="0"/>
                        </a:spcAft>
                        <a:defRPr/>
                      </a:pPr>
                      <a:r>
                        <a:rPr sz="1050">
                          <a:solidFill>
                            <a:srgbClr val="417BC1"/>
                          </a:solidFill>
                          <a:latin typeface="Consolas"/>
                        </a:rPr>
                        <a:t>        this.conversor = conversor;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double conversor(double valor, T valorInicial, T valorFinal){</a:t>
                      </a:r>
                      <a:endParaRPr/>
                    </a:p>
                    <a:p>
                      <a:pPr>
                        <a:lnSpc>
                          <a:spcPct val="100000"/>
                        </a:lnSpc>
                        <a:spcBef>
                          <a:spcPts val="0"/>
                        </a:spcBef>
                        <a:spcAft>
                          <a:spcPts val="0"/>
                        </a:spcAft>
                        <a:defRPr/>
                      </a:pPr>
                      <a:r>
                        <a:rPr sz="1050">
                          <a:solidFill>
                            <a:srgbClr val="417BC1"/>
                          </a:solidFill>
                          <a:latin typeface="Consolas"/>
                        </a:rPr>
                        <a:t>        if(conversor == null){</a:t>
                      </a:r>
                      <a:endParaRPr/>
                    </a:p>
                    <a:p>
                      <a:pPr>
                        <a:lnSpc>
                          <a:spcPct val="100000"/>
                        </a:lnSpc>
                        <a:spcBef>
                          <a:spcPts val="0"/>
                        </a:spcBef>
                        <a:spcAft>
                          <a:spcPts val="0"/>
                        </a:spcAft>
                        <a:defRPr/>
                      </a:pPr>
                      <a:r>
                        <a:rPr sz="1050">
                          <a:solidFill>
                            <a:srgbClr val="417BC1"/>
                          </a:solidFill>
                          <a:latin typeface="Consolas"/>
                        </a:rPr>
                        <a:t>            throw new IllegalArgumentException("No se ha inyectado un conversor");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return conversor.convertir(valor, valorInicial, valorFinal);</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4335118" name="Google Shape;293;p3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45966069" name="Google Shape;294;p37"/>
          <p:cNvSpPr txBox="1"/>
          <p:nvPr>
            <p:ph type="body" idx="1"/>
          </p:nvPr>
        </p:nvSpPr>
        <p:spPr bwMode="auto">
          <a:xfrm>
            <a:off x="581200" y="2018775"/>
            <a:ext cx="2685600" cy="4558800"/>
          </a:xfrm>
          <a:prstGeom prst="rect">
            <a:avLst/>
          </a:prstGeom>
          <a:noFill/>
          <a:ln>
            <a:noFill/>
          </a:ln>
        </p:spPr>
        <p:txBody>
          <a:bodyPr spcFirstLastPara="1" wrap="square" lIns="27432" tIns="18288" rIns="27432" bIns="18288" anchor="ctr" anchorCtr="0">
            <a:noAutofit/>
          </a:bodyPr>
          <a:lstStyle/>
          <a:p>
            <a:pPr marL="342900" marR="0" lvl="0" indent="-342900" algn="l" rtl="0">
              <a:lnSpc>
                <a:spcPct val="107000"/>
              </a:lnSpc>
              <a:spcBef>
                <a:spcPts val="0"/>
              </a:spcBef>
              <a:spcAft>
                <a:spcPts val="200"/>
              </a:spcAft>
              <a:buSzPts val="1785"/>
              <a:buChar char="∙"/>
              <a:defRPr/>
            </a:pPr>
            <a:r>
              <a:rPr sz="1450" b="1" i="0">
                <a:solidFill>
                  <a:srgbClr val="373737"/>
                </a:solidFill>
                <a:latin typeface="Cambria"/>
              </a:rPr>
              <a:t>4.1.13  Ejecución en Payara</a:t>
            </a:r>
            <a:endParaRPr>
              <a:latin typeface="Cambria"/>
              <a:ea typeface="Cambria"/>
              <a:cs typeface="Cambria"/>
            </a:endParaRPr>
          </a:p>
          <a:p>
            <a:pPr algn="l">
              <a:spcBef>
                <a:spcPts val="0"/>
              </a:spcBef>
              <a:spcAft>
                <a:spcPts val="600"/>
              </a:spcAft>
              <a:defRPr/>
            </a:pPr>
            <a:r>
              <a:rPr sz="1450" b="0" i="0">
                <a:solidFill>
                  <a:srgbClr val="373737"/>
                </a:solidFill>
                <a:latin typeface="Cambria"/>
              </a:rPr>
              <a:t>Se ejecuta el programa corriendo en nuestro servidor payara y se comprueba que el contrato WSDL esté correcto en la ruta (Dejamos anteriormente que Payara corra por defecto en 8080):</a:t>
            </a:r>
            <a:endParaRPr/>
          </a:p>
          <a:p>
            <a:pPr algn="l">
              <a:spcBef>
                <a:spcPts val="0"/>
              </a:spcBef>
              <a:spcAft>
                <a:spcPts val="600"/>
              </a:spcAft>
              <a:defRPr/>
            </a:pPr>
            <a:r>
              <a:rPr sz="1450" b="0" i="0">
                <a:solidFill>
                  <a:srgbClr val="373737"/>
                </a:solidFill>
                <a:latin typeface="Cambria"/>
              </a:rPr>
              <a:t>http://localhost:8080/WS_ConUni_Java_SOAP_GR01/WSConversorUnidades?WSDL</a:t>
            </a:r>
            <a:endParaRPr/>
          </a:p>
        </p:txBody>
      </p:sp>
      <p:sp>
        <p:nvSpPr>
          <p:cNvPr id="731504215" name="Google Shape;295;p37"/>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MARCO TEÓRICO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72987894" name="Google Shape;296;p37"/>
          <p:cNvPicPr/>
          <p:nvPr/>
        </p:nvPicPr>
        <p:blipFill rotWithShape="1">
          <a:blip r:embed="rId3">
            <a:alphaModFix/>
          </a:blip>
          <a:stretch/>
        </p:blipFill>
        <p:spPr bwMode="auto">
          <a:xfrm>
            <a:off x="3728750" y="2121822"/>
            <a:ext cx="5192894" cy="435270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782904" name="Google Shape;301;p38"/>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chemeClr val="accent2"/>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rgbClr val="FFFF00"/>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200" b="1" i="0" u="none" strike="noStrike" cap="none">
              <a:solidFill>
                <a:srgbClr val="FFFF00"/>
              </a:solidFill>
              <a:latin typeface="Gill Sans"/>
              <a:ea typeface="Gill Sans"/>
              <a:cs typeface="Gill Sans"/>
            </a:endParaRPr>
          </a:p>
          <a:p>
            <a:pPr marL="763200" marR="0" lvl="1" indent="-312095" algn="l" rtl="0">
              <a:lnSpc>
                <a:spcPct val="100000"/>
              </a:lnSpc>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CONCLUSIONES</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RECOMENDACIONES</a:t>
            </a:r>
            <a:endParaRPr sz="1400" b="0" i="0" u="none" strike="noStrike" cap="none">
              <a:solidFill>
                <a:srgbClr val="000000"/>
              </a:solidFill>
              <a:latin typeface="Arial"/>
              <a:ea typeface="Arial"/>
              <a:cs typeface="Arial"/>
            </a:endParaRPr>
          </a:p>
        </p:txBody>
      </p:sp>
      <p:sp>
        <p:nvSpPr>
          <p:cNvPr id="512300674" name="Google Shape;302;p3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42609644" name="Google Shape;303;p38"/>
          <p:cNvSpPr txBox="1"/>
          <p:nvPr>
            <p:ph type="body" idx="1"/>
          </p:nvPr>
        </p:nvSpPr>
        <p:spPr bwMode="auto">
          <a:xfrm>
            <a:off x="581200" y="1983000"/>
            <a:ext cx="8581500" cy="2149500"/>
          </a:xfrm>
          <a:prstGeom prst="rect">
            <a:avLst/>
          </a:prstGeom>
          <a:noFill/>
          <a:ln>
            <a:noFill/>
          </a:ln>
        </p:spPr>
        <p:txBody>
          <a:bodyPr spcFirstLastPara="1" wrap="square" lIns="27432" tIns="18288" rIns="27432" bIns="18288" anchor="ctr" anchorCtr="0">
            <a:noAutofit/>
          </a:bodyPr>
          <a:lstStyle/>
          <a:p>
            <a:pPr marL="0" lvl="0" indent="0" algn="l" rtl="0">
              <a:lnSpc>
                <a:spcPct val="115000"/>
              </a:lnSpc>
              <a:spcBef>
                <a:spcPts val="0"/>
              </a:spcBef>
              <a:spcAft>
                <a:spcPts val="200"/>
              </a:spcAft>
              <a:buClr>
                <a:schemeClr val="dk1"/>
              </a:buClr>
              <a:buSzPct val="70332"/>
              <a:buFont typeface="Arial"/>
              <a:buNone/>
              <a:defRPr/>
            </a:pPr>
            <a:r>
              <a:rPr sz="1350" b="1" i="0">
                <a:solidFill>
                  <a:srgbClr val="373737"/>
                </a:solidFill>
                <a:latin typeface="Cambria"/>
              </a:rPr>
              <a:t>4.2  Cliente consola</a:t>
            </a:r>
            <a:endParaRPr sz="1550" b="1">
              <a:latin typeface="Cambria"/>
              <a:ea typeface="Cambria"/>
              <a:cs typeface="Cambria"/>
            </a:endParaRPr>
          </a:p>
          <a:p>
            <a:pPr algn="l">
              <a:spcBef>
                <a:spcPts val="0"/>
              </a:spcBef>
              <a:spcAft>
                <a:spcPts val="600"/>
              </a:spcAft>
              <a:defRPr/>
            </a:pPr>
            <a:r>
              <a:rPr sz="1350" b="0" i="0">
                <a:solidFill>
                  <a:srgbClr val="373737"/>
                </a:solidFill>
                <a:latin typeface="Cambria"/>
              </a:rPr>
              <a:t>Para el cliente consola se uso NetBeans en el cual se debe crear un nuevo proyecto para ello se seleccionó el gestor de proyectos Java with Maven, el tipo de aplicativo que se usa es Java Aplication</a:t>
            </a:r>
            <a:endParaRPr/>
          </a:p>
          <a:p>
            <a:pPr algn="l">
              <a:spcBef>
                <a:spcPts val="0"/>
              </a:spcBef>
              <a:spcAft>
                <a:spcPts val="600"/>
              </a:spcAft>
              <a:defRPr/>
            </a:pPr>
            <a:r>
              <a:rPr sz="1350" b="0" i="0">
                <a:solidFill>
                  <a:srgbClr val="373737"/>
                </a:solidFill>
                <a:latin typeface="Cambria"/>
              </a:rPr>
              <a:t>Se asigna un nombre al proyecto, se da una ubicacion, y se configura el group id con el que se quiere nombrar.</a:t>
            </a:r>
            <a:endParaRPr/>
          </a:p>
        </p:txBody>
      </p:sp>
      <p:pic>
        <p:nvPicPr>
          <p:cNvPr id="1413466140" name="Google Shape;304;p38"/>
          <p:cNvPicPr/>
          <p:nvPr/>
        </p:nvPicPr>
        <p:blipFill rotWithShape="1">
          <a:blip r:embed="rId3">
            <a:alphaModFix/>
          </a:blip>
          <a:stretch/>
        </p:blipFill>
        <p:spPr bwMode="auto">
          <a:xfrm>
            <a:off x="590117" y="3907425"/>
            <a:ext cx="3686316" cy="2528925"/>
          </a:xfrm>
          <a:prstGeom prst="rect">
            <a:avLst/>
          </a:prstGeom>
          <a:noFill/>
          <a:ln>
            <a:noFill/>
          </a:ln>
        </p:spPr>
      </p:pic>
      <p:pic>
        <p:nvPicPr>
          <p:cNvPr id="41612914" name="Google Shape;305;p38"/>
          <p:cNvPicPr/>
          <p:nvPr/>
        </p:nvPicPr>
        <p:blipFill rotWithShape="1">
          <a:blip r:embed="rId4">
            <a:alphaModFix/>
          </a:blip>
          <a:stretch/>
        </p:blipFill>
        <p:spPr bwMode="auto">
          <a:xfrm>
            <a:off x="4900125" y="3781484"/>
            <a:ext cx="3704149" cy="256242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6773567" name="Google Shape;310;p3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chemeClr val="accent2"/>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rgbClr val="FFFF00"/>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200" b="1" i="0" u="none" strike="noStrike" cap="none">
              <a:solidFill>
                <a:srgbClr val="FFFF00"/>
              </a:solidFill>
              <a:latin typeface="Gill Sans"/>
              <a:ea typeface="Gill Sans"/>
              <a:cs typeface="Gill Sans"/>
            </a:endParaRPr>
          </a:p>
          <a:p>
            <a:pPr marL="763200" marR="0" lvl="1" indent="-312095" algn="l" rtl="0">
              <a:lnSpc>
                <a:spcPct val="100000"/>
              </a:lnSpc>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CONCLUSIONES</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RECOMENDACIONES</a:t>
            </a:r>
            <a:endParaRPr sz="1400" b="0" i="0" u="none" strike="noStrike" cap="none">
              <a:solidFill>
                <a:srgbClr val="000000"/>
              </a:solidFill>
              <a:latin typeface="Arial"/>
              <a:ea typeface="Arial"/>
              <a:cs typeface="Arial"/>
            </a:endParaRPr>
          </a:p>
        </p:txBody>
      </p:sp>
      <p:sp>
        <p:nvSpPr>
          <p:cNvPr id="147893412" name="Google Shape;311;p3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50982454" name="Google Shape;312;p39"/>
          <p:cNvSpPr txBox="1"/>
          <p:nvPr>
            <p:ph type="body" idx="1"/>
          </p:nvPr>
        </p:nvSpPr>
        <p:spPr bwMode="auto">
          <a:xfrm>
            <a:off x="581200" y="1983000"/>
            <a:ext cx="8581500" cy="2149500"/>
          </a:xfrm>
          <a:prstGeom prst="rect">
            <a:avLst/>
          </a:prstGeom>
          <a:noFill/>
          <a:ln>
            <a:noFill/>
          </a:ln>
        </p:spPr>
        <p:txBody>
          <a:bodyPr spcFirstLastPara="1" wrap="square" lIns="27432" tIns="18288" rIns="27432" bIns="18288" anchor="ctr" anchorCtr="0">
            <a:noAutofit/>
          </a:bodyPr>
          <a:lstStyle/>
          <a:p>
            <a:pPr marL="0" lvl="0" indent="0" algn="l" rtl="0">
              <a:lnSpc>
                <a:spcPct val="115000"/>
              </a:lnSpc>
              <a:spcBef>
                <a:spcPts val="0"/>
              </a:spcBef>
              <a:spcAft>
                <a:spcPts val="200"/>
              </a:spcAft>
              <a:buClr>
                <a:schemeClr val="dk1"/>
              </a:buClr>
              <a:buSzPts val="1100"/>
              <a:buFont typeface="Arial"/>
              <a:buNone/>
              <a:defRPr/>
            </a:pPr>
            <a:r>
              <a:rPr sz="1550" b="1" i="0">
                <a:solidFill>
                  <a:srgbClr val="373737"/>
                </a:solidFill>
                <a:latin typeface="Cambria"/>
              </a:rPr>
              <a:t>4.2  Estructura del cliente</a:t>
            </a:r>
            <a:endParaRPr sz="1550" b="1">
              <a:latin typeface="Cambria"/>
              <a:ea typeface="Cambria"/>
              <a:cs typeface="Cambria"/>
            </a:endParaRPr>
          </a:p>
          <a:p>
            <a:pPr algn="l">
              <a:spcBef>
                <a:spcPts val="0"/>
              </a:spcBef>
              <a:spcAft>
                <a:spcPts val="600"/>
              </a:spcAft>
              <a:defRPr/>
            </a:pPr>
            <a:r>
              <a:rPr sz="1550" b="0" i="0">
                <a:solidFill>
                  <a:srgbClr val="373737"/>
                </a:solidFill>
                <a:latin typeface="Cambria"/>
              </a:rPr>
              <a:t>Una vez que se creó el proyecto se debe generar los diferentes paquetes, donde se colocarán los archivos con código fuente.</a:t>
            </a:r>
            <a:endParaRPr/>
          </a:p>
        </p:txBody>
      </p:sp>
      <p:pic>
        <p:nvPicPr>
          <p:cNvPr id="70363734" name="Google Shape;313;p39"/>
          <p:cNvPicPr/>
          <p:nvPr/>
        </p:nvPicPr>
        <p:blipFill rotWithShape="1">
          <a:blip r:embed="rId3">
            <a:alphaModFix/>
          </a:blip>
          <a:stretch/>
        </p:blipFill>
        <p:spPr bwMode="auto">
          <a:xfrm>
            <a:off x="2670673" y="3950625"/>
            <a:ext cx="3739728" cy="24098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5515155" name="Google Shape;318;p4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504102197" name="Google Shape;319;p40"/>
          <p:cNvSpPr txBox="1"/>
          <p:nvPr>
            <p:ph type="body" idx="1"/>
          </p:nvPr>
        </p:nvSpPr>
        <p:spPr bwMode="auto">
          <a:xfrm>
            <a:off x="581200" y="1876275"/>
            <a:ext cx="2132400" cy="47013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ContratoWSConversor</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Define operaciones disponibles desde consola.</a:t>
            </a:r>
            <a:endParaRPr/>
          </a:p>
        </p:txBody>
      </p:sp>
      <p:sp>
        <p:nvSpPr>
          <p:cNvPr id="73975144" name="Google Shape;320;p4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771043198" name="Google Shape;321;p40"/>
          <p:cNvGraphicFramePr>
            <a:graphicFrameLocks xmlns:a="http://schemas.openxmlformats.org/drawingml/2006/main"/>
          </p:cNvGraphicFramePr>
          <p:nvPr/>
        </p:nvGraphicFramePr>
        <p:xfrm rot="0">
          <a:off x="2964625" y="18762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4701300">
                <a:tc>
                  <a:txBody>
                    <a:bodyPr/>
                    <a:p>
                      <a:pPr marL="0" lvl="0" indent="0" algn="l" rtl="0">
                        <a:lnSpc>
                          <a:spcPct val="100000"/>
                        </a:lnSpc>
                        <a:spcBef>
                          <a:spcPts val="0"/>
                        </a:spcBef>
                        <a:spcAft>
                          <a:spcPts val="0"/>
                        </a:spcAft>
                        <a:buClr>
                          <a:schemeClr val="dk1"/>
                        </a:buClr>
                        <a:buSzPts val="1100"/>
                        <a:buFont typeface="Arial"/>
                        <a:buNone/>
                        <a:defRPr/>
                      </a:pPr>
                      <a:r>
                        <a:rPr sz="800">
                          <a:solidFill>
                            <a:srgbClr val="417BC1"/>
                          </a:solidFill>
                          <a:latin typeface="Consolas"/>
                        </a:rPr>
                        <a:t>package ec.edu.monster.client.ws;</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import jakarta.jws.WebMethod;</a:t>
                      </a:r>
                      <a:endParaRPr/>
                    </a:p>
                    <a:p>
                      <a:pPr>
                        <a:lnSpc>
                          <a:spcPct val="100000"/>
                        </a:lnSpc>
                        <a:spcBef>
                          <a:spcPts val="0"/>
                        </a:spcBef>
                        <a:spcAft>
                          <a:spcPts val="0"/>
                        </a:spcAft>
                        <a:defRPr/>
                      </a:pPr>
                      <a:r>
                        <a:rPr sz="800">
                          <a:solidFill>
                            <a:srgbClr val="417BC1"/>
                          </a:solidFill>
                          <a:latin typeface="Consolas"/>
                        </a:rPr>
                        <a:t>import jakarta.jws.WebParam;</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@WebService(name = "WSConversorUnidades", targetNamespace = "http://ws.controladores.monster.edu.ec/")</a:t>
                      </a:r>
                      <a:endParaRPr/>
                    </a:p>
                    <a:p>
                      <a:pPr>
                        <a:lnSpc>
                          <a:spcPct val="100000"/>
                        </a:lnSpc>
                        <a:spcBef>
                          <a:spcPts val="0"/>
                        </a:spcBef>
                        <a:spcAft>
                          <a:spcPts val="0"/>
                        </a:spcAft>
                        <a:defRPr/>
                      </a:pPr>
                      <a:r>
                        <a:rPr sz="800">
                          <a:solidFill>
                            <a:srgbClr val="417BC1"/>
                          </a:solidFill>
                          <a:latin typeface="Consolas"/>
                        </a:rPr>
                        <a:t>@SOAPBinding(parameterStyle = SOAPBinding.ParameterStyle.WRAPPED)</a:t>
                      </a:r>
                      <a:endParaRPr/>
                    </a:p>
                    <a:p>
                      <a:pPr>
                        <a:lnSpc>
                          <a:spcPct val="100000"/>
                        </a:lnSpc>
                        <a:spcBef>
                          <a:spcPts val="0"/>
                        </a:spcBef>
                        <a:spcAft>
                          <a:spcPts val="0"/>
                        </a:spcAft>
                        <a:defRPr/>
                      </a:pPr>
                      <a:r>
                        <a:rPr sz="800">
                          <a:solidFill>
                            <a:srgbClr val="417BC1"/>
                          </a:solidFill>
                          <a:latin typeface="Consolas"/>
                        </a:rPr>
                        <a:t>public interface ContratoWSConversor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@WebMethod(operationName = "login")</a:t>
                      </a:r>
                      <a:endParaRPr/>
                    </a:p>
                    <a:p>
                      <a:pPr>
                        <a:lnSpc>
                          <a:spcPct val="100000"/>
                        </a:lnSpc>
                        <a:spcBef>
                          <a:spcPts val="0"/>
                        </a:spcBef>
                        <a:spcAft>
                          <a:spcPts val="0"/>
                        </a:spcAft>
                        <a:defRPr/>
                      </a:pPr>
                      <a:r>
                        <a:rPr sz="800">
                          <a:solidFill>
                            <a:srgbClr val="417BC1"/>
                          </a:solidFill>
                          <a:latin typeface="Consolas"/>
                        </a:rPr>
                        <a:t>    @WebResult(name = "return")</a:t>
                      </a:r>
                      <a:endParaRPr/>
                    </a:p>
                    <a:p>
                      <a:pPr>
                        <a:lnSpc>
                          <a:spcPct val="100000"/>
                        </a:lnSpc>
                        <a:spcBef>
                          <a:spcPts val="0"/>
                        </a:spcBef>
                        <a:spcAft>
                          <a:spcPts val="0"/>
                        </a:spcAft>
                        <a:defRPr/>
                      </a:pPr>
                      <a:r>
                        <a:rPr sz="800">
                          <a:solidFill>
                            <a:srgbClr val="417BC1"/>
                          </a:solidFill>
                          <a:latin typeface="Consolas"/>
                        </a:rPr>
                        <a:t>    String login(</a:t>
                      </a:r>
                      <a:endParaRPr/>
                    </a:p>
                    <a:p>
                      <a:pPr>
                        <a:lnSpc>
                          <a:spcPct val="100000"/>
                        </a:lnSpc>
                        <a:spcBef>
                          <a:spcPts val="0"/>
                        </a:spcBef>
                        <a:spcAft>
                          <a:spcPts val="0"/>
                        </a:spcAft>
                        <a:defRPr/>
                      </a:pPr>
                      <a:r>
                        <a:rPr sz="800">
                          <a:solidFill>
                            <a:srgbClr val="417BC1"/>
                          </a:solidFill>
                          <a:latin typeface="Consolas"/>
                        </a:rPr>
                        <a:t>            @WebParam(name = "usuario") String usuario,</a:t>
                      </a:r>
                      <a:endParaRPr/>
                    </a:p>
                    <a:p>
                      <a:pPr>
                        <a:lnSpc>
                          <a:spcPct val="100000"/>
                        </a:lnSpc>
                        <a:spcBef>
                          <a:spcPts val="0"/>
                        </a:spcBef>
                        <a:spcAft>
                          <a:spcPts val="0"/>
                        </a:spcAft>
                        <a:defRPr/>
                      </a:pPr>
                      <a:r>
                        <a:rPr sz="800">
                          <a:solidFill>
                            <a:srgbClr val="417BC1"/>
                          </a:solidFill>
                          <a:latin typeface="Consolas"/>
                        </a:rPr>
                        <a:t>            @WebParam(name = "contrasenia") String contrasenia);</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@WebMethod(operationName = "convertirLongitud")</a:t>
                      </a:r>
                      <a:endParaRPr/>
                    </a:p>
                    <a:p>
                      <a:pPr>
                        <a:lnSpc>
                          <a:spcPct val="100000"/>
                        </a:lnSpc>
                        <a:spcBef>
                          <a:spcPts val="0"/>
                        </a:spcBef>
                        <a:spcAft>
                          <a:spcPts val="0"/>
                        </a:spcAft>
                        <a:defRPr/>
                      </a:pPr>
                      <a:r>
                        <a:rPr sz="800">
                          <a:solidFill>
                            <a:srgbClr val="417BC1"/>
                          </a:solidFill>
                          <a:latin typeface="Consolas"/>
                        </a:rPr>
                        <a:t>    @WebResult(name = "return")</a:t>
                      </a:r>
                      <a:endParaRPr/>
                    </a:p>
                    <a:p>
                      <a:pPr>
                        <a:lnSpc>
                          <a:spcPct val="100000"/>
                        </a:lnSpc>
                        <a:spcBef>
                          <a:spcPts val="0"/>
                        </a:spcBef>
                        <a:spcAft>
                          <a:spcPts val="0"/>
                        </a:spcAft>
                        <a:defRPr/>
                      </a:pPr>
                      <a:r>
                        <a:rPr sz="800">
                          <a:solidFill>
                            <a:srgbClr val="417BC1"/>
                          </a:solidFill>
                          <a:latin typeface="Consolas"/>
                        </a:rPr>
                        <a:t>    double convertirLongitud(</a:t>
                      </a:r>
                      <a:endParaRPr/>
                    </a:p>
                    <a:p>
                      <a:pPr>
                        <a:lnSpc>
                          <a:spcPct val="100000"/>
                        </a:lnSpc>
                        <a:spcBef>
                          <a:spcPts val="0"/>
                        </a:spcBef>
                        <a:spcAft>
                          <a:spcPts val="0"/>
                        </a:spcAft>
                        <a:defRPr/>
                      </a:pPr>
                      <a:r>
                        <a:rPr sz="800">
                          <a:solidFill>
                            <a:srgbClr val="417BC1"/>
                          </a:solidFill>
                          <a:latin typeface="Consolas"/>
                        </a:rPr>
                        <a:t>            @WebParam(name = "valor") double valor,</a:t>
                      </a:r>
                      <a:endParaRPr/>
                    </a:p>
                    <a:p>
                      <a:pPr>
                        <a:lnSpc>
                          <a:spcPct val="100000"/>
                        </a:lnSpc>
                        <a:spcBef>
                          <a:spcPts val="0"/>
                        </a:spcBef>
                        <a:spcAft>
                          <a:spcPts val="0"/>
                        </a:spcAft>
                        <a:defRPr/>
                      </a:pPr>
                      <a:r>
                        <a:rPr sz="800">
                          <a:solidFill>
                            <a:srgbClr val="417BC1"/>
                          </a:solidFill>
                          <a:latin typeface="Consolas"/>
                        </a:rPr>
                        <a:t>            @WebParam(name = "unidadInicial") String unidadInicial,</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0751954" name="Google Shape;326;p4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733746149" name="Google Shape;327;p41"/>
          <p:cNvSpPr txBox="1"/>
          <p:nvPr>
            <p:ph type="body" idx="1"/>
          </p:nvPr>
        </p:nvSpPr>
        <p:spPr bwMode="auto">
          <a:xfrm>
            <a:off x="581200" y="1876275"/>
            <a:ext cx="2132400" cy="47013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ClienteWSConversor</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Inicialización y consumo del servicio SOAP.</a:t>
            </a:r>
            <a:endParaRPr/>
          </a:p>
        </p:txBody>
      </p:sp>
      <p:sp>
        <p:nvSpPr>
          <p:cNvPr id="715169756" name="Google Shape;328;p4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733459758" name="Google Shape;329;p41"/>
          <p:cNvGraphicFramePr>
            <a:graphicFrameLocks xmlns:a="http://schemas.openxmlformats.org/drawingml/2006/main"/>
          </p:cNvGraphicFramePr>
          <p:nvPr/>
        </p:nvGraphicFramePr>
        <p:xfrm rot="0">
          <a:off x="2964625" y="1876275"/>
          <a:ext cx="3000000" cy="3000000"/>
        </p:xfrm>
        <a:graphic>
          <a:graphicData uri="http://schemas.openxmlformats.org/drawingml/2006/table">
            <a:tbl>
              <a:tblPr firstRow="0" firstCol="0" lastRow="0" lastCol="0" bandRow="0" bandCol="0">
                <a:tableStyleId>{BF136021-7255-42B7-A7E7-87A8D8FFE9CA}</a:tableStyleId>
                <a:noFill/>
              </a:tblPr>
              <a:tblGrid>
                <a:gridCol w="6062675"/>
              </a:tblGrid>
              <a:tr h="4701300">
                <a:tc>
                  <a:txBody>
                    <a:bodyPr/>
                    <a:p>
                      <a:pPr marL="0" lvl="0" indent="0" algn="l" rtl="0">
                        <a:lnSpc>
                          <a:spcPct val="100000"/>
                        </a:lnSpc>
                        <a:spcBef>
                          <a:spcPts val="0"/>
                        </a:spcBef>
                        <a:spcAft>
                          <a:spcPts val="0"/>
                        </a:spcAft>
                        <a:buNone/>
                        <a:defRPr/>
                      </a:pPr>
                      <a:r>
                        <a:rPr sz="800">
                          <a:solidFill>
                            <a:srgbClr val="417BC1"/>
                          </a:solidFill>
                          <a:latin typeface="Consolas"/>
                        </a:rPr>
                        <a:t>package ec.edu.monster.client.ws;</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import jakarta.xml.ws.Binding;</a:t>
                      </a:r>
                      <a:endParaRPr/>
                    </a:p>
                    <a:p>
                      <a:pPr>
                        <a:lnSpc>
                          <a:spcPct val="100000"/>
                        </a:lnSpc>
                        <a:spcBef>
                          <a:spcPts val="0"/>
                        </a:spcBef>
                        <a:spcAft>
                          <a:spcPts val="0"/>
                        </a:spcAft>
                        <a:defRPr/>
                      </a:pPr>
                      <a:r>
                        <a:rPr sz="800">
                          <a:solidFill>
                            <a:srgbClr val="417BC1"/>
                          </a:solidFill>
                          <a:latin typeface="Consolas"/>
                        </a:rPr>
                        <a:t>import jakarta.xml.ws.BindingProvider;</a:t>
                      </a:r>
                      <a:endParaRPr/>
                    </a:p>
                    <a:p>
                      <a:pPr>
                        <a:lnSpc>
                          <a:spcPct val="100000"/>
                        </a:lnSpc>
                        <a:spcBef>
                          <a:spcPts val="0"/>
                        </a:spcBef>
                        <a:spcAft>
                          <a:spcPts val="0"/>
                        </a:spcAft>
                        <a:defRPr/>
                      </a:pPr>
                      <a:r>
                        <a:rPr sz="800">
                          <a:solidFill>
                            <a:srgbClr val="417BC1"/>
                          </a:solidFill>
                          <a:latin typeface="Consolas"/>
                        </a:rPr>
                        <a:t>import jakarta.xml.ws.Service;</a:t>
                      </a:r>
                      <a:endParaRPr/>
                    </a:p>
                    <a:p>
                      <a:pPr>
                        <a:lnSpc>
                          <a:spcPct val="100000"/>
                        </a:lnSpc>
                        <a:spcBef>
                          <a:spcPts val="0"/>
                        </a:spcBef>
                        <a:spcAft>
                          <a:spcPts val="0"/>
                        </a:spcAft>
                        <a:defRPr/>
                      </a:pPr>
                      <a:r>
                        <a:rPr sz="800">
                          <a:solidFill>
                            <a:srgbClr val="417BC1"/>
                          </a:solidFill>
                          <a:latin typeface="Consolas"/>
                        </a:rPr>
                        <a:t>import jakarta.xml.ws.handler.Handler;</a:t>
                      </a:r>
                      <a:endParaRPr/>
                    </a:p>
                    <a:p>
                      <a:pPr>
                        <a:lnSpc>
                          <a:spcPct val="100000"/>
                        </a:lnSpc>
                        <a:spcBef>
                          <a:spcPts val="0"/>
                        </a:spcBef>
                        <a:spcAft>
                          <a:spcPts val="0"/>
                        </a:spcAft>
                        <a:defRPr/>
                      </a:pPr>
                      <a:r>
                        <a:rPr sz="800">
                          <a:solidFill>
                            <a:srgbClr val="417BC1"/>
                          </a:solidFill>
                          <a:latin typeface="Consolas"/>
                        </a:rPr>
                        <a:t>import java.net.URL;</a:t>
                      </a:r>
                      <a:endParaRPr/>
                    </a:p>
                    <a:p>
                      <a:pPr>
                        <a:lnSpc>
                          <a:spcPct val="100000"/>
                        </a:lnSpc>
                        <a:spcBef>
                          <a:spcPts val="0"/>
                        </a:spcBef>
                        <a:spcAft>
                          <a:spcPts val="0"/>
                        </a:spcAft>
                        <a:defRPr/>
                      </a:pPr>
                      <a:r>
                        <a:rPr sz="800">
                          <a:solidFill>
                            <a:srgbClr val="417BC1"/>
                          </a:solidFill>
                          <a:latin typeface="Consolas"/>
                        </a:rPr>
                        <a:t>import java.util.ArrayList;</a:t>
                      </a:r>
                      <a:endParaRPr/>
                    </a:p>
                    <a:p>
                      <a:pPr>
                        <a:lnSpc>
                          <a:spcPct val="100000"/>
                        </a:lnSpc>
                        <a:spcBef>
                          <a:spcPts val="0"/>
                        </a:spcBef>
                        <a:spcAft>
                          <a:spcPts val="0"/>
                        </a:spcAft>
                        <a:defRPr/>
                      </a:pPr>
                      <a:r>
                        <a:rPr sz="800">
                          <a:solidFill>
                            <a:srgbClr val="417BC1"/>
                          </a:solidFill>
                          <a:latin typeface="Consolas"/>
                        </a:rPr>
                        <a:t>import java.util.List;</a:t>
                      </a:r>
                      <a:endParaRPr/>
                    </a:p>
                    <a:p>
                      <a:pPr>
                        <a:lnSpc>
                          <a:spcPct val="100000"/>
                        </a:lnSpc>
                        <a:spcBef>
                          <a:spcPts val="0"/>
                        </a:spcBef>
                        <a:spcAft>
                          <a:spcPts val="0"/>
                        </a:spcAft>
                        <a:defRPr/>
                      </a:pPr>
                      <a:r>
                        <a:rPr sz="800">
                          <a:solidFill>
                            <a:srgbClr val="417BC1"/>
                          </a:solidFill>
                          <a:latin typeface="Consolas"/>
                        </a:rPr>
                        <a:t>import javax.xml.namespace.QName;</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ClienteWSConversor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static final String ESPACIO_NOMBRES = "http://ws.controladores.monster.edu.ec/";</a:t>
                      </a:r>
                      <a:endParaRPr/>
                    </a:p>
                    <a:p>
                      <a:pPr>
                        <a:lnSpc>
                          <a:spcPct val="100000"/>
                        </a:lnSpc>
                        <a:spcBef>
                          <a:spcPts val="0"/>
                        </a:spcBef>
                        <a:spcAft>
                          <a:spcPts val="0"/>
                        </a:spcAft>
                        <a:defRPr/>
                      </a:pPr>
                      <a:r>
                        <a:rPr sz="800">
                          <a:solidFill>
                            <a:srgbClr val="417BC1"/>
                          </a:solidFill>
                          <a:latin typeface="Consolas"/>
                        </a:rPr>
                        <a:t>    private static final QName QNOMBRE_SERVICIO = new QName(ESPACIO_NOMBRES, "WSConversorUnidades");</a:t>
                      </a:r>
                      <a:endParaRPr/>
                    </a:p>
                    <a:p>
                      <a:pPr>
                        <a:lnSpc>
                          <a:spcPct val="100000"/>
                        </a:lnSpc>
                        <a:spcBef>
                          <a:spcPts val="0"/>
                        </a:spcBef>
                        <a:spcAft>
                          <a:spcPts val="0"/>
                        </a:spcAft>
                        <a:defRPr/>
                      </a:pPr>
                      <a:r>
                        <a:rPr sz="800">
                          <a:solidFill>
                            <a:srgbClr val="417BC1"/>
                          </a:solidFill>
                          <a:latin typeface="Consolas"/>
                        </a:rPr>
                        <a:t>    private static final QName QNOMBRE_PUERTO = new QName(ESPACIO_NOMBRES, "WSConversorUnidadesPort");</a:t>
                      </a:r>
                      <a:endParaRPr/>
                    </a:p>
                    <a:p>
                      <a:pPr>
                        <a:lnSpc>
                          <a:spcPct val="100000"/>
                        </a:lnSpc>
                        <a:spcBef>
                          <a:spcPts val="0"/>
                        </a:spcBef>
                        <a:spcAft>
                          <a:spcPts val="0"/>
                        </a:spcAft>
                        <a:defRPr/>
                      </a:pP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1591530" name="Google Shape;334;p4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04949627" name="Google Shape;335;p42"/>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ClienteWSConversor (continuación)</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Búsqueda y enlace del contrato WSDL.</a:t>
            </a:r>
            <a:endParaRPr/>
          </a:p>
        </p:txBody>
      </p:sp>
      <p:sp>
        <p:nvSpPr>
          <p:cNvPr id="159439504" name="Google Shape;336;p4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294874110" name="Google Shape;337;p42"/>
          <p:cNvGraphicFramePr>
            <a:graphicFrameLocks xmlns:a="http://schemas.openxmlformats.org/drawingml/2006/main"/>
          </p:cNvGraphicFramePr>
          <p:nvPr/>
        </p:nvGraphicFramePr>
        <p:xfrm rot="0">
          <a:off x="2278500" y="1818850"/>
          <a:ext cx="3000000" cy="3000000"/>
        </p:xfrm>
        <a:graphic>
          <a:graphicData uri="http://schemas.openxmlformats.org/drawingml/2006/table">
            <a:tbl>
              <a:tblPr firstRow="0" firstCol="0" lastRow="0" lastCol="0" bandRow="0" bandCol="0">
                <a:tableStyleId>{BF136021-7255-42B7-A7E7-87A8D8FFE9CA}</a:tableStyleId>
                <a:noFill/>
              </a:tblPr>
              <a:tblGrid>
                <a:gridCol w="5439425"/>
              </a:tblGrid>
              <a:tr h="4701300">
                <a:tc>
                  <a:txBody>
                    <a:bodyPr/>
                    <a:p>
                      <a:pPr marL="0" lvl="0" indent="0" algn="l" rtl="0">
                        <a:lnSpc>
                          <a:spcPct val="100000"/>
                        </a:lnSpc>
                        <a:spcBef>
                          <a:spcPts val="0"/>
                        </a:spcBef>
                        <a:spcAft>
                          <a:spcPts val="0"/>
                        </a:spcAft>
                        <a:buNone/>
                        <a:defRPr/>
                      </a:pPr>
                      <a:r>
                        <a:rPr sz="1050">
                          <a:solidFill>
                            <a:srgbClr val="417BC1"/>
                          </a:solidFill>
                          <a:latin typeface="Consolas"/>
                        </a:rPr>
                        <a:t>    private static final List&lt;String&gt; BASES_URL_POR_DEFECTO = List.of(</a:t>
                      </a:r>
                      <a:endParaRPr sz="11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"http://localhost:8080/WS_ConUni_Java_SOAP_GR01",</a:t>
                      </a:r>
                      <a:endParaRPr/>
                    </a:p>
                    <a:p>
                      <a:pPr>
                        <a:lnSpc>
                          <a:spcPct val="100000"/>
                        </a:lnSpc>
                        <a:spcBef>
                          <a:spcPts val="0"/>
                        </a:spcBef>
                        <a:spcAft>
                          <a:spcPts val="0"/>
                        </a:spcAft>
                        <a:defRPr/>
                      </a:pPr>
                      <a:r>
                        <a:rPr sz="1050">
                          <a:solidFill>
                            <a:srgbClr val="417BC1"/>
                          </a:solidFill>
                          <a:latin typeface="Consolas"/>
                        </a:rPr>
                        <a:t>            "http://localhost:8080/WS_ConUni_Java_SOAP_GR01-1.0-SNAPSHOT",</a:t>
                      </a:r>
                      <a:endParaRPr/>
                    </a:p>
                    <a:p>
                      <a:pPr>
                        <a:lnSpc>
                          <a:spcPct val="100000"/>
                        </a:lnSpc>
                        <a:spcBef>
                          <a:spcPts val="0"/>
                        </a:spcBef>
                        <a:spcAft>
                          <a:spcPts val="0"/>
                        </a:spcAft>
                        <a:defRPr/>
                      </a:pPr>
                      <a:r>
                        <a:rPr sz="1050">
                          <a:solidFill>
                            <a:srgbClr val="417BC1"/>
                          </a:solidFill>
                          <a:latin typeface="Consolas"/>
                        </a:rPr>
                        <a:t>            "http://localhost:8080/04.SERVIDOR"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final ContratoWSConversor puerto;</a:t>
                      </a:r>
                      <a:endParaRPr/>
                    </a:p>
                    <a:p>
                      <a:pPr>
                        <a:lnSpc>
                          <a:spcPct val="100000"/>
                        </a:lnSpc>
                        <a:spcBef>
                          <a:spcPts val="0"/>
                        </a:spcBef>
                        <a:spcAft>
                          <a:spcPts val="0"/>
                        </a:spcAft>
                        <a:defRPr/>
                      </a:pPr>
                      <a:r>
                        <a:rPr sz="1050">
                          <a:solidFill>
                            <a:srgbClr val="417BC1"/>
                          </a:solidFill>
                          <a:latin typeface="Consolas"/>
                        </a:rPr>
                        <a:t>    private String tokenSesion;</a:t>
                      </a:r>
                      <a:endParaRPr/>
                    </a:p>
                    <a:p>
                      <a:pPr>
                        <a:lnSpc>
                          <a:spcPct val="100000"/>
                        </a:lnSpc>
                        <a:spcBef>
                          <a:spcPts val="0"/>
                        </a:spcBef>
                        <a:spcAft>
                          <a:spcPts val="0"/>
                        </a:spcAft>
                        <a:defRPr/>
                      </a:pPr>
                      <a:r>
                        <a:rPr sz="1050">
                          <a:solidFill>
                            <a:srgbClr val="417BC1"/>
                          </a:solidFill>
                          <a:latin typeface="Consolas"/>
                        </a:rPr>
                        <a:t>    private String endpointActivo;</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ClienteWSConversor() {</a:t>
                      </a:r>
                      <a:endParaRPr/>
                    </a:p>
                    <a:p>
                      <a:pPr>
                        <a:lnSpc>
                          <a:spcPct val="100000"/>
                        </a:lnSpc>
                        <a:spcBef>
                          <a:spcPts val="0"/>
                        </a:spcBef>
                        <a:spcAft>
                          <a:spcPts val="0"/>
                        </a:spcAft>
                        <a:defRPr/>
                      </a:pPr>
                      <a:r>
                        <a:rPr sz="1050">
                          <a:solidFill>
                            <a:srgbClr val="417BC1"/>
                          </a:solidFill>
                          <a:latin typeface="Consolas"/>
                        </a:rPr>
                        <a:t>        this.puerto = inicializarPuerto();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ContratoWSConversor inicializarPuerto() {</a:t>
                      </a:r>
                      <a:endParaRPr/>
                    </a:p>
                    <a:p>
                      <a:pPr>
                        <a:lnSpc>
                          <a:spcPct val="100000"/>
                        </a:lnSpc>
                        <a:spcBef>
                          <a:spcPts val="0"/>
                        </a:spcBef>
                        <a:spcAft>
                          <a:spcPts val="0"/>
                        </a:spcAft>
                        <a:defRPr/>
                      </a:pPr>
                      <a:r>
                        <a:rPr sz="1050">
                          <a:solidFill>
                            <a:srgbClr val="417BC1"/>
                          </a:solidFill>
                          <a:latin typeface="Consolas"/>
                        </a:rPr>
                        <a:t>        List&lt;String&gt; wsdlsIntentados = new ArrayList&lt;&gt;();</a:t>
                      </a:r>
                      <a:endParaRPr/>
                    </a:p>
                    <a:p>
                      <a:pPr>
                        <a:lnSpc>
                          <a:spcPct val="100000"/>
                        </a:lnSpc>
                        <a:spcBef>
                          <a:spcPts val="0"/>
                        </a:spcBef>
                        <a:spcAft>
                          <a:spcPts val="0"/>
                        </a:spcAft>
                        <a:defRPr/>
                      </a:pPr>
                      <a:r>
                        <a:rPr sz="1050">
                          <a:solidFill>
                            <a:srgbClr val="417BC1"/>
                          </a:solidFill>
                          <a:latin typeface="Consolas"/>
                        </a:rPr>
                        <a:t>        for (String baseUrl : BASES_URL_POR_DEFECTO) {</a:t>
                      </a:r>
                      <a:endParaRPr/>
                    </a:p>
                    <a:p>
                      <a:pPr>
                        <a:lnSpc>
                          <a:spcPct val="100000"/>
                        </a:lnSpc>
                        <a:spcBef>
                          <a:spcPts val="0"/>
                        </a:spcBef>
                        <a:spcAft>
                          <a:spcPts val="0"/>
                        </a:spcAft>
                        <a:defRPr/>
                      </a:pPr>
                      <a:r>
                        <a:rPr sz="1050">
                          <a:solidFill>
                            <a:srgbClr val="417BC1"/>
                          </a:solidFill>
                          <a:latin typeface="Consolas"/>
                        </a:rPr>
                        <a:t>            String endpoint = baseUrl + "/WSConversorUnidades";</a:t>
                      </a:r>
                      <a:endParaRPr/>
                    </a:p>
                    <a:p>
                      <a:pPr>
                        <a:lnSpc>
                          <a:spcPct val="100000"/>
                        </a:lnSpc>
                        <a:spcBef>
                          <a:spcPts val="0"/>
                        </a:spcBef>
                        <a:spcAft>
                          <a:spcPts val="0"/>
                        </a:spcAft>
                        <a:defRPr/>
                      </a:pPr>
                      <a:r>
                        <a:rPr sz="1050">
                          <a:solidFill>
                            <a:srgbClr val="417BC1"/>
                          </a:solidFill>
                          <a:latin typeface="Consolas"/>
                        </a:rPr>
                        <a:t>            List&lt;String&gt; wsdlsCandidatos = List.of(endpoint + "?WSDL", endpoint + "?wsdl");</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for (String wsdl : wsdlsCandidatos) {</a:t>
                      </a:r>
                      <a:endParaRPr/>
                    </a:p>
                    <a:p>
                      <a:pPr>
                        <a:lnSpc>
                          <a:spcPct val="100000"/>
                        </a:lnSpc>
                        <a:spcBef>
                          <a:spcPts val="0"/>
                        </a:spcBef>
                        <a:spcAft>
                          <a:spcPts val="0"/>
                        </a:spcAft>
                        <a:defRPr/>
                      </a:pPr>
                      <a:r>
                        <a:rPr sz="1050">
                          <a:solidFill>
                            <a:srgbClr val="417BC1"/>
                          </a:solidFill>
                          <a:latin typeface="Consolas"/>
                        </a:rPr>
                        <a:t>                try {</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564398" name="Google Shape;342;p4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05466212" name="Google Shape;343;p43"/>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Cliente SOAP y manejador de token</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Comunicación mediante SOAP y envío de credenciales.</a:t>
            </a:r>
            <a:endParaRPr/>
          </a:p>
        </p:txBody>
      </p:sp>
      <p:sp>
        <p:nvSpPr>
          <p:cNvPr id="1639630742" name="Google Shape;344;p43"/>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337826730" name="Google Shape;345;p43"/>
          <p:cNvGraphicFramePr>
            <a:graphicFrameLocks xmlns:a="http://schemas.openxmlformats.org/drawingml/2006/main"/>
          </p:cNvGraphicFramePr>
          <p:nvPr/>
        </p:nvGraphicFramePr>
        <p:xfrm rot="0">
          <a:off x="2043324" y="2041263"/>
          <a:ext cx="3000000" cy="3000000"/>
        </p:xfrm>
        <a:graphic>
          <a:graphicData uri="http://schemas.openxmlformats.org/drawingml/2006/table">
            <a:tbl>
              <a:tblPr firstRow="0" firstCol="0" lastRow="0" lastCol="0" bandRow="0" bandCol="0">
                <a:tableStyleId>{BF136021-7255-42B7-A7E7-87A8D8FFE9CA}</a:tableStyleId>
                <a:noFill/>
              </a:tblPr>
              <a:tblGrid>
                <a:gridCol w="3522650"/>
              </a:tblGrid>
              <a:tr h="3972225">
                <a:tc>
                  <a:txBody>
                    <a:bodyPr/>
                    <a:p>
                      <a:pPr marL="0" lvl="0" indent="0" algn="l" rtl="0">
                        <a:lnSpc>
                          <a:spcPct val="100000"/>
                        </a:lnSpc>
                        <a:spcBef>
                          <a:spcPts val="0"/>
                        </a:spcBef>
                        <a:spcAft>
                          <a:spcPts val="0"/>
                        </a:spcAft>
                        <a:buNone/>
                        <a:defRPr/>
                      </a:pPr>
                      <a:r>
                        <a:rPr sz="800">
                          <a:solidFill>
                            <a:srgbClr val="417BC1"/>
                          </a:solidFill>
                          <a:latin typeface="Consolas"/>
                        </a:rPr>
                        <a:t>                    Service servicio = Service.create(new URL(wsdl), QNOMBRE_SERVICIO);</a:t>
                      </a:r>
                      <a:endParaRPr sz="11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                    ContratoWSConversor puertoTemporal = servicio.getPort(QNOMBRE_PUERTO, ContratoWSConversor.class);</a:t>
                      </a:r>
                      <a:endParaRPr/>
                    </a:p>
                    <a:p>
                      <a:pPr>
                        <a:lnSpc>
                          <a:spcPct val="100000"/>
                        </a:lnSpc>
                        <a:spcBef>
                          <a:spcPts val="0"/>
                        </a:spcBef>
                        <a:spcAft>
                          <a:spcPts val="0"/>
                        </a:spcAft>
                        <a:defRPr/>
                      </a:pPr>
                      <a:r>
                        <a:rPr sz="800">
                          <a:solidFill>
                            <a:srgbClr val="417BC1"/>
                          </a:solidFill>
                          <a:latin typeface="Consolas"/>
                        </a:rPr>
                        <a:t>                    BindingProvider proveedor = (BindingProvider) puertoTemporal;</a:t>
                      </a:r>
                      <a:endParaRPr/>
                    </a:p>
                    <a:p>
                      <a:pPr>
                        <a:lnSpc>
                          <a:spcPct val="100000"/>
                        </a:lnSpc>
                        <a:spcBef>
                          <a:spcPts val="0"/>
                        </a:spcBef>
                        <a:spcAft>
                          <a:spcPts val="0"/>
                        </a:spcAft>
                        <a:defRPr/>
                      </a:pPr>
                      <a:r>
                        <a:rPr sz="800">
                          <a:solidFill>
                            <a:srgbClr val="417BC1"/>
                          </a:solidFill>
                          <a:latin typeface="Consolas"/>
                        </a:rPr>
                        <a:t>                    proveedor.getRequestContext().put(BindingProvider.ENDPOINT_ADDRESS_PROPERTY, endpoint);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configurarManejadorToken(proveedor);</a:t>
                      </a:r>
                      <a:endParaRPr/>
                    </a:p>
                    <a:p>
                      <a:pPr>
                        <a:lnSpc>
                          <a:spcPct val="100000"/>
                        </a:lnSpc>
                        <a:spcBef>
                          <a:spcPts val="0"/>
                        </a:spcBef>
                        <a:spcAft>
                          <a:spcPts val="0"/>
                        </a:spcAft>
                        <a:defRPr/>
                      </a:pPr>
                      <a:r>
                        <a:rPr sz="800">
                          <a:solidFill>
                            <a:srgbClr val="417BC1"/>
                          </a:solidFill>
                          <a:latin typeface="Consolas"/>
                        </a:rPr>
                        <a:t>                    this.endpointActivo = endpoint;</a:t>
                      </a:r>
                      <a:endParaRPr/>
                    </a:p>
                    <a:p>
                      <a:pPr>
                        <a:lnSpc>
                          <a:spcPct val="100000"/>
                        </a:lnSpc>
                        <a:spcBef>
                          <a:spcPts val="0"/>
                        </a:spcBef>
                        <a:spcAft>
                          <a:spcPts val="0"/>
                        </a:spcAft>
                        <a:defRPr/>
                      </a:pPr>
                      <a:r>
                        <a:rPr sz="800">
                          <a:solidFill>
                            <a:srgbClr val="417BC1"/>
                          </a:solidFill>
                          <a:latin typeface="Consolas"/>
                        </a:rPr>
                        <a:t>                    return puertoTemporal;</a:t>
                      </a:r>
                      <a:endParaRPr/>
                    </a:p>
                    <a:p>
                      <a:pPr>
                        <a:lnSpc>
                          <a:spcPct val="100000"/>
                        </a:lnSpc>
                        <a:spcBef>
                          <a:spcPts val="0"/>
                        </a:spcBef>
                        <a:spcAft>
                          <a:spcPts val="0"/>
                        </a:spcAft>
                        <a:defRPr/>
                      </a:pPr>
                      <a:r>
                        <a:rPr sz="800">
                          <a:solidFill>
                            <a:srgbClr val="417BC1"/>
                          </a:solidFill>
                          <a:latin typeface="Consolas"/>
                        </a:rPr>
                        <a:t>                } catch (Exception ex) {</a:t>
                      </a:r>
                      <a:endParaRPr/>
                    </a:p>
                    <a:p>
                      <a:pPr>
                        <a:lnSpc>
                          <a:spcPct val="100000"/>
                        </a:lnSpc>
                        <a:spcBef>
                          <a:spcPts val="0"/>
                        </a:spcBef>
                        <a:spcAft>
                          <a:spcPts val="0"/>
                        </a:spcAft>
                        <a:defRPr/>
                      </a:pPr>
                      <a:r>
                        <a:rPr sz="800">
                          <a:solidFill>
                            <a:srgbClr val="417BC1"/>
                          </a:solidFill>
                          <a:latin typeface="Consolas"/>
                        </a:rPr>
                        <a:t>                    wsdlsIntentados.add(wsdl);</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throw new IllegalStateException("No fue posible conectar con el servidor SOAP en ninguna URL: " + wsdlsIntentados);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void configurarManejadorToken(BindingProvider proveedor) {</a:t>
                      </a:r>
                      <a:endParaRPr/>
                    </a:p>
                    <a:p>
                      <a:pPr>
                        <a:lnSpc>
                          <a:spcPct val="100000"/>
                        </a:lnSpc>
                        <a:spcBef>
                          <a:spcPts val="0"/>
                        </a:spcBef>
                        <a:spcAft>
                          <a:spcPts val="0"/>
                        </a:spcAft>
                        <a:defRPr/>
                      </a:pPr>
                      <a:r>
                        <a:rPr sz="800">
                          <a:solidFill>
                            <a:srgbClr val="417BC1"/>
                          </a:solidFill>
                          <a:latin typeface="Consolas"/>
                        </a:rPr>
                        <a:t>        Binding enlace = proveedor.getBinding();</a:t>
                      </a:r>
                      <a:endParaRPr/>
                    </a:p>
                    <a:p>
                      <a:pPr>
                        <a:lnSpc>
                          <a:spcPct val="100000"/>
                        </a:lnSpc>
                        <a:spcBef>
                          <a:spcPts val="0"/>
                        </a:spcBef>
                        <a:spcAft>
                          <a:spcPts val="0"/>
                        </a:spcAft>
                        <a:defRPr/>
                      </a:pPr>
                      <a:r>
                        <a:rPr sz="800">
                          <a:solidFill>
                            <a:srgbClr val="417BC1"/>
                          </a:solidFill>
                          <a:latin typeface="Consolas"/>
                        </a:rPr>
                        <a:t>        List&lt;Handler&gt; cadenaManejadores = new ArrayList&lt;&gt;(enlace.getHandlerChain());</a:t>
                      </a:r>
                      <a:endParaRPr/>
                    </a:p>
                    <a:p>
                      <a:pPr>
                        <a:lnSpc>
                          <a:spcPct val="100000"/>
                        </a:lnSpc>
                        <a:spcBef>
                          <a:spcPts val="0"/>
                        </a:spcBef>
                        <a:spcAft>
                          <a:spcPts val="0"/>
                        </a:spcAft>
                        <a:defRPr/>
                      </a:pPr>
                      <a:r>
                        <a:rPr sz="800">
                          <a:solidFill>
                            <a:srgbClr val="417BC1"/>
                          </a:solidFill>
                          <a:latin typeface="Consolas"/>
                        </a:rPr>
                        <a:t>        cadenaManejadores.add(new ManejadorTokenSOAP(() -&gt; tokenSesion));</a:t>
                      </a:r>
                      <a:endParaRPr/>
                    </a:p>
                    <a:p>
                      <a:pPr>
                        <a:lnSpc>
                          <a:spcPct val="100000"/>
                        </a:lnSpc>
                        <a:spcBef>
                          <a:spcPts val="0"/>
                        </a:spcBef>
                        <a:spcAft>
                          <a:spcPts val="0"/>
                        </a:spcAft>
                        <a:defRPr/>
                      </a:pPr>
                      <a:r>
                        <a:rPr sz="800">
                          <a:solidFill>
                            <a:srgbClr val="417BC1"/>
                          </a:solidFill>
                          <a:latin typeface="Consolas"/>
                        </a:rPr>
                        <a:t>        enlace.setHandlerChain(cadenaManejadores);</a:t>
                      </a:r>
                      <a:endParaRPr/>
                    </a:p>
                  </a:txBody>
                  <a:tcPr marL="63500" marR="63500" marT="63500" marB="63500"/>
                </a:tc>
              </a:tr>
            </a:tbl>
          </a:graphicData>
        </a:graphic>
      </p:graphicFrame>
      <p:graphicFrame>
        <p:nvGraphicFramePr>
          <p:cNvPr id="867181070" name="Google Shape;346;p43"/>
          <p:cNvGraphicFramePr>
            <a:graphicFrameLocks xmlns:a="http://schemas.openxmlformats.org/drawingml/2006/main"/>
          </p:cNvGraphicFramePr>
          <p:nvPr/>
        </p:nvGraphicFramePr>
        <p:xfrm rot="0">
          <a:off x="5684675" y="2041263"/>
          <a:ext cx="3000000" cy="3000000"/>
        </p:xfrm>
        <a:graphic>
          <a:graphicData uri="http://schemas.openxmlformats.org/drawingml/2006/table">
            <a:tbl>
              <a:tblPr firstRow="0" firstCol="0" lastRow="0" lastCol="0" bandRow="0" bandCol="0">
                <a:tableStyleId>{BF136021-7255-42B7-A7E7-87A8D8FFE9CA}</a:tableStyleId>
                <a:noFill/>
              </a:tblPr>
              <a:tblGrid>
                <a:gridCol w="3699025"/>
              </a:tblGrid>
              <a:tr h="3972225">
                <a:tc>
                  <a:txBody>
                    <a:bodyPr/>
                    <a:p>
                      <a:pPr marL="0" lvl="0" indent="0" algn="l" rtl="0">
                        <a:lnSpc>
                          <a:spcPct val="100000"/>
                        </a:lnSpc>
                        <a:spcBef>
                          <a:spcPts val="0"/>
                        </a:spcBef>
                        <a:spcAft>
                          <a:spcPts val="0"/>
                        </a:spcAft>
                        <a:buNone/>
                        <a:defRPr/>
                      </a:pPr>
                      <a:r>
                        <a:rPr sz="1050">
                          <a:solidFill>
                            <a:srgbClr val="417BC1"/>
                          </a:solidFill>
                          <a:latin typeface="Consolas"/>
                        </a:rPr>
                        <a:t>package ec.edu.monster.client.ws;</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jakarta.xml.soap.SOAPHeader;</a:t>
                      </a:r>
                      <a:endParaRPr/>
                    </a:p>
                    <a:p>
                      <a:pPr>
                        <a:lnSpc>
                          <a:spcPct val="100000"/>
                        </a:lnSpc>
                        <a:spcBef>
                          <a:spcPts val="0"/>
                        </a:spcBef>
                        <a:spcAft>
                          <a:spcPts val="0"/>
                        </a:spcAft>
                        <a:defRPr/>
                      </a:pPr>
                      <a:r>
                        <a:rPr sz="1050">
                          <a:solidFill>
                            <a:srgbClr val="417BC1"/>
                          </a:solidFill>
                          <a:latin typeface="Consolas"/>
                        </a:rPr>
                        <a:t>import jakarta.xml.soap.SOAPHeaderElement;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ManejadorTokenSOAP implements SOAPHandler&lt;SOAPMessageContext&gt;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final Supplier&lt;String&gt; tokenSupplier;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ManejadorTokenSOAP(Supplier&lt;String&gt; tokenSupplier) {</a:t>
                      </a:r>
                      <a:endParaRPr/>
                    </a:p>
                    <a:p>
                      <a:pPr>
                        <a:lnSpc>
                          <a:spcPct val="100000"/>
                        </a:lnSpc>
                        <a:spcBef>
                          <a:spcPts val="0"/>
                        </a:spcBef>
                        <a:spcAft>
                          <a:spcPts val="0"/>
                        </a:spcAft>
                        <a:defRPr/>
                      </a:pPr>
                      <a:r>
                        <a:rPr sz="1050">
                          <a:solidFill>
                            <a:srgbClr val="417BC1"/>
                          </a:solidFill>
                          <a:latin typeface="Consolas"/>
                        </a:rPr>
                        <a:t>        this.tokenSupplier = tokenSupplier;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@Override</a:t>
                      </a:r>
                      <a:endParaRPr/>
                    </a:p>
                    <a:p>
                      <a:pPr>
                        <a:lnSpc>
                          <a:spcPct val="100000"/>
                        </a:lnSpc>
                        <a:spcBef>
                          <a:spcPts val="0"/>
                        </a:spcBef>
                        <a:spcAft>
                          <a:spcPts val="0"/>
                        </a:spcAft>
                        <a:defRPr/>
                      </a:pPr>
                      <a:r>
                        <a:rPr sz="1050">
                          <a:solidFill>
                            <a:srgbClr val="417BC1"/>
                          </a:solidFill>
                          <a:latin typeface="Consolas"/>
                        </a:rPr>
                        <a:t>    public boolean handleMessage(SOAPMessageContext context) {</a:t>
                      </a:r>
                      <a:endParaRPr/>
                    </a:p>
                    <a:p>
                      <a:pPr>
                        <a:lnSpc>
                          <a:spcPct val="100000"/>
                        </a:lnSpc>
                        <a:spcBef>
                          <a:spcPts val="0"/>
                        </a:spcBef>
                        <a:spcAft>
                          <a:spcPts val="0"/>
                        </a:spcAft>
                        <a:defRPr/>
                      </a:pPr>
                      <a:r>
                        <a:rPr sz="1050">
                          <a:solidFill>
                            <a:srgbClr val="417BC1"/>
                          </a:solidFill>
                          <a:latin typeface="Consolas"/>
                        </a:rPr>
                        <a:t>        Boolean outbound = (Boolean) context.get(MessageContext.MESSAGE_OUTBOUND_PROPERTY);</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if (Boolean.TRUE.equals(outbound)) {</a:t>
                      </a:r>
                      <a:endParaRPr/>
                    </a:p>
                    <a:p>
                      <a:pPr>
                        <a:lnSpc>
                          <a:spcPct val="100000"/>
                        </a:lnSpc>
                        <a:spcBef>
                          <a:spcPts val="0"/>
                        </a:spcBef>
                        <a:spcAft>
                          <a:spcPts val="0"/>
                        </a:spcAft>
                        <a:defRPr/>
                      </a:pPr>
                      <a:r>
                        <a:rPr sz="1050">
                          <a:solidFill>
                            <a:srgbClr val="417BC1"/>
                          </a:solidFill>
                          <a:latin typeface="Consolas"/>
                        </a:rPr>
                        <a:t>            String token = tokenSupplier.get();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1459638" name="Google Shape;351;p4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624240108" name="Google Shape;352;p44"/>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Modelos del cliente</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ConversionModelo y LoginModelo.</a:t>
            </a:r>
            <a:endParaRPr/>
          </a:p>
        </p:txBody>
      </p:sp>
      <p:sp>
        <p:nvSpPr>
          <p:cNvPr id="1246744883" name="Google Shape;353;p4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286647602" name="Google Shape;354;p44"/>
          <p:cNvGraphicFramePr>
            <a:graphicFrameLocks xmlns:a="http://schemas.openxmlformats.org/drawingml/2006/main"/>
          </p:cNvGraphicFramePr>
          <p:nvPr/>
        </p:nvGraphicFramePr>
        <p:xfrm rot="0">
          <a:off x="2043324" y="2041263"/>
          <a:ext cx="3000000" cy="3000000"/>
        </p:xfrm>
        <a:graphic>
          <a:graphicData uri="http://schemas.openxmlformats.org/drawingml/2006/table">
            <a:tbl>
              <a:tblPr firstRow="0" firstCol="0" lastRow="0" lastCol="0" bandRow="0" bandCol="0">
                <a:tableStyleId>{BF136021-7255-42B7-A7E7-87A8D8FFE9CA}</a:tableStyleId>
                <a:noFill/>
              </a:tblPr>
              <a:tblGrid>
                <a:gridCol w="3522650"/>
              </a:tblGrid>
              <a:tr h="3972225">
                <a:tc>
                  <a:txBody>
                    <a:bodyPr/>
                    <a:p>
                      <a:pPr marL="0" lvl="0" indent="0" algn="l" rtl="0">
                        <a:lnSpc>
                          <a:spcPct val="100000"/>
                        </a:lnSpc>
                        <a:spcBef>
                          <a:spcPts val="0"/>
                        </a:spcBef>
                        <a:spcAft>
                          <a:spcPts val="0"/>
                        </a:spcAft>
                        <a:buNone/>
                        <a:defRPr/>
                      </a:pPr>
                      <a:r>
                        <a:rPr sz="800">
                          <a:solidFill>
                            <a:srgbClr val="417BC1"/>
                          </a:solidFill>
                          <a:latin typeface="Consolas"/>
                        </a:rPr>
                        <a:t>package ec.edu.monster.modelo;</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ConversionModelo {</a:t>
                      </a:r>
                      <a:endParaRPr/>
                    </a:p>
                    <a:p>
                      <a:pPr>
                        <a:lnSpc>
                          <a:spcPct val="100000"/>
                        </a:lnSpc>
                        <a:spcBef>
                          <a:spcPts val="0"/>
                        </a:spcBef>
                        <a:spcAft>
                          <a:spcPts val="0"/>
                        </a:spcAft>
                        <a:defRPr/>
                      </a:pPr>
                      <a:r>
                        <a:rPr sz="800">
                          <a:solidFill>
                            <a:srgbClr val="417BC1"/>
                          </a:solidFill>
                          <a:latin typeface="Consolas"/>
                        </a:rPr>
                        <a:t>    private TipoConversion tipoConversion;</a:t>
                      </a:r>
                      <a:endParaRPr/>
                    </a:p>
                    <a:p>
                      <a:pPr>
                        <a:lnSpc>
                          <a:spcPct val="100000"/>
                        </a:lnSpc>
                        <a:spcBef>
                          <a:spcPts val="0"/>
                        </a:spcBef>
                        <a:spcAft>
                          <a:spcPts val="0"/>
                        </a:spcAft>
                        <a:defRPr/>
                      </a:pPr>
                      <a:r>
                        <a:rPr sz="800">
                          <a:solidFill>
                            <a:srgbClr val="417BC1"/>
                          </a:solidFill>
                          <a:latin typeface="Consolas"/>
                        </a:rPr>
                        <a:t>    private double valor;</a:t>
                      </a:r>
                      <a:endParaRPr/>
                    </a:p>
                    <a:p>
                      <a:pPr>
                        <a:lnSpc>
                          <a:spcPct val="100000"/>
                        </a:lnSpc>
                        <a:spcBef>
                          <a:spcPts val="0"/>
                        </a:spcBef>
                        <a:spcAft>
                          <a:spcPts val="0"/>
                        </a:spcAft>
                        <a:defRPr/>
                      </a:pPr>
                      <a:r>
                        <a:rPr sz="800">
                          <a:solidFill>
                            <a:srgbClr val="417BC1"/>
                          </a:solidFill>
                          <a:latin typeface="Consolas"/>
                        </a:rPr>
                        <a:t>    private String valorInicial;</a:t>
                      </a:r>
                      <a:endParaRPr/>
                    </a:p>
                    <a:p>
                      <a:pPr>
                        <a:lnSpc>
                          <a:spcPct val="100000"/>
                        </a:lnSpc>
                        <a:spcBef>
                          <a:spcPts val="0"/>
                        </a:spcBef>
                        <a:spcAft>
                          <a:spcPts val="0"/>
                        </a:spcAft>
                        <a:defRPr/>
                      </a:pPr>
                      <a:r>
                        <a:rPr sz="800">
                          <a:solidFill>
                            <a:srgbClr val="417BC1"/>
                          </a:solidFill>
                          <a:latin typeface="Consolas"/>
                        </a:rPr>
                        <a:t>    private String valorFinal;</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ConversionModelo(TipoConversion tipoConversion, double valor, String valorInicial, String valorFinal) {</a:t>
                      </a:r>
                      <a:endParaRPr/>
                    </a:p>
                    <a:p>
                      <a:pPr>
                        <a:lnSpc>
                          <a:spcPct val="100000"/>
                        </a:lnSpc>
                        <a:spcBef>
                          <a:spcPts val="0"/>
                        </a:spcBef>
                        <a:spcAft>
                          <a:spcPts val="0"/>
                        </a:spcAft>
                        <a:defRPr/>
                      </a:pPr>
                      <a:r>
                        <a:rPr sz="800">
                          <a:solidFill>
                            <a:srgbClr val="417BC1"/>
                          </a:solidFill>
                          <a:latin typeface="Consolas"/>
                        </a:rPr>
                        <a:t>        this.tipoConversion = tipoConversion;</a:t>
                      </a:r>
                      <a:endParaRPr/>
                    </a:p>
                    <a:p>
                      <a:pPr>
                        <a:lnSpc>
                          <a:spcPct val="100000"/>
                        </a:lnSpc>
                        <a:spcBef>
                          <a:spcPts val="0"/>
                        </a:spcBef>
                        <a:spcAft>
                          <a:spcPts val="0"/>
                        </a:spcAft>
                        <a:defRPr/>
                      </a:pPr>
                      <a:r>
                        <a:rPr sz="800">
                          <a:solidFill>
                            <a:srgbClr val="417BC1"/>
                          </a:solidFill>
                          <a:latin typeface="Consolas"/>
                        </a:rPr>
                        <a:t>        this.valor = valor;</a:t>
                      </a:r>
                      <a:endParaRPr/>
                    </a:p>
                    <a:p>
                      <a:pPr>
                        <a:lnSpc>
                          <a:spcPct val="100000"/>
                        </a:lnSpc>
                        <a:spcBef>
                          <a:spcPts val="0"/>
                        </a:spcBef>
                        <a:spcAft>
                          <a:spcPts val="0"/>
                        </a:spcAft>
                        <a:defRPr/>
                      </a:pPr>
                      <a:r>
                        <a:rPr sz="800">
                          <a:solidFill>
                            <a:srgbClr val="417BC1"/>
                          </a:solidFill>
                          <a:latin typeface="Consolas"/>
                        </a:rPr>
                        <a:t>        this.valorInicial = valorInicial;</a:t>
                      </a:r>
                      <a:endParaRPr/>
                    </a:p>
                    <a:p>
                      <a:pPr>
                        <a:lnSpc>
                          <a:spcPct val="100000"/>
                        </a:lnSpc>
                        <a:spcBef>
                          <a:spcPts val="0"/>
                        </a:spcBef>
                        <a:spcAft>
                          <a:spcPts val="0"/>
                        </a:spcAft>
                        <a:defRPr/>
                      </a:pPr>
                      <a:r>
                        <a:rPr sz="800">
                          <a:solidFill>
                            <a:srgbClr val="417BC1"/>
                          </a:solidFill>
                          <a:latin typeface="Consolas"/>
                        </a:rPr>
                        <a:t>        this.valorFinal = valorFinal;</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TipoConversion getTipoConversion() {</a:t>
                      </a:r>
                      <a:endParaRPr/>
                    </a:p>
                    <a:p>
                      <a:pPr>
                        <a:lnSpc>
                          <a:spcPct val="100000"/>
                        </a:lnSpc>
                        <a:spcBef>
                          <a:spcPts val="0"/>
                        </a:spcBef>
                        <a:spcAft>
                          <a:spcPts val="0"/>
                        </a:spcAft>
                        <a:defRPr/>
                      </a:pPr>
                      <a:r>
                        <a:rPr sz="800">
                          <a:solidFill>
                            <a:srgbClr val="417BC1"/>
                          </a:solidFill>
                          <a:latin typeface="Consolas"/>
                        </a:rPr>
                        <a:t>        return tipoConversion;</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double getValor()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graphicFrame>
        <p:nvGraphicFramePr>
          <p:cNvPr id="391843796" name="Google Shape;355;p44"/>
          <p:cNvGraphicFramePr>
            <a:graphicFrameLocks xmlns:a="http://schemas.openxmlformats.org/drawingml/2006/main"/>
          </p:cNvGraphicFramePr>
          <p:nvPr/>
        </p:nvGraphicFramePr>
        <p:xfrm rot="0">
          <a:off x="5684675" y="2041263"/>
          <a:ext cx="3000000" cy="3000000"/>
        </p:xfrm>
        <a:graphic>
          <a:graphicData uri="http://schemas.openxmlformats.org/drawingml/2006/table">
            <a:tbl>
              <a:tblPr firstRow="0" firstCol="0" lastRow="0" lastCol="0" bandRow="0" bandCol="0">
                <a:tableStyleId>{BF136021-7255-42B7-A7E7-87A8D8FFE9CA}</a:tableStyleId>
                <a:noFill/>
              </a:tblPr>
              <a:tblGrid>
                <a:gridCol w="3699025"/>
              </a:tblGrid>
              <a:tr h="3972225">
                <a:tc>
                  <a:txBody>
                    <a:bodyPr/>
                    <a:p>
                      <a:pPr marL="0" lvl="0" indent="0" algn="l" rtl="0">
                        <a:lnSpc>
                          <a:spcPct val="100000"/>
                        </a:lnSpc>
                        <a:spcBef>
                          <a:spcPts val="0"/>
                        </a:spcBef>
                        <a:spcAft>
                          <a:spcPts val="0"/>
                        </a:spcAft>
                        <a:buNone/>
                        <a:defRPr/>
                      </a:pPr>
                      <a:r>
                        <a:rPr sz="1050">
                          <a:solidFill>
                            <a:srgbClr val="417BC1"/>
                          </a:solidFill>
                          <a:latin typeface="Consolas"/>
                        </a:rPr>
                        <a:t>package ec.edu.monster.modelo;</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LoginModelo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String usuario;</a:t>
                      </a:r>
                      <a:endParaRPr/>
                    </a:p>
                    <a:p>
                      <a:pPr>
                        <a:lnSpc>
                          <a:spcPct val="100000"/>
                        </a:lnSpc>
                        <a:spcBef>
                          <a:spcPts val="0"/>
                        </a:spcBef>
                        <a:spcAft>
                          <a:spcPts val="0"/>
                        </a:spcAft>
                        <a:defRPr/>
                      </a:pPr>
                      <a:r>
                        <a:rPr sz="1050">
                          <a:solidFill>
                            <a:srgbClr val="417BC1"/>
                          </a:solidFill>
                          <a:latin typeface="Consolas"/>
                        </a:rPr>
                        <a:t>    private String contrasenia;</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LoginModelo(String usuario, String contrasenia) {</a:t>
                      </a:r>
                      <a:endParaRPr/>
                    </a:p>
                    <a:p>
                      <a:pPr>
                        <a:lnSpc>
                          <a:spcPct val="100000"/>
                        </a:lnSpc>
                        <a:spcBef>
                          <a:spcPts val="0"/>
                        </a:spcBef>
                        <a:spcAft>
                          <a:spcPts val="0"/>
                        </a:spcAft>
                        <a:defRPr/>
                      </a:pPr>
                      <a:r>
                        <a:rPr sz="1050">
                          <a:solidFill>
                            <a:srgbClr val="417BC1"/>
                          </a:solidFill>
                          <a:latin typeface="Consolas"/>
                        </a:rPr>
                        <a:t>        this.usuario = usuario;</a:t>
                      </a:r>
                      <a:endParaRPr/>
                    </a:p>
                    <a:p>
                      <a:pPr>
                        <a:lnSpc>
                          <a:spcPct val="100000"/>
                        </a:lnSpc>
                        <a:spcBef>
                          <a:spcPts val="0"/>
                        </a:spcBef>
                        <a:spcAft>
                          <a:spcPts val="0"/>
                        </a:spcAft>
                        <a:defRPr/>
                      </a:pPr>
                      <a:r>
                        <a:rPr sz="1050">
                          <a:solidFill>
                            <a:srgbClr val="417BC1"/>
                          </a:solidFill>
                          <a:latin typeface="Consolas"/>
                        </a:rPr>
                        <a:t>        this.contrasenia = contrasenia;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String getUsuario() {</a:t>
                      </a:r>
                      <a:endParaRPr/>
                    </a:p>
                    <a:p>
                      <a:pPr>
                        <a:lnSpc>
                          <a:spcPct val="100000"/>
                        </a:lnSpc>
                        <a:spcBef>
                          <a:spcPts val="0"/>
                        </a:spcBef>
                        <a:spcAft>
                          <a:spcPts val="0"/>
                        </a:spcAft>
                        <a:defRPr/>
                      </a:pPr>
                      <a:r>
                        <a:rPr sz="1050">
                          <a:solidFill>
                            <a:srgbClr val="417BC1"/>
                          </a:solidFill>
                          <a:latin typeface="Consolas"/>
                        </a:rPr>
                        <a:t>        return usuario;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String getContrasenia() {</a:t>
                      </a:r>
                      <a:endParaRPr/>
                    </a:p>
                    <a:p>
                      <a:pPr>
                        <a:lnSpc>
                          <a:spcPct val="100000"/>
                        </a:lnSpc>
                        <a:spcBef>
                          <a:spcPts val="0"/>
                        </a:spcBef>
                        <a:spcAft>
                          <a:spcPts val="0"/>
                        </a:spcAft>
                        <a:defRPr/>
                      </a:pPr>
                      <a:r>
                        <a:rPr sz="1050">
                          <a:solidFill>
                            <a:srgbClr val="417BC1"/>
                          </a:solidFill>
                          <a:latin typeface="Consolas"/>
                        </a:rPr>
                        <a:t>        return contrasenia;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418275" name="Google Shape;360;p4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5553303" name="Google Shape;361;p4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EntradaUtil y LoginVista</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Captura de datos y autenticación por consola.</a:t>
            </a:r>
            <a:endParaRPr/>
          </a:p>
        </p:txBody>
      </p:sp>
      <p:sp>
        <p:nvSpPr>
          <p:cNvPr id="1678788600" name="Google Shape;362;p4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278620918" name="Google Shape;363;p45"/>
          <p:cNvGraphicFramePr>
            <a:graphicFrameLocks xmlns:a="http://schemas.openxmlformats.org/drawingml/2006/main"/>
          </p:cNvGraphicFramePr>
          <p:nvPr/>
        </p:nvGraphicFramePr>
        <p:xfrm rot="0">
          <a:off x="2043324" y="2041263"/>
          <a:ext cx="3000000" cy="3000000"/>
        </p:xfrm>
        <a:graphic>
          <a:graphicData uri="http://schemas.openxmlformats.org/drawingml/2006/table">
            <a:tbl>
              <a:tblPr firstRow="0" firstCol="0" lastRow="0" lastCol="0" bandRow="0" bandCol="0">
                <a:tableStyleId>{BF136021-7255-42B7-A7E7-87A8D8FFE9CA}</a:tableStyleId>
                <a:noFill/>
              </a:tblPr>
              <a:tblGrid>
                <a:gridCol w="3522650"/>
              </a:tblGrid>
              <a:tr h="3972225">
                <a:tc>
                  <a:txBody>
                    <a:bodyPr/>
                    <a:p>
                      <a:pPr marL="0" lvl="0" indent="0" algn="l" rtl="0">
                        <a:lnSpc>
                          <a:spcPct val="100000"/>
                        </a:lnSpc>
                        <a:spcBef>
                          <a:spcPts val="0"/>
                        </a:spcBef>
                        <a:spcAft>
                          <a:spcPts val="0"/>
                        </a:spcAft>
                        <a:buNone/>
                        <a:defRPr/>
                      </a:pPr>
                      <a:r>
                        <a:rPr sz="1050">
                          <a:solidFill>
                            <a:srgbClr val="417BC1"/>
                          </a:solidFill>
                          <a:latin typeface="Consolas"/>
                        </a:rPr>
                        <a:t>package ec.edu.monster.util;</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java.util.Scanner;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final class EntradaUtil {</a:t>
                      </a:r>
                      <a:endParaRPr/>
                    </a:p>
                    <a:p>
                      <a:pPr>
                        <a:lnSpc>
                          <a:spcPct val="100000"/>
                        </a:lnSpc>
                        <a:spcBef>
                          <a:spcPts val="0"/>
                        </a:spcBef>
                        <a:spcAft>
                          <a:spcPts val="0"/>
                        </a:spcAft>
                        <a:defRPr/>
                      </a:pPr>
                      <a:r>
                        <a:rPr sz="1050">
                          <a:solidFill>
                            <a:srgbClr val="417BC1"/>
                          </a:solidFill>
                          <a:latin typeface="Consolas"/>
                        </a:rPr>
                        <a:t>    private static final Scanner ENTRADA = new Scanner(System.in);</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EntradaUtil()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static String leerTextoNoVacio(String mensaje) {</a:t>
                      </a:r>
                      <a:endParaRPr/>
                    </a:p>
                    <a:p>
                      <a:pPr>
                        <a:lnSpc>
                          <a:spcPct val="100000"/>
                        </a:lnSpc>
                        <a:spcBef>
                          <a:spcPts val="0"/>
                        </a:spcBef>
                        <a:spcAft>
                          <a:spcPts val="0"/>
                        </a:spcAft>
                        <a:defRPr/>
                      </a:pPr>
                      <a:r>
                        <a:rPr sz="1050">
                          <a:solidFill>
                            <a:srgbClr val="417BC1"/>
                          </a:solidFill>
                          <a:latin typeface="Consolas"/>
                        </a:rPr>
                        <a:t>        while (true) {</a:t>
                      </a:r>
                      <a:endParaRPr/>
                    </a:p>
                    <a:p>
                      <a:pPr>
                        <a:lnSpc>
                          <a:spcPct val="100000"/>
                        </a:lnSpc>
                        <a:spcBef>
                          <a:spcPts val="0"/>
                        </a:spcBef>
                        <a:spcAft>
                          <a:spcPts val="0"/>
                        </a:spcAft>
                        <a:defRPr/>
                      </a:pPr>
                      <a:r>
                        <a:rPr sz="1050">
                          <a:solidFill>
                            <a:srgbClr val="417BC1"/>
                          </a:solidFill>
                          <a:latin typeface="Consolas"/>
                        </a:rPr>
                        <a:t>            System.out.print(mensaje);</a:t>
                      </a:r>
                      <a:endParaRPr/>
                    </a:p>
                    <a:p>
                      <a:pPr>
                        <a:lnSpc>
                          <a:spcPct val="100000"/>
                        </a:lnSpc>
                        <a:spcBef>
                          <a:spcPts val="0"/>
                        </a:spcBef>
                        <a:spcAft>
                          <a:spcPts val="0"/>
                        </a:spcAft>
                        <a:defRPr/>
                      </a:pPr>
                      <a:r>
                        <a:rPr sz="1050">
                          <a:solidFill>
                            <a:srgbClr val="417BC1"/>
                          </a:solidFill>
                          <a:latin typeface="Consolas"/>
                        </a:rPr>
                        <a:t>            String texto = ENTRADA.nextLine().trim();</a:t>
                      </a:r>
                      <a:endParaRPr/>
                    </a:p>
                    <a:p>
                      <a:pPr>
                        <a:lnSpc>
                          <a:spcPct val="100000"/>
                        </a:lnSpc>
                        <a:spcBef>
                          <a:spcPts val="0"/>
                        </a:spcBef>
                        <a:spcAft>
                          <a:spcPts val="0"/>
                        </a:spcAft>
                        <a:defRPr/>
                      </a:pPr>
                      <a:r>
                        <a:rPr sz="1050">
                          <a:solidFill>
                            <a:srgbClr val="417BC1"/>
                          </a:solidFill>
                          <a:latin typeface="Consolas"/>
                        </a:rPr>
                        <a:t>            if (!texto.isEmpty()) {</a:t>
                      </a:r>
                      <a:endParaRPr/>
                    </a:p>
                    <a:p>
                      <a:pPr>
                        <a:lnSpc>
                          <a:spcPct val="100000"/>
                        </a:lnSpc>
                        <a:spcBef>
                          <a:spcPts val="0"/>
                        </a:spcBef>
                        <a:spcAft>
                          <a:spcPts val="0"/>
                        </a:spcAft>
                        <a:defRPr/>
                      </a:pPr>
                      <a:r>
                        <a:rPr sz="1050">
                          <a:solidFill>
                            <a:srgbClr val="417BC1"/>
                          </a:solidFill>
                          <a:latin typeface="Consolas"/>
                        </a:rPr>
                        <a:t>                return texto;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System.err.println("Entrada invalida. No puede quedar vacio.");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graphicFrame>
        <p:nvGraphicFramePr>
          <p:cNvPr id="549335125" name="Google Shape;364;p45"/>
          <p:cNvGraphicFramePr>
            <a:graphicFrameLocks xmlns:a="http://schemas.openxmlformats.org/drawingml/2006/main"/>
          </p:cNvGraphicFramePr>
          <p:nvPr/>
        </p:nvGraphicFramePr>
        <p:xfrm rot="0">
          <a:off x="5684675" y="2041263"/>
          <a:ext cx="3000000" cy="3000000"/>
        </p:xfrm>
        <a:graphic>
          <a:graphicData uri="http://schemas.openxmlformats.org/drawingml/2006/table">
            <a:tbl>
              <a:tblPr firstRow="0" firstCol="0" lastRow="0" lastCol="0" bandRow="0" bandCol="0">
                <a:tableStyleId>{BF136021-7255-42B7-A7E7-87A8D8FFE9CA}</a:tableStyleId>
                <a:noFill/>
              </a:tblPr>
              <a:tblGrid>
                <a:gridCol w="3699025"/>
              </a:tblGrid>
              <a:tr h="3972225">
                <a:tc>
                  <a:txBody>
                    <a:bodyPr/>
                    <a:p>
                      <a:pPr marL="0" lvl="0" indent="0" algn="l" rtl="0">
                        <a:lnSpc>
                          <a:spcPct val="100000"/>
                        </a:lnSpc>
                        <a:spcBef>
                          <a:spcPts val="0"/>
                        </a:spcBef>
                        <a:spcAft>
                          <a:spcPts val="0"/>
                        </a:spcAft>
                        <a:buNone/>
                        <a:defRPr/>
                      </a:pPr>
                      <a:r>
                        <a:rPr sz="800">
                          <a:solidFill>
                            <a:srgbClr val="417BC1"/>
                          </a:solidFill>
                          <a:latin typeface="Consolas"/>
                        </a:rPr>
                        <a:t>package ec.edu.monster.vista;</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import ec.edu.monster.controlador.ConversionControlador;</a:t>
                      </a:r>
                      <a:endParaRPr/>
                    </a:p>
                    <a:p>
                      <a:pPr>
                        <a:lnSpc>
                          <a:spcPct val="100000"/>
                        </a:lnSpc>
                        <a:spcBef>
                          <a:spcPts val="0"/>
                        </a:spcBef>
                        <a:spcAft>
                          <a:spcPts val="0"/>
                        </a:spcAft>
                        <a:defRPr/>
                      </a:pPr>
                      <a:r>
                        <a:rPr sz="800">
                          <a:solidFill>
                            <a:srgbClr val="417BC1"/>
                          </a:solidFill>
                          <a:latin typeface="Consolas"/>
                        </a:rPr>
                        <a:t>import ec.edu.monster.controlador.LoginControlador;</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LoginVista {</a:t>
                      </a:r>
                      <a:endParaRPr/>
                    </a:p>
                    <a:p>
                      <a:pPr>
                        <a:lnSpc>
                          <a:spcPct val="100000"/>
                        </a:lnSpc>
                        <a:spcBef>
                          <a:spcPts val="0"/>
                        </a:spcBef>
                        <a:spcAft>
                          <a:spcPts val="0"/>
                        </a:spcAft>
                        <a:defRPr/>
                      </a:pPr>
                      <a:r>
                        <a:rPr sz="800">
                          <a:solidFill>
                            <a:srgbClr val="417BC1"/>
                          </a:solidFill>
                          <a:latin typeface="Consolas"/>
                        </a:rPr>
                        <a:t>   private final MensajesModelo mensajes = new MensajesModelo();</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void iniciar(){</a:t>
                      </a:r>
                      <a:endParaRPr/>
                    </a:p>
                    <a:p>
                      <a:pPr>
                        <a:lnSpc>
                          <a:spcPct val="100000"/>
                        </a:lnSpc>
                        <a:spcBef>
                          <a:spcPts val="0"/>
                        </a:spcBef>
                        <a:spcAft>
                          <a:spcPts val="0"/>
                        </a:spcAft>
                        <a:defRPr/>
                      </a:pPr>
                      <a:r>
                        <a:rPr sz="800">
                          <a:solidFill>
                            <a:srgbClr val="417BC1"/>
                          </a:solidFill>
                          <a:latin typeface="Consolas"/>
                        </a:rPr>
                        <a:t>        mensajes.mostrarTitulo("SISTEMA CONVERSOR - CLIENTE CONSOLA");</a:t>
                      </a:r>
                      <a:endParaRPr/>
                    </a:p>
                    <a:p>
                      <a:pPr>
                        <a:lnSpc>
                          <a:spcPct val="100000"/>
                        </a:lnSpc>
                        <a:spcBef>
                          <a:spcPts val="0"/>
                        </a:spcBef>
                        <a:spcAft>
                          <a:spcPts val="0"/>
                        </a:spcAft>
                        <a:defRPr/>
                      </a:pPr>
                      <a:r>
                        <a:rPr sz="800">
                          <a:solidFill>
                            <a:srgbClr val="417BC1"/>
                          </a:solidFill>
                          <a:latin typeface="Consolas"/>
                        </a:rPr>
                        <a:t>        mensajes.mostrarEncabezado();</a:t>
                      </a:r>
                      <a:endParaRPr/>
                    </a:p>
                    <a:p>
                      <a:pPr>
                        <a:lnSpc>
                          <a:spcPct val="100000"/>
                        </a:lnSpc>
                        <a:spcBef>
                          <a:spcPts val="0"/>
                        </a:spcBef>
                        <a:spcAft>
                          <a:spcPts val="0"/>
                        </a:spcAft>
                        <a:defRPr/>
                      </a:pPr>
                      <a:r>
                        <a:rPr sz="800">
                          <a:solidFill>
                            <a:srgbClr val="417BC1"/>
                          </a:solidFill>
                          <a:latin typeface="Consolas"/>
                        </a:rPr>
                        <a:t>        LoginControlador loginC;</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try {</a:t>
                      </a:r>
                      <a:endParaRPr/>
                    </a:p>
                    <a:p>
                      <a:pPr>
                        <a:lnSpc>
                          <a:spcPct val="100000"/>
                        </a:lnSpc>
                        <a:spcBef>
                          <a:spcPts val="0"/>
                        </a:spcBef>
                        <a:spcAft>
                          <a:spcPts val="0"/>
                        </a:spcAft>
                        <a:defRPr/>
                      </a:pPr>
                      <a:r>
                        <a:rPr sz="800">
                          <a:solidFill>
                            <a:srgbClr val="417BC1"/>
                          </a:solidFill>
                          <a:latin typeface="Consolas"/>
                        </a:rPr>
                        <a:t>            loginC = new LoginControlador();</a:t>
                      </a:r>
                      <a:endParaRPr/>
                    </a:p>
                    <a:p>
                      <a:pPr>
                        <a:lnSpc>
                          <a:spcPct val="100000"/>
                        </a:lnSpc>
                        <a:spcBef>
                          <a:spcPts val="0"/>
                        </a:spcBef>
                        <a:spcAft>
                          <a:spcPts val="0"/>
                        </a:spcAft>
                        <a:defRPr/>
                      </a:pPr>
                      <a:r>
                        <a:rPr sz="800">
                          <a:solidFill>
                            <a:srgbClr val="417BC1"/>
                          </a:solidFill>
                          <a:latin typeface="Consolas"/>
                        </a:rPr>
                        <a:t>            mensajes.mostrarMensaje("Servidor SOAP encontrado en: " + loginC.getEndpointActivo());</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catch (Exception ex) {</a:t>
                      </a:r>
                      <a:endParaRPr/>
                    </a:p>
                    <a:p>
                      <a:pPr>
                        <a:lnSpc>
                          <a:spcPct val="100000"/>
                        </a:lnSpc>
                        <a:spcBef>
                          <a:spcPts val="0"/>
                        </a:spcBef>
                        <a:spcAft>
                          <a:spcPts val="0"/>
                        </a:spcAft>
                        <a:defRPr/>
                      </a:pPr>
                      <a:r>
                        <a:rPr sz="800">
                          <a:solidFill>
                            <a:srgbClr val="417BC1"/>
                          </a:solidFill>
                          <a:latin typeface="Consolas"/>
                        </a:rPr>
                        <a:t>            mensajes.mostrarError("No se pudo conectar al servidor SOAP:  " + ex.getMessage());</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209610" name="Google Shape;360;p4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71146238" name="Google Shape;361;p4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4.2  Cliente consola</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ConversionVista y LoginControlador — código del grupo 1</a:t>
            </a:r>
            <a:endParaRPr/>
          </a:p>
        </p:txBody>
      </p:sp>
      <p:sp>
        <p:nvSpPr>
          <p:cNvPr id="1325014391" name="Google Shape;362;p4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535030294" name="Google Shape;363;p45"/>
          <p:cNvGraphicFramePr>
            <a:graphicFrameLocks xmlns:a="http://schemas.openxmlformats.org/drawingml/2006/main"/>
          </p:cNvGraphicFramePr>
          <p:nvPr/>
        </p:nvGraphicFramePr>
        <p:xfrm rot="0">
          <a:off x="2043324" y="2041263"/>
          <a:ext cx="3000000" cy="3000000"/>
        </p:xfrm>
        <a:graphic>
          <a:graphicData uri="http://schemas.openxmlformats.org/drawingml/2006/table">
            <a:tbl>
              <a:tblPr firstRow="0" firstCol="0" lastRow="0" lastCol="0" bandRow="0" bandCol="0">
                <a:tableStyleId>{BF136021-7255-42B7-A7E7-87A8D8FFE9CA}</a:tableStyleId>
                <a:noFill/>
              </a:tblPr>
              <a:tblGrid>
                <a:gridCol w="3522650"/>
              </a:tblGrid>
              <a:tr h="3972225">
                <a:tc>
                  <a:txBody>
                    <a:bodyPr/>
                    <a:p>
                      <a:pPr marL="0" lvl="0" indent="0" algn="l" rtl="0">
                        <a:lnSpc>
                          <a:spcPct val="100000"/>
                        </a:lnSpc>
                        <a:spcBef>
                          <a:spcPts val="0"/>
                        </a:spcBef>
                        <a:spcAft>
                          <a:spcPts val="0"/>
                        </a:spcAft>
                        <a:buNone/>
                        <a:defRPr/>
                      </a:pPr>
                      <a:r>
                        <a:rPr sz="800">
                          <a:solidFill>
                            <a:srgbClr val="417BC1"/>
                          </a:solidFill>
                          <a:latin typeface="Consolas"/>
                        </a:rPr>
                        <a:t>package ec.edu.monster.vista;</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import ec.edu.monster.controlador.ConversionControlador;</a:t>
                      </a:r>
                      <a:endParaRPr/>
                    </a:p>
                    <a:p>
                      <a:pPr>
                        <a:lnSpc>
                          <a:spcPct val="100000"/>
                        </a:lnSpc>
                        <a:spcBef>
                          <a:spcPts val="0"/>
                        </a:spcBef>
                        <a:spcAft>
                          <a:spcPts val="0"/>
                        </a:spcAft>
                        <a:defRPr/>
                      </a:pPr>
                      <a:r>
                        <a:rPr sz="800">
                          <a:solidFill>
                            <a:srgbClr val="417BC1"/>
                          </a:solidFill>
                          <a:latin typeface="Consolas"/>
                        </a:rPr>
                        <a:t>import ec.edu.monster.modelo.ConversionModelo;</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 @author sebas</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public class ConversionVista {</a:t>
                      </a:r>
                      <a:endParaRPr/>
                    </a:p>
                    <a:p>
                      <a:pPr>
                        <a:lnSpc>
                          <a:spcPct val="100000"/>
                        </a:lnSpc>
                        <a:spcBef>
                          <a:spcPts val="0"/>
                        </a:spcBef>
                        <a:spcAft>
                          <a:spcPts val="0"/>
                        </a:spcAft>
                        <a:defRPr/>
                      </a:pPr>
                      <a:r>
                        <a:rPr sz="800">
                          <a:solidFill>
                            <a:srgbClr val="417BC1"/>
                          </a:solidFill>
                          <a:latin typeface="Consolas"/>
                        </a:rPr>
                        <a:t>    private static final String[] UNIDADES_LONGITUD = {"MILIMETRO", "CENTIMETRO", "METRO", "KILOMETRO", "YARDA"};</a:t>
                      </a:r>
                      <a:endParaRPr/>
                    </a:p>
                    <a:p>
                      <a:pPr>
                        <a:lnSpc>
                          <a:spcPct val="100000"/>
                        </a:lnSpc>
                        <a:spcBef>
                          <a:spcPts val="0"/>
                        </a:spcBef>
                        <a:spcAft>
                          <a:spcPts val="0"/>
                        </a:spcAft>
                        <a:defRPr/>
                      </a:pPr>
                      <a:r>
                        <a:rPr sz="800">
                          <a:solidFill>
                            <a:srgbClr val="417BC1"/>
                          </a:solidFill>
                          <a:latin typeface="Consolas"/>
                        </a:rPr>
                        <a:t>    private static final String[] UNIDADES_MASA = {"MILIGRAMO", "GRAMO", "KILOGRAMO", "TONELADA", "ONZA"};</a:t>
                      </a:r>
                      <a:endParaRPr/>
                    </a:p>
                    <a:p>
                      <a:pPr>
                        <a:lnSpc>
                          <a:spcPct val="100000"/>
                        </a:lnSpc>
                        <a:spcBef>
                          <a:spcPts val="0"/>
                        </a:spcBef>
                        <a:spcAft>
                          <a:spcPts val="0"/>
                        </a:spcAft>
                        <a:defRPr/>
                      </a:pPr>
                      <a:r>
                        <a:rPr sz="800">
                          <a:solidFill>
                            <a:srgbClr val="417BC1"/>
                          </a:solidFill>
                          <a:latin typeface="Consolas"/>
                        </a:rPr>
                        <a:t>    private static final String[] UNIDADES_TEMPERATURA = {"CELSIUS", "FAHRENHEIT", "KELVIN", "RANKINE"};</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private final MensajesModelo mensajes = new MensajesModelo();</a:t>
                      </a:r>
                      <a:endParaRPr/>
                    </a:p>
                    <a:p>
                      <a:pPr>
                        <a:lnSpc>
                          <a:spcPct val="100000"/>
                        </a:lnSpc>
                        <a:spcBef>
                          <a:spcPts val="0"/>
                        </a:spcBef>
                        <a:spcAft>
                          <a:spcPts val="0"/>
                        </a:spcAft>
                        <a:defRPr/>
                      </a:pPr>
                      <a:r>
                        <a:rPr sz="800">
                          <a:solidFill>
                            <a:srgbClr val="417BC1"/>
                          </a:solidFill>
                          <a:latin typeface="Consolas"/>
                        </a:rPr>
                        <a:t>    private final ConversionControlador conversionControlador;</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ConversionVista(ConversionControlador conversionControlador) {</a:t>
                      </a:r>
                      <a:endParaRPr/>
                    </a:p>
                    <a:p>
                      <a:pPr>
                        <a:lnSpc>
                          <a:spcPct val="100000"/>
                        </a:lnSpc>
                        <a:spcBef>
                          <a:spcPts val="0"/>
                        </a:spcBef>
                        <a:spcAft>
                          <a:spcPts val="0"/>
                        </a:spcAft>
                        <a:defRPr/>
                      </a:pPr>
                      <a:r>
                        <a:rPr sz="800">
                          <a:solidFill>
                            <a:srgbClr val="417BC1"/>
                          </a:solidFill>
                          <a:latin typeface="Consolas"/>
                        </a:rPr>
                        <a:t>        this.conversionControlador = conversionControlador;</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void ejecutarMenu() {</a:t>
                      </a:r>
                      <a:endParaRPr/>
                    </a:p>
                    <a:p>
                      <a:pPr>
                        <a:lnSpc>
                          <a:spcPct val="100000"/>
                        </a:lnSpc>
                        <a:spcBef>
                          <a:spcPts val="0"/>
                        </a:spcBef>
                        <a:spcAft>
                          <a:spcPts val="0"/>
                        </a:spcAft>
                        <a:defRPr/>
                      </a:pPr>
                      <a:r>
                        <a:rPr sz="800">
                          <a:solidFill>
                            <a:srgbClr val="417BC1"/>
                          </a:solidFill>
                          <a:latin typeface="Consolas"/>
                        </a:rPr>
                        <a:t>        int opcion;</a:t>
                      </a:r>
                      <a:endParaRPr/>
                    </a:p>
                    <a:p>
                      <a:pPr>
                        <a:lnSpc>
                          <a:spcPct val="100000"/>
                        </a:lnSpc>
                        <a:spcBef>
                          <a:spcPts val="0"/>
                        </a:spcBef>
                        <a:spcAft>
                          <a:spcPts val="0"/>
                        </a:spcAft>
                        <a:defRPr/>
                      </a:pPr>
                      <a:r>
                        <a:rPr sz="800">
                          <a:solidFill>
                            <a:srgbClr val="417BC1"/>
                          </a:solidFill>
                          <a:latin typeface="Consolas"/>
                        </a:rPr>
                        <a:t>        do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graphicFrame>
        <p:nvGraphicFramePr>
          <p:cNvPr id="1850749972" name="Google Shape;364;p45"/>
          <p:cNvGraphicFramePr>
            <a:graphicFrameLocks xmlns:a="http://schemas.openxmlformats.org/drawingml/2006/main"/>
          </p:cNvGraphicFramePr>
          <p:nvPr/>
        </p:nvGraphicFramePr>
        <p:xfrm rot="0">
          <a:off x="5684675" y="2041263"/>
          <a:ext cx="3000000" cy="3000000"/>
        </p:xfrm>
        <a:graphic>
          <a:graphicData uri="http://schemas.openxmlformats.org/drawingml/2006/table">
            <a:tbl>
              <a:tblPr firstRow="0" firstCol="0" lastRow="0" lastCol="0" bandRow="0" bandCol="0">
                <a:tableStyleId>{BF136021-7255-42B7-A7E7-87A8D8FFE9CA}</a:tableStyleId>
                <a:noFill/>
              </a:tblPr>
              <a:tblGrid>
                <a:gridCol w="3699025"/>
              </a:tblGrid>
              <a:tr h="3972225">
                <a:tc>
                  <a:txBody>
                    <a:bodyPr/>
                    <a:p>
                      <a:pPr marL="0" lvl="0" indent="0" algn="l" rtl="0">
                        <a:lnSpc>
                          <a:spcPct val="100000"/>
                        </a:lnSpc>
                        <a:spcBef>
                          <a:spcPts val="0"/>
                        </a:spcBef>
                        <a:spcAft>
                          <a:spcPts val="0"/>
                        </a:spcAft>
                        <a:buNone/>
                        <a:defRPr/>
                      </a:pPr>
                      <a:r>
                        <a:rPr sz="1050">
                          <a:solidFill>
                            <a:srgbClr val="417BC1"/>
                          </a:solidFill>
                          <a:latin typeface="Consolas"/>
                        </a:rPr>
                        <a:t>package ec.edu.monster.controlador;</a:t>
                      </a:r>
                      <a:endParaRPr sz="11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import ec.edu.monster.client.ws.ClienteWSConversor;</a:t>
                      </a:r>
                      <a:endParaRPr/>
                    </a:p>
                    <a:p>
                      <a:pPr>
                        <a:lnSpc>
                          <a:spcPct val="100000"/>
                        </a:lnSpc>
                        <a:spcBef>
                          <a:spcPts val="0"/>
                        </a:spcBef>
                        <a:spcAft>
                          <a:spcPts val="0"/>
                        </a:spcAft>
                        <a:defRPr/>
                      </a:pPr>
                      <a:r>
                        <a:rPr sz="1050">
                          <a:solidFill>
                            <a:srgbClr val="417BC1"/>
                          </a:solidFill>
                          <a:latin typeface="Consolas"/>
                        </a:rPr>
                        <a:t>import ec.edu.monster.modelo.LoginModelo;</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 @author sebas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public class LoginControlador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final ClienteWSConversor clienteWs;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LoginControlador() {</a:t>
                      </a:r>
                      <a:endParaRPr/>
                    </a:p>
                    <a:p>
                      <a:pPr>
                        <a:lnSpc>
                          <a:spcPct val="100000"/>
                        </a:lnSpc>
                        <a:spcBef>
                          <a:spcPts val="0"/>
                        </a:spcBef>
                        <a:spcAft>
                          <a:spcPts val="0"/>
                        </a:spcAft>
                        <a:defRPr/>
                      </a:pPr>
                      <a:r>
                        <a:rPr sz="1050">
                          <a:solidFill>
                            <a:srgbClr val="417BC1"/>
                          </a:solidFill>
                          <a:latin typeface="Consolas"/>
                        </a:rPr>
                        <a:t>        this.clienteWs = new ClienteWSConversor();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String autenticar(LoginModelo loginModelo) {</a:t>
                      </a:r>
                      <a:endParaRPr/>
                    </a:p>
                    <a:p>
                      <a:pPr>
                        <a:lnSpc>
                          <a:spcPct val="100000"/>
                        </a:lnSpc>
                        <a:spcBef>
                          <a:spcPts val="0"/>
                        </a:spcBef>
                        <a:spcAft>
                          <a:spcPts val="0"/>
                        </a:spcAft>
                        <a:defRPr/>
                      </a:pPr>
                      <a:r>
                        <a:rPr sz="1050">
                          <a:solidFill>
                            <a:srgbClr val="417BC1"/>
                          </a:solidFill>
                          <a:latin typeface="Consolas"/>
                        </a:rPr>
                        <a:t>        return clienteWs.login(loginModelo.getUsuario(), loginModelo.getContrasenia());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ConversionControlador crearControladorConversion() {</a:t>
                      </a:r>
                      <a:endParaRPr/>
                    </a:p>
                    <a:p>
                      <a:pPr>
                        <a:lnSpc>
                          <a:spcPct val="100000"/>
                        </a:lnSpc>
                        <a:spcBef>
                          <a:spcPts val="0"/>
                        </a:spcBef>
                        <a:spcAft>
                          <a:spcPts val="0"/>
                        </a:spcAft>
                        <a:defRPr/>
                      </a:pPr>
                      <a:r>
                        <a:rPr sz="1050">
                          <a:solidFill>
                            <a:srgbClr val="417BC1"/>
                          </a:solidFill>
                          <a:latin typeface="Consolas"/>
                        </a:rPr>
                        <a:t>        return new ConversionControlador(clienteWs);</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910973" name="Google Shape;360;p4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17222379" name="Google Shape;361;p4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550" b="1" i="0">
                <a:solidFill>
                  <a:srgbClr val="373737"/>
                </a:solidFill>
                <a:latin typeface="Cambria"/>
              </a:rPr>
              <a:t>4.2  Cliente consola</a:t>
            </a:r>
            <a:endParaRPr sz="1100">
              <a:solidFill>
                <a:schemeClr val="dk1"/>
              </a:solidFill>
              <a:latin typeface="Calibri"/>
              <a:ea typeface="Calibri"/>
              <a:cs typeface="Calibri"/>
            </a:endParaRPr>
          </a:p>
          <a:p>
            <a:pPr algn="l">
              <a:spcBef>
                <a:spcPts val="0"/>
              </a:spcBef>
              <a:spcAft>
                <a:spcPts val="600"/>
              </a:spcAft>
              <a:defRPr/>
            </a:pPr>
            <a:r>
              <a:rPr sz="1550" b="0" i="0">
                <a:solidFill>
                  <a:srgbClr val="373737"/>
                </a:solidFill>
                <a:latin typeface="Cambria"/>
              </a:rPr>
              <a:t>ConversionControlador — código del grupo 1</a:t>
            </a:r>
            <a:endParaRPr/>
          </a:p>
        </p:txBody>
      </p:sp>
      <p:sp>
        <p:nvSpPr>
          <p:cNvPr id="1944436029" name="Google Shape;362;p4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989183165" name="Google Shape;363;p45"/>
          <p:cNvGraphicFramePr>
            <a:graphicFrameLocks xmlns:a="http://schemas.openxmlformats.org/drawingml/2006/main"/>
          </p:cNvGraphicFramePr>
          <p:nvPr/>
        </p:nvGraphicFramePr>
        <p:xfrm rot="0">
          <a:off x="2043324" y="2041263"/>
          <a:ext cx="3000000" cy="3000000"/>
        </p:xfrm>
        <a:graphic>
          <a:graphicData uri="http://schemas.openxmlformats.org/drawingml/2006/table">
            <a:tbl>
              <a:tblPr firstRow="0" firstCol="0" lastRow="0" lastCol="0" bandRow="0" bandCol="0">
                <a:tableStyleId>{BF136021-7255-42B7-A7E7-87A8D8FFE9CA}</a:tableStyleId>
                <a:noFill/>
              </a:tblPr>
              <a:tblGrid>
                <a:gridCol w="3522650"/>
              </a:tblGrid>
              <a:tr h="3972225">
                <a:tc>
                  <a:txBody>
                    <a:bodyPr/>
                    <a:p>
                      <a:pPr marL="0" lvl="0" indent="0" algn="l" rtl="0">
                        <a:lnSpc>
                          <a:spcPct val="100000"/>
                        </a:lnSpc>
                        <a:spcBef>
                          <a:spcPts val="0"/>
                        </a:spcBef>
                        <a:spcAft>
                          <a:spcPts val="0"/>
                        </a:spcAft>
                        <a:buNone/>
                        <a:defRPr/>
                      </a:pPr>
                      <a:r>
                        <a:rPr sz="1000">
                          <a:solidFill>
                            <a:srgbClr val="417BC1"/>
                          </a:solidFill>
                          <a:latin typeface="Consolas"/>
                        </a:rPr>
                        <a:t>package ec.edu.monster.controlador;</a:t>
                      </a:r>
                      <a:endParaRPr sz="1100">
                        <a:solidFill>
                          <a:srgbClr val="4F81BD"/>
                        </a:solidFill>
                        <a:latin typeface="Calibri"/>
                        <a:ea typeface="Calibri"/>
                        <a:cs typeface="Calibri"/>
                      </a:endParaRPr>
                    </a:p>
                    <a:p>
                      <a:pPr>
                        <a:lnSpc>
                          <a:spcPct val="100000"/>
                        </a:lnSpc>
                        <a:spcAft>
                          <a:spcPts val="0"/>
                        </a:spcAft>
                        <a:defRPr/>
                      </a:pPr>
                      <a:endParaRPr/>
                    </a:p>
                    <a:p>
                      <a:pPr>
                        <a:lnSpc>
                          <a:spcPct val="100000"/>
                        </a:lnSpc>
                        <a:spcAft>
                          <a:spcPts val="0"/>
                        </a:spcAft>
                        <a:defRPr/>
                      </a:pPr>
                      <a:r>
                        <a:rPr sz="1000">
                          <a:solidFill>
                            <a:srgbClr val="417BC1"/>
                          </a:solidFill>
                          <a:latin typeface="Consolas"/>
                        </a:rPr>
                        <a:t>import ec.edu.monster.client.ws.ClienteWSConversor;</a:t>
                      </a:r>
                      <a:endParaRPr/>
                    </a:p>
                    <a:p>
                      <a:pPr>
                        <a:lnSpc>
                          <a:spcPct val="100000"/>
                        </a:lnSpc>
                        <a:spcAft>
                          <a:spcPts val="0"/>
                        </a:spcAft>
                        <a:defRPr/>
                      </a:pPr>
                      <a:r>
                        <a:rPr sz="1000">
                          <a:solidFill>
                            <a:srgbClr val="417BC1"/>
                          </a:solidFill>
                          <a:latin typeface="Consolas"/>
                        </a:rPr>
                        <a:t>import ec.edu.monster.modelo.ConversionModelo;</a:t>
                      </a:r>
                      <a:endParaRPr/>
                    </a:p>
                    <a:p>
                      <a:pPr>
                        <a:lnSpc>
                          <a:spcPct val="100000"/>
                        </a:lnSpc>
                        <a:spcAft>
                          <a:spcPts val="0"/>
                        </a:spcAft>
                        <a:defRPr/>
                      </a:pPr>
                      <a:endParaRPr/>
                    </a:p>
                    <a:p>
                      <a:pPr>
                        <a:lnSpc>
                          <a:spcPct val="100000"/>
                        </a:lnSpc>
                        <a:spcAft>
                          <a:spcPts val="0"/>
                        </a:spcAft>
                        <a:defRPr/>
                      </a:pPr>
                      <a:r>
                        <a:rPr sz="1000">
                          <a:solidFill>
                            <a:srgbClr val="417BC1"/>
                          </a:solidFill>
                          <a:latin typeface="Consolas"/>
                        </a:rPr>
                        <a:t>/**</a:t>
                      </a:r>
                      <a:endParaRPr/>
                    </a:p>
                    <a:p>
                      <a:pPr>
                        <a:lnSpc>
                          <a:spcPct val="100000"/>
                        </a:lnSpc>
                        <a:spcAft>
                          <a:spcPts val="0"/>
                        </a:spcAft>
                        <a:defRPr/>
                      </a:pPr>
                      <a:r>
                        <a:rPr sz="1000">
                          <a:solidFill>
                            <a:srgbClr val="417BC1"/>
                          </a:solidFill>
                          <a:latin typeface="Consolas"/>
                        </a:rPr>
                        <a:t> *</a:t>
                      </a:r>
                      <a:endParaRPr/>
                    </a:p>
                    <a:p>
                      <a:pPr>
                        <a:lnSpc>
                          <a:spcPct val="100000"/>
                        </a:lnSpc>
                        <a:spcAft>
                          <a:spcPts val="0"/>
                        </a:spcAft>
                        <a:defRPr/>
                      </a:pPr>
                      <a:r>
                        <a:rPr sz="1000">
                          <a:solidFill>
                            <a:srgbClr val="417BC1"/>
                          </a:solidFill>
                          <a:latin typeface="Consolas"/>
                        </a:rPr>
                        <a:t> * @author sebas</a:t>
                      </a:r>
                      <a:endParaRPr/>
                    </a:p>
                    <a:p>
                      <a:pPr>
                        <a:lnSpc>
                          <a:spcPct val="100000"/>
                        </a:lnSpc>
                        <a:spcAft>
                          <a:spcPts val="0"/>
                        </a:spcAft>
                        <a:defRPr/>
                      </a:pPr>
                      <a:r>
                        <a:rPr sz="1000">
                          <a:solidFill>
                            <a:srgbClr val="417BC1"/>
                          </a:solidFill>
                          <a:latin typeface="Consolas"/>
                        </a:rPr>
                        <a:t> */</a:t>
                      </a:r>
                      <a:endParaRPr/>
                    </a:p>
                    <a:p>
                      <a:pPr>
                        <a:lnSpc>
                          <a:spcPct val="100000"/>
                        </a:lnSpc>
                        <a:spcAft>
                          <a:spcPts val="0"/>
                        </a:spcAft>
                        <a:defRPr/>
                      </a:pPr>
                      <a:r>
                        <a:rPr sz="1000">
                          <a:solidFill>
                            <a:srgbClr val="417BC1"/>
                          </a:solidFill>
                          <a:latin typeface="Consolas"/>
                        </a:rPr>
                        <a:t>public class ConversionControlador {</a:t>
                      </a:r>
                      <a:endParaRPr/>
                    </a:p>
                    <a:p>
                      <a:pPr>
                        <a:lnSpc>
                          <a:spcPct val="100000"/>
                        </a:lnSpc>
                        <a:spcAft>
                          <a:spcPts val="0"/>
                        </a:spcAft>
                        <a:defRPr/>
                      </a:pPr>
                      <a:r>
                        <a:rPr sz="1000">
                          <a:solidFill>
                            <a:srgbClr val="417BC1"/>
                          </a:solidFill>
                          <a:latin typeface="Consolas"/>
                        </a:rPr>
                        <a:t>    private final ClienteWSConversor clienteWs;</a:t>
                      </a:r>
                      <a:endParaRPr/>
                    </a:p>
                    <a:p>
                      <a:pPr>
                        <a:lnSpc>
                          <a:spcPct val="100000"/>
                        </a:lnSpc>
                        <a:spcAft>
                          <a:spcPts val="0"/>
                        </a:spcAft>
                        <a:defRPr/>
                      </a:pPr>
                      <a:endParaRPr/>
                    </a:p>
                    <a:p>
                      <a:pPr>
                        <a:lnSpc>
                          <a:spcPct val="100000"/>
                        </a:lnSpc>
                        <a:spcAft>
                          <a:spcPts val="0"/>
                        </a:spcAft>
                        <a:defRPr/>
                      </a:pPr>
                      <a:r>
                        <a:rPr sz="1000">
                          <a:solidFill>
                            <a:srgbClr val="417BC1"/>
                          </a:solidFill>
                          <a:latin typeface="Consolas"/>
                        </a:rPr>
                        <a:t>    public ConversionControlador(ClienteWSConversor clienteWs) {</a:t>
                      </a:r>
                      <a:endParaRPr/>
                    </a:p>
                    <a:p>
                      <a:pPr>
                        <a:lnSpc>
                          <a:spcPct val="100000"/>
                        </a:lnSpc>
                        <a:spcAft>
                          <a:spcPts val="0"/>
                        </a:spcAft>
                        <a:defRPr/>
                      </a:pPr>
                      <a:r>
                        <a:rPr sz="1000">
                          <a:solidFill>
                            <a:srgbClr val="417BC1"/>
                          </a:solidFill>
                          <a:latin typeface="Consolas"/>
                        </a:rPr>
                        <a:t>        this.clienteWs = clienteWs;</a:t>
                      </a:r>
                      <a:endParaRPr/>
                    </a:p>
                    <a:p>
                      <a:pPr>
                        <a:lnSpc>
                          <a:spcPct val="100000"/>
                        </a:lnSpc>
                        <a:spcAft>
                          <a:spcPts val="0"/>
                        </a:spcAft>
                        <a:defRPr/>
                      </a:pPr>
                      <a:r>
                        <a:rPr sz="1000">
                          <a:solidFill>
                            <a:srgbClr val="417BC1"/>
                          </a:solidFill>
                          <a:latin typeface="Consolas"/>
                        </a:rPr>
                        <a:t>    }</a:t>
                      </a:r>
                      <a:endParaRPr/>
                    </a:p>
                    <a:p>
                      <a:pPr>
                        <a:lnSpc>
                          <a:spcPct val="100000"/>
                        </a:lnSpc>
                        <a:spcAft>
                          <a:spcPts val="0"/>
                        </a:spcAft>
                        <a:defRPr/>
                      </a:pPr>
                      <a:r>
                        <a:rPr sz="1000">
                          <a:solidFill>
                            <a:srgbClr val="417BC1"/>
                          </a:solidFill>
                          <a:latin typeface="Consolas"/>
                        </a:rPr>
                        <a:t>   </a:t>
                      </a:r>
                      <a:endParaRPr/>
                    </a:p>
                    <a:p>
                      <a:pPr>
                        <a:lnSpc>
                          <a:spcPct val="100000"/>
                        </a:lnSpc>
                        <a:spcAft>
                          <a:spcPts val="0"/>
                        </a:spcAft>
                        <a:defRPr/>
                      </a:pPr>
                      <a:r>
                        <a:rPr sz="1000">
                          <a:solidFill>
                            <a:srgbClr val="417BC1"/>
                          </a:solidFill>
                          <a:latin typeface="Consolas"/>
                        </a:rPr>
                        <a:t>    public double convertir(ConversionModelo modelo){</a:t>
                      </a:r>
                      <a:endParaRPr/>
                    </a:p>
                    <a:p>
                      <a:pPr>
                        <a:lnSpc>
                          <a:spcPct val="100000"/>
                        </a:lnSpc>
                        <a:spcAft>
                          <a:spcPts val="0"/>
                        </a:spcAft>
                        <a:defRPr/>
                      </a:pPr>
                      <a:r>
                        <a:rPr sz="1000">
                          <a:solidFill>
                            <a:srgbClr val="417BC1"/>
                          </a:solidFill>
                          <a:latin typeface="Consolas"/>
                        </a:rPr>
                        <a:t>        return switch(modelo.getTipoConversion()){</a:t>
                      </a:r>
                      <a:endParaRPr/>
                    </a:p>
                    <a:p>
                      <a:pPr>
                        <a:lnSpc>
                          <a:spcPct val="100000"/>
                        </a:lnSpc>
                        <a:spcAft>
                          <a:spcPts val="0"/>
                        </a:spcAft>
                        <a:defRPr/>
                      </a:pPr>
                      <a:r>
                        <a:rPr sz="1000">
                          <a:solidFill>
                            <a:srgbClr val="417BC1"/>
                          </a:solidFill>
                          <a:latin typeface="Consolas"/>
                        </a:rPr>
                        <a:t>            case LONGITUD -&gt; clienteWs.convertirLongitud(modelo.getValor(), modelo.getValorInicial(), modelo.getValorFinal());</a:t>
                      </a:r>
                      <a:endParaRPr/>
                    </a:p>
                    <a:p>
                      <a:pPr>
                        <a:lnSpc>
                          <a:spcPct val="100000"/>
                        </a:lnSpc>
                        <a:spcAft>
                          <a:spcPts val="0"/>
                        </a:spcAft>
                        <a:defRPr/>
                      </a:pPr>
                      <a:r>
                        <a:rPr sz="1000">
                          <a:solidFill>
                            <a:srgbClr val="417BC1"/>
                          </a:solidFill>
                          <a:latin typeface="Consolas"/>
                        </a:rPr>
                        <a:t>            case MASA -&gt; clienteWs.convertirMasa(modelo.getValor(), modelo.getValorInicial(), modelo.getValorFinal());</a:t>
                      </a:r>
                      <a:endParaRPr/>
                    </a:p>
                    <a:p>
                      <a:pPr>
                        <a:lnSpc>
                          <a:spcPct val="100000"/>
                        </a:lnSpc>
                        <a:spcAft>
                          <a:spcPts val="0"/>
                        </a:spcAft>
                        <a:defRPr/>
                      </a:pPr>
                      <a:r>
                        <a:rPr sz="1000">
                          <a:solidFill>
                            <a:srgbClr val="417BC1"/>
                          </a:solidFill>
                          <a:latin typeface="Consolas"/>
                        </a:rPr>
                        <a:t>            case TEMPERATURA -&gt; clienteWs.convertirTemperatura(modelo.getValor(), modelo.getValorInicial(), modelo.getValorFinal());</a:t>
                      </a:r>
                      <a:endParaRPr/>
                    </a:p>
                    <a:p>
                      <a:pPr>
                        <a:lnSpc>
                          <a:spcPct val="100000"/>
                        </a:lnSpc>
                        <a:spcAft>
                          <a:spcPts val="0"/>
                        </a:spcAft>
                        <a:defRPr/>
                      </a:pPr>
                      <a:r>
                        <a:rPr sz="1000">
                          <a:solidFill>
                            <a:srgbClr val="417BC1"/>
                          </a:solidFill>
                          <a:latin typeface="Consolas"/>
                        </a:rPr>
                        <a:t>        };</a:t>
                      </a:r>
                      <a:endParaRPr/>
                    </a:p>
                  </a:txBody>
                  <a:tcPr marL="63500" marR="63500" marT="63500" marB="63500"/>
                </a:tc>
              </a:tr>
            </a:tbl>
          </a:graphicData>
        </a:graphic>
      </p:graphicFrame>
      <p:graphicFrame>
        <p:nvGraphicFramePr>
          <p:cNvPr id="217562948" name="Google Shape;364;p45"/>
          <p:cNvGraphicFramePr>
            <a:graphicFrameLocks xmlns:a="http://schemas.openxmlformats.org/drawingml/2006/main"/>
          </p:cNvGraphicFramePr>
          <p:nvPr/>
        </p:nvGraphicFramePr>
        <p:xfrm rot="0">
          <a:off x="5684675" y="2041263"/>
          <a:ext cx="3000000" cy="3000000"/>
        </p:xfrm>
        <a:graphic>
          <a:graphicData uri="http://schemas.openxmlformats.org/drawingml/2006/table">
            <a:tbl>
              <a:tblPr firstRow="0" firstCol="0" lastRow="0" lastCol="0" bandRow="0" bandCol="0">
                <a:tableStyleId>{BF136021-7255-42B7-A7E7-87A8D8FFE9CA}</a:tableStyleId>
                <a:noFill/>
              </a:tblPr>
              <a:tblGrid>
                <a:gridCol w="3699025"/>
              </a:tblGrid>
              <a:tr h="3972225">
                <a:tc>
                  <a:txBody>
                    <a:bodyPr/>
                    <a:p>
                      <a:pPr marL="0" lvl="0" indent="0" algn="l" rtl="0">
                        <a:lnSpc>
                          <a:spcPct val="100000"/>
                        </a:lnSpc>
                        <a:spcBef>
                          <a:spcPts val="0"/>
                        </a:spcBef>
                        <a:spcAft>
                          <a:spcPts val="0"/>
                        </a:spcAft>
                        <a:buNone/>
                        <a:defRPr/>
                      </a:pPr>
                      <a:r>
                        <a:rPr sz="1000">
                          <a:solidFill>
                            <a:srgbClr val="417BC1"/>
                          </a:solidFill>
                          <a:latin typeface="Consolas"/>
                        </a:rPr>
                        <a:t>    }</a:t>
                      </a:r>
                      <a:endParaRPr sz="1100">
                        <a:solidFill>
                          <a:srgbClr val="4F81BD"/>
                        </a:solidFill>
                        <a:latin typeface="Calibri"/>
                        <a:ea typeface="Calibri"/>
                        <a:cs typeface="Calibri"/>
                      </a:endParaRPr>
                    </a:p>
                    <a:p>
                      <a:pPr>
                        <a:lnSpc>
                          <a:spcPct val="100000"/>
                        </a:lnSpc>
                        <a:spcAft>
                          <a:spcPts val="0"/>
                        </a:spcAft>
                        <a:defRPr/>
                      </a:pPr>
                      <a:r>
                        <a:rPr sz="100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5936428" name="Google Shape;369;p4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446691791" name="Google Shape;370;p46"/>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650" b="1" i="0">
                <a:solidFill>
                  <a:srgbClr val="373737"/>
                </a:solidFill>
                <a:latin typeface="Cambria"/>
              </a:rPr>
              <a:t>4.2  Validación de consola</a:t>
            </a:r>
            <a:endParaRPr sz="1400" b="1">
              <a:solidFill>
                <a:srgbClr val="17365D"/>
              </a:solidFill>
              <a:latin typeface="Calibri"/>
              <a:ea typeface="Calibri"/>
              <a:cs typeface="Calibri"/>
            </a:endParaRPr>
          </a:p>
          <a:p>
            <a:pPr algn="l">
              <a:spcBef>
                <a:spcPts val="0"/>
              </a:spcBef>
              <a:spcAft>
                <a:spcPts val="600"/>
              </a:spcAft>
              <a:defRPr/>
            </a:pPr>
            <a:r>
              <a:rPr sz="1650" b="0" i="0">
                <a:solidFill>
                  <a:srgbClr val="373737"/>
                </a:solidFill>
                <a:latin typeface="Cambria"/>
              </a:rPr>
              <a:t>Se puede verificar que el cliente funciona de forma correcta, se levanta y tiene comunicación</a:t>
            </a:r>
            <a:endParaRPr/>
          </a:p>
        </p:txBody>
      </p:sp>
      <p:sp>
        <p:nvSpPr>
          <p:cNvPr id="1750798050" name="Google Shape;371;p4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rgbClr val="FFFF00"/>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00"/>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223783881" name="Google Shape;372;p46"/>
          <p:cNvPicPr/>
          <p:nvPr/>
        </p:nvPicPr>
        <p:blipFill rotWithShape="1">
          <a:blip r:embed="rId3">
            <a:alphaModFix/>
          </a:blip>
          <a:stretch/>
        </p:blipFill>
        <p:spPr bwMode="auto">
          <a:xfrm>
            <a:off x="3352842" y="2794000"/>
            <a:ext cx="5486192" cy="250507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5006080" name="Google Shape;377;p4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62823658" name="Google Shape;378;p47"/>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948680462" name="Google Shape;379;p47"/>
          <p:cNvSpPr txBox="1"/>
          <p:nvPr>
            <p:ph type="body" idx="1"/>
          </p:nvPr>
        </p:nvSpPr>
        <p:spPr bwMode="auto">
          <a:xfrm>
            <a:off x="581200" y="1902979"/>
            <a:ext cx="8589300" cy="1170900"/>
          </a:xfrm>
          <a:prstGeom prst="rect">
            <a:avLst/>
          </a:prstGeom>
          <a:noFill/>
          <a:ln>
            <a:noFill/>
          </a:ln>
        </p:spPr>
        <p:txBody>
          <a:bodyPr spcFirstLastPara="1" wrap="square" lIns="27432" tIns="18288" rIns="27432" bIns="18288" anchor="ctr" anchorCtr="0">
            <a:noAutofit/>
          </a:bodyPr>
          <a:lstStyle/>
          <a:p>
            <a:pPr marL="457200" marR="0" lvl="0" indent="-320524" algn="l" rtl="0">
              <a:lnSpc>
                <a:spcPct val="115000"/>
              </a:lnSpc>
              <a:spcBef>
                <a:spcPts val="0"/>
              </a:spcBef>
              <a:spcAft>
                <a:spcPts val="200"/>
              </a:spcAft>
              <a:buSzPct val="100064"/>
              <a:buFont typeface="Cambria"/>
              <a:buChar char="◼"/>
              <a:defRPr/>
            </a:pPr>
            <a:r>
              <a:rPr sz="1450" b="1" i="0">
                <a:solidFill>
                  <a:srgbClr val="373737"/>
                </a:solidFill>
                <a:latin typeface="Cambria"/>
              </a:rPr>
              <a:t>4.3  Proyecto MAUI</a:t>
            </a:r>
            <a:endParaRPr sz="1550">
              <a:latin typeface="Cambria"/>
              <a:ea typeface="Cambria"/>
              <a:cs typeface="Cambria"/>
            </a:endParaRPr>
          </a:p>
          <a:p>
            <a:pPr algn="l">
              <a:spcBef>
                <a:spcPts val="0"/>
              </a:spcBef>
              <a:spcAft>
                <a:spcPts val="600"/>
              </a:spcAft>
              <a:defRPr/>
            </a:pPr>
            <a:r>
              <a:rPr sz="1450" b="0" i="0">
                <a:solidFill>
                  <a:srgbClr val="373737"/>
                </a:solidFill>
                <a:latin typeface="Cambria"/>
              </a:rPr>
              <a:t>Para este caso, para poder optimizar el tiempo se optó por usar el framework de MAUI el cual permite crear un proyecto central el cual después puede adaptarse a las distintas plataformas(web, mobile y Desktop)</a:t>
            </a:r>
            <a:endParaRPr/>
          </a:p>
          <a:p>
            <a:pPr algn="l">
              <a:spcBef>
                <a:spcPts val="0"/>
              </a:spcBef>
              <a:spcAft>
                <a:spcPts val="600"/>
              </a:spcAft>
              <a:defRPr/>
            </a:pPr>
            <a:r>
              <a:rPr sz="1450" b="0" i="0">
                <a:solidFill>
                  <a:srgbClr val="373737"/>
                </a:solidFill>
                <a:latin typeface="Cambria"/>
              </a:rPr>
              <a:t>Para empezar se debe crear el proyecto en visual studio, para ello se selecciona una solucion en blanco.</a:t>
            </a:r>
            <a:endParaRPr/>
          </a:p>
        </p:txBody>
      </p:sp>
      <p:pic>
        <p:nvPicPr>
          <p:cNvPr id="1439499027" name="Google Shape;380;p47"/>
          <p:cNvPicPr/>
          <p:nvPr/>
        </p:nvPicPr>
        <p:blipFill rotWithShape="1">
          <a:blip r:embed="rId3">
            <a:alphaModFix/>
          </a:blip>
          <a:stretch/>
        </p:blipFill>
        <p:spPr bwMode="auto">
          <a:xfrm>
            <a:off x="2175747" y="3158725"/>
            <a:ext cx="5556906" cy="35909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5804854" name="Google Shape;385;p4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5324149" name="Google Shape;386;p48"/>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104226240" name="Google Shape;387;p48"/>
          <p:cNvSpPr txBox="1"/>
          <p:nvPr>
            <p:ph type="body" idx="1"/>
          </p:nvPr>
        </p:nvSpPr>
        <p:spPr bwMode="auto">
          <a:xfrm>
            <a:off x="581200" y="1902979"/>
            <a:ext cx="8589300" cy="1170900"/>
          </a:xfrm>
          <a:prstGeom prst="rect">
            <a:avLst/>
          </a:prstGeom>
          <a:noFill/>
          <a:ln>
            <a:noFill/>
          </a:ln>
        </p:spPr>
        <p:txBody>
          <a:bodyPr spcFirstLastPara="1" wrap="square" lIns="27432" tIns="18288" rIns="27432" bIns="18288" anchor="ctr" anchorCtr="0">
            <a:noAutofit/>
          </a:bodyPr>
          <a:lstStyle/>
          <a:p>
            <a:pPr marL="457200" marR="0" lvl="0" indent="-327978" algn="l" rtl="0">
              <a:lnSpc>
                <a:spcPct val="115000"/>
              </a:lnSpc>
              <a:spcBef>
                <a:spcPts val="0"/>
              </a:spcBef>
              <a:spcAft>
                <a:spcPts val="200"/>
              </a:spcAft>
              <a:buSzPts val="1565"/>
              <a:buFont typeface="Cambria"/>
              <a:buChar char="◼"/>
              <a:defRPr/>
            </a:pPr>
            <a:r>
              <a:rPr sz="1350" b="1" i="0">
                <a:solidFill>
                  <a:srgbClr val="373737"/>
                </a:solidFill>
                <a:latin typeface="Cambria"/>
              </a:rPr>
              <a:t>4.3  Crear solución</a:t>
            </a:r>
            <a:endParaRPr sz="1550">
              <a:latin typeface="Cambria"/>
              <a:ea typeface="Cambria"/>
              <a:cs typeface="Cambria"/>
            </a:endParaRPr>
          </a:p>
          <a:p>
            <a:pPr algn="l">
              <a:spcBef>
                <a:spcPts val="0"/>
              </a:spcBef>
              <a:spcAft>
                <a:spcPts val="600"/>
              </a:spcAft>
              <a:defRPr/>
            </a:pPr>
            <a:r>
              <a:rPr sz="1350" b="0" i="0">
                <a:solidFill>
                  <a:srgbClr val="373737"/>
                </a:solidFill>
                <a:latin typeface="Cambria"/>
              </a:rPr>
              <a:t>Se debe asignar un nombre al proyecto y asignarle un directorio donde se va a guardar el mismo, y solo queda dar clic en crear</a:t>
            </a:r>
            <a:endParaRPr/>
          </a:p>
          <a:p>
            <a:pPr algn="l">
              <a:spcBef>
                <a:spcPts val="0"/>
              </a:spcBef>
              <a:spcAft>
                <a:spcPts val="600"/>
              </a:spcAft>
              <a:defRPr/>
            </a:pPr>
            <a:r>
              <a:rPr sz="1350" b="0" i="0">
                <a:solidFill>
                  <a:srgbClr val="373737"/>
                </a:solidFill>
                <a:latin typeface="Cambria"/>
              </a:rPr>
              <a:t>Con la solución en blanco vamos a ir agregando los diferentes proyectos necesarios para todos los tipos de clientes, primero se debe agregar un nuevo proyecto.</a:t>
            </a:r>
            <a:endParaRPr/>
          </a:p>
        </p:txBody>
      </p:sp>
      <p:pic>
        <p:nvPicPr>
          <p:cNvPr id="1203024355" name="Google Shape;388;p48"/>
          <p:cNvPicPr/>
          <p:nvPr/>
        </p:nvPicPr>
        <p:blipFill rotWithShape="1">
          <a:blip r:embed="rId3">
            <a:alphaModFix/>
          </a:blip>
          <a:stretch/>
        </p:blipFill>
        <p:spPr bwMode="auto">
          <a:xfrm>
            <a:off x="229253" y="3803100"/>
            <a:ext cx="3998019" cy="2581000"/>
          </a:xfrm>
          <a:prstGeom prst="rect">
            <a:avLst/>
          </a:prstGeom>
          <a:noFill/>
          <a:ln>
            <a:noFill/>
          </a:ln>
        </p:spPr>
      </p:pic>
      <p:pic>
        <p:nvPicPr>
          <p:cNvPr id="1027194149" name="Google Shape;389;p48"/>
          <p:cNvPicPr/>
          <p:nvPr/>
        </p:nvPicPr>
        <p:blipFill rotWithShape="1">
          <a:blip r:embed="rId4">
            <a:alphaModFix/>
          </a:blip>
          <a:stretch/>
        </p:blipFill>
        <p:spPr bwMode="auto">
          <a:xfrm>
            <a:off x="5269941" y="4002274"/>
            <a:ext cx="3053793" cy="189407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9115341" name="Google Shape;394;p49"/>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78656275" name="Google Shape;395;p49"/>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793474283" name="Google Shape;396;p49"/>
          <p:cNvPicPr/>
          <p:nvPr/>
        </p:nvPicPr>
        <p:blipFill rotWithShape="1">
          <a:blip r:embed="rId3">
            <a:alphaModFix/>
          </a:blip>
          <a:stretch/>
        </p:blipFill>
        <p:spPr bwMode="auto">
          <a:xfrm>
            <a:off x="105764" y="3452938"/>
            <a:ext cx="4429746" cy="2874750"/>
          </a:xfrm>
          <a:prstGeom prst="rect">
            <a:avLst/>
          </a:prstGeom>
          <a:noFill/>
          <a:ln>
            <a:noFill/>
          </a:ln>
        </p:spPr>
      </p:pic>
      <p:pic>
        <p:nvPicPr>
          <p:cNvPr id="1146989900" name="Google Shape;397;p49"/>
          <p:cNvPicPr/>
          <p:nvPr/>
        </p:nvPicPr>
        <p:blipFill rotWithShape="1">
          <a:blip r:embed="rId4">
            <a:alphaModFix/>
          </a:blip>
          <a:stretch/>
        </p:blipFill>
        <p:spPr bwMode="auto">
          <a:xfrm>
            <a:off x="4772900" y="3454097"/>
            <a:ext cx="4460247" cy="2872430"/>
          </a:xfrm>
          <a:prstGeom prst="rect">
            <a:avLst/>
          </a:prstGeom>
          <a:noFill/>
          <a:ln>
            <a:noFill/>
          </a:ln>
        </p:spPr>
      </p:pic>
      <p:sp>
        <p:nvSpPr>
          <p:cNvPr id="1994332662" name="Google Shape;398;p49"/>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marR="0" lvl="0" indent="-327914" algn="l" rtl="0">
              <a:lnSpc>
                <a:spcPct val="115000"/>
              </a:lnSpc>
              <a:spcBef>
                <a:spcPts val="0"/>
              </a:spcBef>
              <a:spcAft>
                <a:spcPts val="200"/>
              </a:spcAft>
              <a:buSzPts val="1564"/>
              <a:buFont typeface="Cambria"/>
              <a:buChar char="◼"/>
              <a:defRPr/>
            </a:pPr>
            <a:r>
              <a:rPr sz="1350" b="1" i="0">
                <a:solidFill>
                  <a:srgbClr val="373737"/>
                </a:solidFill>
                <a:latin typeface="Cambria"/>
              </a:rPr>
              <a:t>4.3  Biblioteca compartida</a:t>
            </a:r>
            <a:endParaRPr sz="1550">
              <a:latin typeface="Cambria"/>
              <a:ea typeface="Cambria"/>
              <a:cs typeface="Cambria"/>
            </a:endParaRPr>
          </a:p>
          <a:p>
            <a:pPr algn="l">
              <a:spcBef>
                <a:spcPts val="0"/>
              </a:spcBef>
              <a:spcAft>
                <a:spcPts val="600"/>
              </a:spcAft>
              <a:defRPr/>
            </a:pPr>
            <a:r>
              <a:rPr sz="1350" b="0" i="0">
                <a:solidFill>
                  <a:srgbClr val="373737"/>
                </a:solidFill>
                <a:latin typeface="Cambria"/>
              </a:rPr>
              <a:t>para el primero(central) se va a seleccionar la plantilla de Biblioteca de clases de Razor</a:t>
            </a:r>
            <a:endParaRPr/>
          </a:p>
          <a:p>
            <a:pPr algn="l">
              <a:spcBef>
                <a:spcPts val="0"/>
              </a:spcBef>
              <a:spcAft>
                <a:spcPts val="600"/>
              </a:spcAft>
              <a:defRPr/>
            </a:pPr>
            <a:r>
              <a:rPr sz="1350" b="0" i="0">
                <a:solidFill>
                  <a:srgbClr val="373737"/>
                </a:solidFill>
                <a:latin typeface="Cambria"/>
              </a:rPr>
              <a:t>se debe darle un nombre, seleccionar una ubicación, para este caso se denomina con .shared al final del proyecto para denotar cual es el central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7347052" name="Google Shape;403;p50"/>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418042179" name="Google Shape;404;p50"/>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969783178" name="Google Shape;405;p50"/>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marR="0" lvl="0" indent="-327914" algn="l" rtl="0">
              <a:lnSpc>
                <a:spcPct val="115000"/>
              </a:lnSpc>
              <a:spcBef>
                <a:spcPts val="0"/>
              </a:spcBef>
              <a:spcAft>
                <a:spcPts val="200"/>
              </a:spcAft>
              <a:buSzPts val="1564"/>
              <a:buFont typeface="Cambria"/>
              <a:buChar char="◼"/>
              <a:defRPr/>
            </a:pPr>
            <a:r>
              <a:rPr sz="1350" b="1" i="0">
                <a:solidFill>
                  <a:srgbClr val="373737"/>
                </a:solidFill>
                <a:latin typeface="Cambria"/>
              </a:rPr>
              <a:t>4.3  Cliente Blazor Web</a:t>
            </a:r>
            <a:endParaRPr sz="1550">
              <a:latin typeface="Cambria"/>
              <a:ea typeface="Cambria"/>
              <a:cs typeface="Cambria"/>
            </a:endParaRPr>
          </a:p>
          <a:p>
            <a:pPr algn="l">
              <a:spcBef>
                <a:spcPts val="0"/>
              </a:spcBef>
              <a:spcAft>
                <a:spcPts val="600"/>
              </a:spcAft>
              <a:defRPr/>
            </a:pPr>
            <a:r>
              <a:rPr sz="1350" b="0" i="0">
                <a:solidFill>
                  <a:srgbClr val="373737"/>
                </a:solidFill>
                <a:latin typeface="Cambria"/>
              </a:rPr>
              <a:t>Para el proyecto web, se debe volver agregar un nuevo proyecto.</a:t>
            </a:r>
            <a:endParaRPr/>
          </a:p>
          <a:p>
            <a:pPr algn="l">
              <a:spcBef>
                <a:spcPts val="0"/>
              </a:spcBef>
              <a:spcAft>
                <a:spcPts val="600"/>
              </a:spcAft>
              <a:defRPr/>
            </a:pPr>
            <a:r>
              <a:rPr sz="1350" b="0" i="0">
                <a:solidFill>
                  <a:srgbClr val="373737"/>
                </a:solidFill>
                <a:latin typeface="Cambria"/>
              </a:rPr>
              <a:t>Pero para este caso en la plantilla se debe seleccionar Aplicación web de Blazor</a:t>
            </a:r>
            <a:endParaRPr/>
          </a:p>
        </p:txBody>
      </p:sp>
      <p:pic>
        <p:nvPicPr>
          <p:cNvPr id="233737220" name="Google Shape;406;p50"/>
          <p:cNvPicPr/>
          <p:nvPr/>
        </p:nvPicPr>
        <p:blipFill rotWithShape="1">
          <a:blip r:embed="rId3">
            <a:alphaModFix/>
          </a:blip>
          <a:stretch/>
        </p:blipFill>
        <p:spPr bwMode="auto">
          <a:xfrm>
            <a:off x="256575" y="4297513"/>
            <a:ext cx="3705225" cy="1479674"/>
          </a:xfrm>
          <a:prstGeom prst="rect">
            <a:avLst/>
          </a:prstGeom>
          <a:noFill/>
          <a:ln>
            <a:noFill/>
          </a:ln>
        </p:spPr>
      </p:pic>
      <p:pic>
        <p:nvPicPr>
          <p:cNvPr id="598279379" name="Google Shape;407;p50"/>
          <p:cNvPicPr/>
          <p:nvPr/>
        </p:nvPicPr>
        <p:blipFill rotWithShape="1">
          <a:blip r:embed="rId4">
            <a:alphaModFix/>
          </a:blip>
          <a:stretch/>
        </p:blipFill>
        <p:spPr bwMode="auto">
          <a:xfrm>
            <a:off x="5204696" y="3793250"/>
            <a:ext cx="2869132" cy="18455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6675842" name="Google Shape;412;p51"/>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57037552" name="Google Shape;413;p51"/>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164630239" name="Google Shape;414;p51"/>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marR="0" lvl="0" indent="-327914" algn="l" rtl="0">
              <a:lnSpc>
                <a:spcPct val="115000"/>
              </a:lnSpc>
              <a:spcBef>
                <a:spcPts val="0"/>
              </a:spcBef>
              <a:spcAft>
                <a:spcPts val="200"/>
              </a:spcAft>
              <a:buSzPts val="1564"/>
              <a:buFont typeface="Cambria"/>
              <a:buChar char="◼"/>
              <a:defRPr/>
            </a:pPr>
            <a:r>
              <a:rPr sz="1350" b="1" i="0">
                <a:solidFill>
                  <a:srgbClr val="373737"/>
                </a:solidFill>
                <a:latin typeface="Cambria"/>
              </a:rPr>
              <a:t>4.3  Configuración de Web</a:t>
            </a:r>
            <a:endParaRPr sz="1550">
              <a:latin typeface="Cambria"/>
              <a:ea typeface="Cambria"/>
              <a:cs typeface="Cambria"/>
            </a:endParaRPr>
          </a:p>
          <a:p>
            <a:pPr algn="l">
              <a:spcBef>
                <a:spcPts val="0"/>
              </a:spcBef>
              <a:spcAft>
                <a:spcPts val="600"/>
              </a:spcAft>
              <a:defRPr/>
            </a:pPr>
            <a:r>
              <a:rPr sz="1350" b="0" i="0">
                <a:solidFill>
                  <a:srgbClr val="373737"/>
                </a:solidFill>
                <a:latin typeface="Cambria"/>
              </a:rPr>
              <a:t>A fin de poder identificar el proyecto este terminara con .web y su ubicacion sera en el directorio correspondiente a ese cliente</a:t>
            </a:r>
            <a:endParaRPr/>
          </a:p>
          <a:p>
            <a:pPr algn="l">
              <a:spcBef>
                <a:spcPts val="0"/>
              </a:spcBef>
              <a:spcAft>
                <a:spcPts val="600"/>
              </a:spcAft>
              <a:defRPr/>
            </a:pPr>
            <a:r>
              <a:rPr sz="1350" b="0" i="0">
                <a:solidFill>
                  <a:srgbClr val="373737"/>
                </a:solidFill>
                <a:latin typeface="Cambria"/>
              </a:rPr>
              <a:t>De igual manera se usara .Net 10.0 como versión del framework, este proyecto generar 2 el .web que definimos y no .web.client.</a:t>
            </a:r>
            <a:endParaRPr/>
          </a:p>
        </p:txBody>
      </p:sp>
      <p:pic>
        <p:nvPicPr>
          <p:cNvPr id="1643691068" name="Google Shape;415;p51"/>
          <p:cNvPicPr/>
          <p:nvPr/>
        </p:nvPicPr>
        <p:blipFill rotWithShape="1">
          <a:blip r:embed="rId3">
            <a:alphaModFix/>
          </a:blip>
          <a:stretch/>
        </p:blipFill>
        <p:spPr bwMode="auto">
          <a:xfrm>
            <a:off x="110077" y="3471274"/>
            <a:ext cx="4472093" cy="2895600"/>
          </a:xfrm>
          <a:prstGeom prst="rect">
            <a:avLst/>
          </a:prstGeom>
          <a:noFill/>
          <a:ln>
            <a:noFill/>
          </a:ln>
        </p:spPr>
      </p:pic>
      <p:pic>
        <p:nvPicPr>
          <p:cNvPr id="1998274939" name="Google Shape;416;p51"/>
          <p:cNvPicPr/>
          <p:nvPr/>
        </p:nvPicPr>
        <p:blipFill rotWithShape="1">
          <a:blip r:embed="rId4">
            <a:alphaModFix/>
          </a:blip>
          <a:stretch/>
        </p:blipFill>
        <p:spPr bwMode="auto">
          <a:xfrm>
            <a:off x="5548849" y="3471274"/>
            <a:ext cx="2803528" cy="27053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2573315" name="Google Shape;421;p52"/>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840792017" name="Google Shape;422;p52"/>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241838528" name="Google Shape;423;p52"/>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marR="0" lvl="0" indent="-327914" algn="l" rtl="0">
              <a:lnSpc>
                <a:spcPct val="115000"/>
              </a:lnSpc>
              <a:spcBef>
                <a:spcPts val="0"/>
              </a:spcBef>
              <a:spcAft>
                <a:spcPts val="200"/>
              </a:spcAft>
              <a:buSzPts val="1564"/>
              <a:buFont typeface="Cambria"/>
              <a:buChar char="◼"/>
              <a:defRPr/>
            </a:pPr>
            <a:r>
              <a:rPr sz="1350" b="1" i="0">
                <a:solidFill>
                  <a:srgbClr val="373737"/>
                </a:solidFill>
                <a:latin typeface="Cambria"/>
              </a:rPr>
              <a:t>4.3  Proyecto MAUI Hybrid</a:t>
            </a:r>
            <a:endParaRPr sz="1550">
              <a:latin typeface="Cambria"/>
              <a:ea typeface="Cambria"/>
              <a:cs typeface="Cambria"/>
            </a:endParaRPr>
          </a:p>
          <a:p>
            <a:pPr algn="l">
              <a:spcBef>
                <a:spcPts val="0"/>
              </a:spcBef>
              <a:spcAft>
                <a:spcPts val="600"/>
              </a:spcAft>
              <a:defRPr/>
            </a:pPr>
            <a:r>
              <a:rPr sz="1350" b="0" i="0">
                <a:solidFill>
                  <a:srgbClr val="373737"/>
                </a:solidFill>
                <a:latin typeface="Cambria"/>
              </a:rPr>
              <a:t>Para el caso de clientes mobile y desktop se va a crear un proyecto afín para estas plataformas, por lo que una vez más es necesario agregar un nuevo proyecto.</a:t>
            </a:r>
            <a:endParaRPr/>
          </a:p>
          <a:p>
            <a:pPr algn="l">
              <a:spcBef>
                <a:spcPts val="0"/>
              </a:spcBef>
              <a:spcAft>
                <a:spcPts val="600"/>
              </a:spcAft>
              <a:defRPr/>
            </a:pPr>
            <a:r>
              <a:rPr sz="1350" b="0" i="0">
                <a:solidFill>
                  <a:srgbClr val="373737"/>
                </a:solidFill>
                <a:latin typeface="Cambria"/>
              </a:rPr>
              <a:t>la plantilla para este caso es la de aplicación de .NET MAUI Blazor Hybrid la cual permite fusionar la plataforma desktop y mobile.</a:t>
            </a:r>
            <a:endParaRPr/>
          </a:p>
        </p:txBody>
      </p:sp>
      <p:pic>
        <p:nvPicPr>
          <p:cNvPr id="48105073" name="Google Shape;424;p52"/>
          <p:cNvPicPr/>
          <p:nvPr/>
        </p:nvPicPr>
        <p:blipFill rotWithShape="1">
          <a:blip r:embed="rId3">
            <a:alphaModFix/>
          </a:blip>
          <a:stretch/>
        </p:blipFill>
        <p:spPr bwMode="auto">
          <a:xfrm>
            <a:off x="809111" y="3910850"/>
            <a:ext cx="2823429" cy="1826175"/>
          </a:xfrm>
          <a:prstGeom prst="rect">
            <a:avLst/>
          </a:prstGeom>
          <a:noFill/>
          <a:ln>
            <a:noFill/>
          </a:ln>
        </p:spPr>
      </p:pic>
      <p:pic>
        <p:nvPicPr>
          <p:cNvPr id="529651680" name="Google Shape;425;p52"/>
          <p:cNvPicPr/>
          <p:nvPr/>
        </p:nvPicPr>
        <p:blipFill rotWithShape="1">
          <a:blip r:embed="rId4">
            <a:alphaModFix/>
          </a:blip>
          <a:stretch/>
        </p:blipFill>
        <p:spPr bwMode="auto">
          <a:xfrm>
            <a:off x="4429438" y="3452477"/>
            <a:ext cx="4732200" cy="306251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7923999" name="Google Shape;421;p52"/>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343681053" name="Google Shape;422;p52"/>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870530258" name="Google Shape;423;p52"/>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marR="0" lvl="0" indent="-327914" algn="l" rtl="0">
              <a:lnSpc>
                <a:spcPct val="115000"/>
              </a:lnSpc>
              <a:spcBef>
                <a:spcPts val="0"/>
              </a:spcBef>
              <a:spcAft>
                <a:spcPts val="200"/>
              </a:spcAft>
              <a:buSzPts val="1564"/>
              <a:buFont typeface="Cambria"/>
              <a:buChar char="◼"/>
              <a:defRPr/>
            </a:pPr>
            <a:r>
              <a:rPr sz="1500" b="1" i="0">
                <a:solidFill>
                  <a:srgbClr val="373737"/>
                </a:solidFill>
                <a:latin typeface="Cambria"/>
              </a:rPr>
              <a:t>4.3  Referenciar biblioteca compartida</a:t>
            </a:r>
            <a:endParaRPr sz="1550">
              <a:latin typeface="Cambria"/>
              <a:ea typeface="Cambria"/>
              <a:cs typeface="Cambria"/>
            </a:endParaRPr>
          </a:p>
          <a:p>
            <a:pPr algn="l">
              <a:spcBef>
                <a:spcPts val="0"/>
              </a:spcBef>
              <a:spcAft>
                <a:spcPts val="600"/>
              </a:spcAft>
              <a:defRPr/>
            </a:pPr>
            <a:r>
              <a:rPr sz="1500" b="0" i="0">
                <a:solidFill>
                  <a:srgbClr val="373737"/>
                </a:solidFill>
                <a:latin typeface="Cambria"/>
              </a:rPr>
              <a:t>Se vincula el proyecto .Shared a los clientes Web y MAUI para reutilizar componentes y servicios.</a:t>
            </a:r>
            <a:endParaRPr/>
          </a:p>
        </p:txBody>
      </p:sp>
      <p:pic>
        <p:nvPicPr>
          <p:cNvPr id="292848530" name="Google Shape;424;p52"/>
          <p:cNvPicPr/>
          <p:nvPr/>
        </p:nvPicPr>
        <p:blipFill rotWithShape="1">
          <a:blip r:embed="rId3">
            <a:alphaModFix/>
          </a:blip>
          <a:stretch/>
        </p:blipFill>
        <p:spPr bwMode="auto">
          <a:xfrm>
            <a:off x="899990" y="3910850"/>
            <a:ext cx="2641670" cy="1826175"/>
          </a:xfrm>
          <a:prstGeom prst="rect">
            <a:avLst/>
          </a:prstGeom>
          <a:noFill/>
          <a:ln>
            <a:noFill/>
          </a:ln>
        </p:spPr>
      </p:pic>
      <p:pic>
        <p:nvPicPr>
          <p:cNvPr id="689606443" name="Google Shape;425;p52"/>
          <p:cNvPicPr/>
          <p:nvPr/>
        </p:nvPicPr>
        <p:blipFill rotWithShape="1">
          <a:blip r:embed="rId4">
            <a:alphaModFix/>
          </a:blip>
          <a:stretch/>
        </p:blipFill>
        <p:spPr bwMode="auto">
          <a:xfrm>
            <a:off x="4429438" y="3927328"/>
            <a:ext cx="4732200" cy="211280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3465161" name="Google Shape;430;p53"/>
          <p:cNvSpPr txBox="1"/>
          <p:nvPr>
            <p:ph type="title"/>
          </p:nvPr>
        </p:nvSpPr>
        <p:spPr bwMode="auto">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434449720" name="Google Shape;431;p53"/>
          <p:cNvSpPr/>
          <p:nvPr/>
        </p:nvSpPr>
        <p:spPr bwMode="auto">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095006669" name="Google Shape;432;p53"/>
          <p:cNvSpPr txBox="1"/>
          <p:nvPr>
            <p:ph type="body" idx="1"/>
          </p:nvPr>
        </p:nvSpPr>
        <p:spPr bwMode="auto">
          <a:xfrm>
            <a:off x="514225" y="1888629"/>
            <a:ext cx="8589300" cy="1170900"/>
          </a:xfrm>
          <a:prstGeom prst="rect">
            <a:avLst/>
          </a:prstGeom>
          <a:noFill/>
          <a:ln>
            <a:noFill/>
          </a:ln>
        </p:spPr>
        <p:txBody>
          <a:bodyPr spcFirstLastPara="1" wrap="square" lIns="27432" tIns="18288" rIns="27432" bIns="18288" anchor="ctr" anchorCtr="0">
            <a:noAutofit/>
          </a:bodyPr>
          <a:lstStyle/>
          <a:p>
            <a:pPr marL="457200" lvl="0" indent="-327914" algn="l" rtl="0">
              <a:lnSpc>
                <a:spcPct val="115000"/>
              </a:lnSpc>
              <a:spcBef>
                <a:spcPts val="0"/>
              </a:spcBef>
              <a:spcAft>
                <a:spcPts val="200"/>
              </a:spcAft>
              <a:buSzPts val="1564"/>
              <a:buFont typeface="Cambria"/>
              <a:buChar char="◼"/>
              <a:defRPr/>
            </a:pPr>
            <a:r>
              <a:rPr sz="1650" b="1" i="0">
                <a:solidFill>
                  <a:srgbClr val="373737"/>
                </a:solidFill>
                <a:latin typeface="Cambria"/>
              </a:rPr>
              <a:t>4.3  Organización del proyecto</a:t>
            </a:r>
            <a:endParaRPr sz="1550">
              <a:latin typeface="Cambria"/>
              <a:ea typeface="Cambria"/>
              <a:cs typeface="Cambria"/>
            </a:endParaRPr>
          </a:p>
          <a:p>
            <a:pPr algn="l">
              <a:spcBef>
                <a:spcPts val="0"/>
              </a:spcBef>
              <a:spcAft>
                <a:spcPts val="600"/>
              </a:spcAft>
              <a:defRPr/>
            </a:pPr>
            <a:r>
              <a:rPr sz="1650" b="0" i="0">
                <a:solidFill>
                  <a:srgbClr val="373737"/>
                </a:solidFill>
                <a:latin typeface="Cambria"/>
              </a:rPr>
              <a:t>Lo que sigue es ir creando los diferentes paquetes que se van a usar.</a:t>
            </a:r>
            <a:endParaRPr/>
          </a:p>
        </p:txBody>
      </p:sp>
      <p:pic>
        <p:nvPicPr>
          <p:cNvPr id="446723199" name="Google Shape;433;p53"/>
          <p:cNvPicPr/>
          <p:nvPr/>
        </p:nvPicPr>
        <p:blipFill rotWithShape="1">
          <a:blip r:embed="rId3">
            <a:alphaModFix/>
          </a:blip>
          <a:stretch/>
        </p:blipFill>
        <p:spPr bwMode="auto">
          <a:xfrm>
            <a:off x="1164400" y="2906508"/>
            <a:ext cx="5611251" cy="376615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4767077" name="Google Shape;438;p5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402818345" name="Google Shape;439;p54"/>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IAdaptadorAutenticacion — fragmento de código</a:t>
            </a:r>
            <a:endParaRPr/>
          </a:p>
        </p:txBody>
      </p:sp>
      <p:sp>
        <p:nvSpPr>
          <p:cNvPr id="1504035815" name="Google Shape;440;p5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911260730" name="Google Shape;441;p54"/>
          <p:cNvGraphicFramePr>
            <a:graphicFrameLocks xmlns:a="http://schemas.openxmlformats.org/drawingml/2006/main"/>
          </p:cNvGraphicFramePr>
          <p:nvPr/>
        </p:nvGraphicFramePr>
        <p:xfrm rot="0">
          <a:off x="2311225" y="2755638"/>
          <a:ext cx="3000000" cy="3000000"/>
        </p:xfrm>
        <a:graphic>
          <a:graphicData uri="http://schemas.openxmlformats.org/drawingml/2006/table">
            <a:tbl>
              <a:tblPr firstRow="0" firstCol="0" lastRow="0" lastCol="0" bandRow="0" bandCol="0">
                <a:tableStyleId>{BF136021-7255-42B7-A7E7-87A8D8FFE9CA}</a:tableStyleId>
                <a:noFill/>
              </a:tblPr>
              <a:tblGrid>
                <a:gridCol w="5903875"/>
              </a:tblGrid>
              <a:tr h="2513700">
                <a:tc>
                  <a:txBody>
                    <a:bodyPr/>
                    <a:p>
                      <a:pPr marL="0" lvl="0" indent="0" algn="l" rtl="0">
                        <a:lnSpc>
                          <a:spcPct val="100000"/>
                        </a:lnSpc>
                        <a:spcBef>
                          <a:spcPts val="0"/>
                        </a:spcBef>
                        <a:spcAft>
                          <a:spcPts val="0"/>
                        </a:spcAft>
                        <a:buNone/>
                        <a:defRPr/>
                      </a:pPr>
                      <a:r>
                        <a:rPr sz="800">
                          <a:solidFill>
                            <a:srgbClr val="417BC1"/>
                          </a:solidFill>
                          <a:latin typeface="Consolas"/>
                        </a:rPr>
                        <a:t>using ec.edu.monster.Modelos;</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using System;</a:t>
                      </a:r>
                      <a:endParaRPr/>
                    </a:p>
                    <a:p>
                      <a:pPr>
                        <a:lnSpc>
                          <a:spcPct val="100000"/>
                        </a:lnSpc>
                        <a:spcBef>
                          <a:spcPts val="0"/>
                        </a:spcBef>
                        <a:spcAft>
                          <a:spcPts val="0"/>
                        </a:spcAft>
                        <a:defRPr/>
                      </a:pPr>
                      <a:r>
                        <a:rPr sz="800">
                          <a:solidFill>
                            <a:srgbClr val="417BC1"/>
                          </a:solidFill>
                          <a:latin typeface="Consolas"/>
                        </a:rPr>
                        <a:t>using System.Collections.Generic;</a:t>
                      </a:r>
                      <a:endParaRPr/>
                    </a:p>
                    <a:p>
                      <a:pPr>
                        <a:lnSpc>
                          <a:spcPct val="100000"/>
                        </a:lnSpc>
                        <a:spcBef>
                          <a:spcPts val="0"/>
                        </a:spcBef>
                        <a:spcAft>
                          <a:spcPts val="0"/>
                        </a:spcAft>
                        <a:defRPr/>
                      </a:pPr>
                      <a:r>
                        <a:rPr sz="800">
                          <a:solidFill>
                            <a:srgbClr val="417BC1"/>
                          </a:solidFill>
                          <a:latin typeface="Consolas"/>
                        </a:rPr>
                        <a:t>using System.Text;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namespace ec.edu.monster.Interfaces;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public interface IAdaptadorAutenticacion</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TipoBackend Tipo { get; }</a:t>
                      </a:r>
                      <a:endParaRPr/>
                    </a:p>
                    <a:p>
                      <a:pPr>
                        <a:lnSpc>
                          <a:spcPct val="100000"/>
                        </a:lnSpc>
                        <a:spcBef>
                          <a:spcPts val="0"/>
                        </a:spcBef>
                        <a:spcAft>
                          <a:spcPts val="0"/>
                        </a:spcAft>
                        <a:defRPr/>
                      </a:pPr>
                      <a:r>
                        <a:rPr sz="800">
                          <a:solidFill>
                            <a:srgbClr val="417BC1"/>
                          </a:solidFill>
                          <a:latin typeface="Consolas"/>
                        </a:rPr>
                        <a:t>    Task&lt;string&gt; IniciarSesionAsync(string usuario, string contrasenia);</a:t>
                      </a:r>
                      <a:endParaRPr/>
                    </a:p>
                    <a:p>
                      <a:pPr>
                        <a:lnSpc>
                          <a:spcPct val="100000"/>
                        </a:lnSpc>
                        <a:spcBef>
                          <a:spcPts val="0"/>
                        </a:spcBef>
                        <a:spcAft>
                          <a:spcPts val="0"/>
                        </a:spcAft>
                        <a:defRPr/>
                      </a:pPr>
                      <a:r>
                        <a:rPr sz="800">
                          <a:solidFill>
                            <a:srgbClr val="417BC1"/>
                          </a:solidFill>
                          <a:latin typeface="Consolas"/>
                        </a:rPr>
                        <a:t>    Task&lt;string&gt; CambiarContraseniaAsync(string contraseniaActual, string contraseniaNueva, string token);</a:t>
                      </a:r>
                      <a:endParaRPr/>
                    </a:p>
                    <a:p>
                      <a:pPr>
                        <a:lnSpc>
                          <a:spcPct val="100000"/>
                        </a:lnSpc>
                        <a:spcBef>
                          <a:spcPts val="0"/>
                        </a:spcBef>
                        <a:spcAft>
                          <a:spcPts val="0"/>
                        </a:spcAft>
                        <a:defRPr/>
                      </a:pPr>
                      <a:r>
                        <a:rPr sz="80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9476649" name="Google Shape;446;p5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954164556" name="Google Shape;447;p5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ConstantesRed — fragmento de código</a:t>
            </a:r>
            <a:endParaRPr/>
          </a:p>
        </p:txBody>
      </p:sp>
      <p:sp>
        <p:nvSpPr>
          <p:cNvPr id="1917869722" name="Google Shape;448;p5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93403991" name="Google Shape;449;p55"/>
          <p:cNvGraphicFramePr>
            <a:graphicFrameLocks xmlns:a="http://schemas.openxmlformats.org/drawingml/2006/main"/>
          </p:cNvGraphicFramePr>
          <p:nvPr/>
        </p:nvGraphicFramePr>
        <p:xfrm rot="0">
          <a:off x="2311225" y="2755638"/>
          <a:ext cx="3000000" cy="3000000"/>
        </p:xfrm>
        <a:graphic>
          <a:graphicData uri="http://schemas.openxmlformats.org/drawingml/2006/table">
            <a:tbl>
              <a:tblPr firstRow="0" firstCol="0" lastRow="0" lastCol="0" bandRow="0" bandCol="0">
                <a:tableStyleId>{BF136021-7255-42B7-A7E7-87A8D8FFE9CA}</a:tableStyleId>
                <a:noFill/>
              </a:tblPr>
              <a:tblGrid>
                <a:gridCol w="5903875"/>
              </a:tblGrid>
              <a:tr h="2513700">
                <a:tc>
                  <a:txBody>
                    <a:bodyPr/>
                    <a:p>
                      <a:pPr marL="0" lvl="0" indent="0" algn="l" rtl="0">
                        <a:lnSpc>
                          <a:spcPct val="100000"/>
                        </a:lnSpc>
                        <a:spcBef>
                          <a:spcPts val="0"/>
                        </a:spcBef>
                        <a:spcAft>
                          <a:spcPts val="0"/>
                        </a:spcAft>
                        <a:buNone/>
                        <a:defRPr/>
                      </a:pPr>
                      <a:r>
                        <a:rPr sz="800">
                          <a:solidFill>
                            <a:srgbClr val="417BC1"/>
                          </a:solidFill>
                          <a:latin typeface="Consolas"/>
                        </a:rPr>
                        <a:t>using System;</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using System.Collections.Generic;</a:t>
                      </a:r>
                      <a:endParaRPr/>
                    </a:p>
                    <a:p>
                      <a:pPr>
                        <a:lnSpc>
                          <a:spcPct val="100000"/>
                        </a:lnSpc>
                        <a:spcBef>
                          <a:spcPts val="0"/>
                        </a:spcBef>
                        <a:spcAft>
                          <a:spcPts val="0"/>
                        </a:spcAft>
                        <a:defRPr/>
                      </a:pPr>
                      <a:r>
                        <a:rPr sz="800">
                          <a:solidFill>
                            <a:srgbClr val="417BC1"/>
                          </a:solidFill>
                          <a:latin typeface="Consolas"/>
                        </a:rPr>
                        <a:t>using System.Text;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namespace ec.edu.monster.Modelos;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public static class ConstantesRed</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 cambiar 'localhost' por la IP local del seervidorWS</a:t>
                      </a:r>
                      <a:endParaRPr/>
                    </a:p>
                    <a:p>
                      <a:pPr>
                        <a:lnSpc>
                          <a:spcPct val="100000"/>
                        </a:lnSpc>
                        <a:spcBef>
                          <a:spcPts val="0"/>
                        </a:spcBef>
                        <a:spcAft>
                          <a:spcPts val="0"/>
                        </a:spcAft>
                        <a:defRPr/>
                      </a:pPr>
                      <a:r>
                        <a:rPr sz="800">
                          <a:solidFill>
                            <a:srgbClr val="417BC1"/>
                          </a:solidFill>
                          <a:latin typeface="Consolas"/>
                        </a:rPr>
                        <a:t>    public const string IP_WEB_SERVICES = "localhost";</a:t>
                      </a:r>
                      <a:endParaRPr/>
                    </a:p>
                    <a:p>
                      <a:pPr>
                        <a:lnSpc>
                          <a:spcPct val="100000"/>
                        </a:lnSpc>
                        <a:spcBef>
                          <a:spcPts val="0"/>
                        </a:spcBef>
                        <a:spcAft>
                          <a:spcPts val="0"/>
                        </a:spcAft>
                        <a:defRPr/>
                      </a:pPr>
                      <a:r>
                        <a:rPr sz="800">
                          <a:solidFill>
                            <a:srgbClr val="417BC1"/>
                          </a:solidFill>
                          <a:latin typeface="Consolas"/>
                        </a:rPr>
                        <a:t>    public const string UrlJavaSoap = $"http://{IP_WEB_SERVICES}:8080/WS_ConUni_Java_SOAP_GR01/WSConversorUnidades";</a:t>
                      </a:r>
                      <a:endParaRPr/>
                    </a:p>
                    <a:p>
                      <a:pPr>
                        <a:lnSpc>
                          <a:spcPct val="100000"/>
                        </a:lnSpc>
                        <a:spcBef>
                          <a:spcPts val="0"/>
                        </a:spcBef>
                        <a:spcAft>
                          <a:spcPts val="0"/>
                        </a:spcAft>
                        <a:defRPr/>
                      </a:pPr>
                      <a:r>
                        <a:rPr sz="80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4101396" name="Google Shape;454;p5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51457229" name="Google Shape;455;p56"/>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EnumUnidades — fragmento de código</a:t>
            </a:r>
            <a:endParaRPr/>
          </a:p>
        </p:txBody>
      </p:sp>
      <p:sp>
        <p:nvSpPr>
          <p:cNvPr id="1409355511" name="Google Shape;456;p5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392078422" name="Google Shape;457;p56"/>
          <p:cNvGraphicFramePr>
            <a:graphicFrameLocks xmlns:a="http://schemas.openxmlformats.org/drawingml/2006/main"/>
          </p:cNvGraphicFramePr>
          <p:nvPr/>
        </p:nvGraphicFramePr>
        <p:xfrm rot="0">
          <a:off x="2385649" y="2264513"/>
          <a:ext cx="3000000" cy="3000000"/>
        </p:xfrm>
        <a:graphic>
          <a:graphicData uri="http://schemas.openxmlformats.org/drawingml/2006/table">
            <a:tbl>
              <a:tblPr firstRow="0" firstCol="0" lastRow="0" lastCol="0" bandRow="0" bandCol="0">
                <a:tableStyleId>{BF136021-7255-42B7-A7E7-87A8D8FFE9CA}</a:tableStyleId>
                <a:noFill/>
              </a:tblPr>
              <a:tblGrid>
                <a:gridCol w="5903875"/>
              </a:tblGrid>
              <a:tr h="2513700">
                <a:tc>
                  <a:txBody>
                    <a:bodyPr/>
                    <a:p>
                      <a:pPr marL="0" lvl="0" indent="0" algn="l" rtl="0">
                        <a:lnSpc>
                          <a:spcPct val="100000"/>
                        </a:lnSpc>
                        <a:spcBef>
                          <a:spcPts val="0"/>
                        </a:spcBef>
                        <a:spcAft>
                          <a:spcPts val="0"/>
                        </a:spcAft>
                        <a:buNone/>
                        <a:defRPr/>
                      </a:pPr>
                      <a:r>
                        <a:rPr sz="1050">
                          <a:solidFill>
                            <a:srgbClr val="417BC1"/>
                          </a:solidFill>
                          <a:latin typeface="Consolas"/>
                        </a:rPr>
                        <a:t>namespace ec.edu.monster.Modelos;</a:t>
                      </a:r>
                      <a:endParaRPr sz="9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enum TipoMagnitud</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Longitud,</a:t>
                      </a:r>
                      <a:endParaRPr/>
                    </a:p>
                    <a:p>
                      <a:pPr>
                        <a:lnSpc>
                          <a:spcPct val="100000"/>
                        </a:lnSpc>
                        <a:spcBef>
                          <a:spcPts val="0"/>
                        </a:spcBef>
                        <a:spcAft>
                          <a:spcPts val="0"/>
                        </a:spcAft>
                        <a:defRPr/>
                      </a:pPr>
                      <a:r>
                        <a:rPr sz="1050">
                          <a:solidFill>
                            <a:srgbClr val="417BC1"/>
                          </a:solidFill>
                          <a:latin typeface="Consolas"/>
                        </a:rPr>
                        <a:t>    Masa,</a:t>
                      </a:r>
                      <a:endParaRPr/>
                    </a:p>
                    <a:p>
                      <a:pPr>
                        <a:lnSpc>
                          <a:spcPct val="100000"/>
                        </a:lnSpc>
                        <a:spcBef>
                          <a:spcPts val="0"/>
                        </a:spcBef>
                        <a:spcAft>
                          <a:spcPts val="0"/>
                        </a:spcAft>
                        <a:defRPr/>
                      </a:pPr>
                      <a:r>
                        <a:rPr sz="1050">
                          <a:solidFill>
                            <a:srgbClr val="417BC1"/>
                          </a:solidFill>
                          <a:latin typeface="Consolas"/>
                        </a:rPr>
                        <a:t>    Temperatura</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enum UnidadLongitud</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MILIMETRO,</a:t>
                      </a:r>
                      <a:endParaRPr/>
                    </a:p>
                    <a:p>
                      <a:pPr>
                        <a:lnSpc>
                          <a:spcPct val="100000"/>
                        </a:lnSpc>
                        <a:spcBef>
                          <a:spcPts val="0"/>
                        </a:spcBef>
                        <a:spcAft>
                          <a:spcPts val="0"/>
                        </a:spcAft>
                        <a:defRPr/>
                      </a:pPr>
                      <a:r>
                        <a:rPr sz="1050">
                          <a:solidFill>
                            <a:srgbClr val="417BC1"/>
                          </a:solidFill>
                          <a:latin typeface="Consolas"/>
                        </a:rPr>
                        <a:t>    CENTIMETRO,</a:t>
                      </a:r>
                      <a:endParaRPr/>
                    </a:p>
                    <a:p>
                      <a:pPr>
                        <a:lnSpc>
                          <a:spcPct val="100000"/>
                        </a:lnSpc>
                        <a:spcBef>
                          <a:spcPts val="0"/>
                        </a:spcBef>
                        <a:spcAft>
                          <a:spcPts val="0"/>
                        </a:spcAft>
                        <a:defRPr/>
                      </a:pPr>
                      <a:r>
                        <a:rPr sz="1050">
                          <a:solidFill>
                            <a:srgbClr val="417BC1"/>
                          </a:solidFill>
                          <a:latin typeface="Consolas"/>
                        </a:rPr>
                        <a:t>    METRO,</a:t>
                      </a:r>
                      <a:endParaRPr/>
                    </a:p>
                    <a:p>
                      <a:pPr>
                        <a:lnSpc>
                          <a:spcPct val="100000"/>
                        </a:lnSpc>
                        <a:spcBef>
                          <a:spcPts val="0"/>
                        </a:spcBef>
                        <a:spcAft>
                          <a:spcPts val="0"/>
                        </a:spcAft>
                        <a:defRPr/>
                      </a:pPr>
                      <a:r>
                        <a:rPr sz="1050">
                          <a:solidFill>
                            <a:srgbClr val="417BC1"/>
                          </a:solidFill>
                          <a:latin typeface="Consolas"/>
                        </a:rPr>
                        <a:t>    KILOMETRO,</a:t>
                      </a:r>
                      <a:endParaRPr/>
                    </a:p>
                    <a:p>
                      <a:pPr>
                        <a:lnSpc>
                          <a:spcPct val="100000"/>
                        </a:lnSpc>
                        <a:spcBef>
                          <a:spcPts val="0"/>
                        </a:spcBef>
                        <a:spcAft>
                          <a:spcPts val="0"/>
                        </a:spcAft>
                        <a:defRPr/>
                      </a:pPr>
                      <a:r>
                        <a:rPr sz="1050">
                          <a:solidFill>
                            <a:srgbClr val="417BC1"/>
                          </a:solidFill>
                          <a:latin typeface="Consolas"/>
                        </a:rPr>
                        <a:t>    YARDA</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enum UnidadMasa</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MILIGRAMO,</a:t>
                      </a:r>
                      <a:endParaRPr/>
                    </a:p>
                    <a:p>
                      <a:pPr>
                        <a:lnSpc>
                          <a:spcPct val="100000"/>
                        </a:lnSpc>
                        <a:spcBef>
                          <a:spcPts val="0"/>
                        </a:spcBef>
                        <a:spcAft>
                          <a:spcPts val="0"/>
                        </a:spcAft>
                        <a:defRPr/>
                      </a:pPr>
                      <a:r>
                        <a:rPr sz="1050">
                          <a:solidFill>
                            <a:srgbClr val="417BC1"/>
                          </a:solidFill>
                          <a:latin typeface="Consolas"/>
                        </a:rPr>
                        <a:t>    GRAMO,</a:t>
                      </a:r>
                      <a:endParaRPr/>
                    </a:p>
                    <a:p>
                      <a:pPr>
                        <a:lnSpc>
                          <a:spcPct val="100000"/>
                        </a:lnSpc>
                        <a:spcBef>
                          <a:spcPts val="0"/>
                        </a:spcBef>
                        <a:spcAft>
                          <a:spcPts val="0"/>
                        </a:spcAft>
                        <a:defRPr/>
                      </a:pPr>
                      <a:r>
                        <a:rPr sz="1050">
                          <a:solidFill>
                            <a:srgbClr val="417BC1"/>
                          </a:solidFill>
                          <a:latin typeface="Consolas"/>
                        </a:rPr>
                        <a:t>    KILOGRAMO,</a:t>
                      </a:r>
                      <a:endParaRPr/>
                    </a:p>
                    <a:p>
                      <a:pPr>
                        <a:lnSpc>
                          <a:spcPct val="100000"/>
                        </a:lnSpc>
                        <a:spcBef>
                          <a:spcPts val="0"/>
                        </a:spcBef>
                        <a:spcAft>
                          <a:spcPts val="0"/>
                        </a:spcAft>
                        <a:defRPr/>
                      </a:pPr>
                      <a:r>
                        <a:rPr sz="1050">
                          <a:solidFill>
                            <a:srgbClr val="417BC1"/>
                          </a:solidFill>
                          <a:latin typeface="Consolas"/>
                        </a:rPr>
                        <a:t>    TONELADA,</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6044291" name="Google Shape;462;p5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665866408" name="Google Shape;463;p57"/>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PeticionConversion — fragmento de código</a:t>
            </a:r>
            <a:endParaRPr/>
          </a:p>
        </p:txBody>
      </p:sp>
      <p:sp>
        <p:nvSpPr>
          <p:cNvPr id="1406009740" name="Google Shape;464;p57"/>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671441676" name="Google Shape;465;p57"/>
          <p:cNvGraphicFramePr>
            <a:graphicFrameLocks xmlns:a="http://schemas.openxmlformats.org/drawingml/2006/main"/>
          </p:cNvGraphicFramePr>
          <p:nvPr/>
        </p:nvGraphicFramePr>
        <p:xfrm rot="0">
          <a:off x="2445175" y="2026388"/>
          <a:ext cx="3000000" cy="3000000"/>
        </p:xfrm>
        <a:graphic>
          <a:graphicData uri="http://schemas.openxmlformats.org/drawingml/2006/table">
            <a:tbl>
              <a:tblPr firstRow="0" firstCol="0" lastRow="0" lastCol="0" bandRow="0" bandCol="0">
                <a:tableStyleId>{BF136021-7255-42B7-A7E7-87A8D8FFE9CA}</a:tableStyleId>
                <a:noFill/>
              </a:tblPr>
              <a:tblGrid>
                <a:gridCol w="5903875"/>
              </a:tblGrid>
              <a:tr h="2513700">
                <a:tc>
                  <a:txBody>
                    <a:bodyPr/>
                    <a:p>
                      <a:pPr marL="0" lvl="0" indent="0" algn="l" rtl="0">
                        <a:lnSpc>
                          <a:spcPct val="100000"/>
                        </a:lnSpc>
                        <a:spcBef>
                          <a:spcPts val="0"/>
                        </a:spcBef>
                        <a:spcAft>
                          <a:spcPts val="0"/>
                        </a:spcAft>
                        <a:buNone/>
                        <a:defRPr/>
                      </a:pPr>
                      <a:r>
                        <a:rPr sz="1050">
                          <a:solidFill>
                            <a:srgbClr val="417BC1"/>
                          </a:solidFill>
                          <a:latin typeface="Consolas"/>
                        </a:rPr>
                        <a:t>namespace ec.edu.monster.Modelos;</a:t>
                      </a:r>
                      <a:endParaRPr sz="9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class PeticionConversion</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public double Valor { get; set; }</a:t>
                      </a:r>
                      <a:endParaRPr/>
                    </a:p>
                    <a:p>
                      <a:pPr>
                        <a:lnSpc>
                          <a:spcPct val="100000"/>
                        </a:lnSpc>
                        <a:spcBef>
                          <a:spcPts val="0"/>
                        </a:spcBef>
                        <a:spcAft>
                          <a:spcPts val="0"/>
                        </a:spcAft>
                        <a:defRPr/>
                      </a:pPr>
                      <a:r>
                        <a:rPr sz="1050">
                          <a:solidFill>
                            <a:srgbClr val="417BC1"/>
                          </a:solidFill>
                          <a:latin typeface="Consolas"/>
                        </a:rPr>
                        <a:t>    public string UnidadOrigen { get; set; } = string.Empty;</a:t>
                      </a:r>
                      <a:endParaRPr/>
                    </a:p>
                    <a:p>
                      <a:pPr>
                        <a:lnSpc>
                          <a:spcPct val="100000"/>
                        </a:lnSpc>
                        <a:spcBef>
                          <a:spcPts val="0"/>
                        </a:spcBef>
                        <a:spcAft>
                          <a:spcPts val="0"/>
                        </a:spcAft>
                        <a:defRPr/>
                      </a:pPr>
                      <a:r>
                        <a:rPr sz="1050">
                          <a:solidFill>
                            <a:srgbClr val="417BC1"/>
                          </a:solidFill>
                          <a:latin typeface="Consolas"/>
                        </a:rPr>
                        <a:t>    public string UnidadDestino { get; set; } = string.Empty;</a:t>
                      </a:r>
                      <a:endParaRPr/>
                    </a:p>
                    <a:p>
                      <a:pPr>
                        <a:lnSpc>
                          <a:spcPct val="100000"/>
                        </a:lnSpc>
                        <a:spcBef>
                          <a:spcPts val="0"/>
                        </a:spcBef>
                        <a:spcAft>
                          <a:spcPts val="0"/>
                        </a:spcAft>
                        <a:defRPr/>
                      </a:pPr>
                      <a:r>
                        <a:rPr sz="1050">
                          <a:solidFill>
                            <a:srgbClr val="417BC1"/>
                          </a:solidFill>
                          <a:latin typeface="Consolas"/>
                        </a:rPr>
                        <a:t>    public string TipoConversion { get; set; } = "Longitud"; // Longitud, Masa, Temperatura</a:t>
                      </a: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173576" name="Google Shape;470;p5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813696654" name="Google Shape;471;p58"/>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TipoBackend — fragmento de código</a:t>
            </a:r>
            <a:endParaRPr/>
          </a:p>
        </p:txBody>
      </p:sp>
      <p:sp>
        <p:nvSpPr>
          <p:cNvPr id="1117002265" name="Google Shape;472;p58"/>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207012798" name="Google Shape;473;p58"/>
          <p:cNvGraphicFramePr>
            <a:graphicFrameLocks xmlns:a="http://schemas.openxmlformats.org/drawingml/2006/main"/>
          </p:cNvGraphicFramePr>
          <p:nvPr/>
        </p:nvGraphicFramePr>
        <p:xfrm rot="0">
          <a:off x="2332838" y="1771213"/>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509700">
                <a:tc>
                  <a:txBody>
                    <a:bodyPr/>
                    <a:p>
                      <a:pPr marL="0" lvl="0" indent="0" algn="l" rtl="0">
                        <a:lnSpc>
                          <a:spcPct val="100000"/>
                        </a:lnSpc>
                        <a:spcBef>
                          <a:spcPts val="0"/>
                        </a:spcBef>
                        <a:spcAft>
                          <a:spcPts val="0"/>
                        </a:spcAft>
                        <a:buNone/>
                        <a:defRPr/>
                      </a:pPr>
                      <a:r>
                        <a:rPr sz="1050">
                          <a:solidFill>
                            <a:srgbClr val="417BC1"/>
                          </a:solidFill>
                          <a:latin typeface="Consolas"/>
                        </a:rPr>
                        <a:t>namespace ec.edu.monster.Modelos;</a:t>
                      </a:r>
                      <a:endParaRPr sz="9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enum TipoBackend</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JavaSoap,</a:t>
                      </a:r>
                      <a:endParaRPr/>
                    </a:p>
                    <a:p>
                      <a:pPr>
                        <a:lnSpc>
                          <a:spcPct val="100000"/>
                        </a:lnSpc>
                        <a:spcBef>
                          <a:spcPts val="0"/>
                        </a:spcBef>
                        <a:spcAft>
                          <a:spcPts val="0"/>
                        </a:spcAft>
                        <a:defRPr/>
                      </a:pPr>
                      <a:r>
                        <a:rPr sz="1050">
                          <a:solidFill>
                            <a:srgbClr val="417BC1"/>
                          </a:solidFill>
                          <a:latin typeface="Consolas"/>
                        </a:rPr>
                        <a:t>    JavaRest,</a:t>
                      </a:r>
                      <a:endParaRPr/>
                    </a:p>
                    <a:p>
                      <a:pPr>
                        <a:lnSpc>
                          <a:spcPct val="100000"/>
                        </a:lnSpc>
                        <a:spcBef>
                          <a:spcPts val="0"/>
                        </a:spcBef>
                        <a:spcAft>
                          <a:spcPts val="0"/>
                        </a:spcAft>
                        <a:defRPr/>
                      </a:pPr>
                      <a:r>
                        <a:rPr sz="1050">
                          <a:solidFill>
                            <a:srgbClr val="417BC1"/>
                          </a:solidFill>
                          <a:latin typeface="Consolas"/>
                        </a:rPr>
                        <a:t>    DotNetSoap,</a:t>
                      </a:r>
                      <a:endParaRPr/>
                    </a:p>
                    <a:p>
                      <a:pPr>
                        <a:lnSpc>
                          <a:spcPct val="100000"/>
                        </a:lnSpc>
                        <a:spcBef>
                          <a:spcPts val="0"/>
                        </a:spcBef>
                        <a:spcAft>
                          <a:spcPts val="0"/>
                        </a:spcAft>
                        <a:defRPr/>
                      </a:pPr>
                      <a:r>
                        <a:rPr sz="1050">
                          <a:solidFill>
                            <a:srgbClr val="417BC1"/>
                          </a:solidFill>
                          <a:latin typeface="Consolas"/>
                        </a:rPr>
                        <a:t>    DotNetRest</a:t>
                      </a: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5736311" name="Google Shape;478;p5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951236368" name="Google Shape;479;p59"/>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EstadoAplicacion — fragmento de código</a:t>
            </a:r>
            <a:endParaRPr/>
          </a:p>
        </p:txBody>
      </p:sp>
      <p:sp>
        <p:nvSpPr>
          <p:cNvPr id="765790499" name="Google Shape;480;p5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315462372" name="Google Shape;481;p59"/>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1050">
                          <a:solidFill>
                            <a:srgbClr val="417BC1"/>
                          </a:solidFill>
                          <a:latin typeface="Consolas"/>
                        </a:rPr>
                        <a:t>using ec.edu.monster.Modelos;</a:t>
                      </a:r>
                      <a:endParaRPr sz="9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namespace ec.edu.monster.Servicios;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class EstadoAplicacion</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public TipoBackend BackendActual { get; private set; } = TipoBackend.JavaSoap;</a:t>
                      </a:r>
                      <a:endParaRPr/>
                    </a:p>
                    <a:p>
                      <a:pPr>
                        <a:lnSpc>
                          <a:spcPct val="100000"/>
                        </a:lnSpc>
                        <a:spcBef>
                          <a:spcPts val="0"/>
                        </a:spcBef>
                        <a:spcAft>
                          <a:spcPts val="0"/>
                        </a:spcAft>
                        <a:defRPr/>
                      </a:pPr>
                      <a:r>
                        <a:rPr sz="1050">
                          <a:solidFill>
                            <a:srgbClr val="417BC1"/>
                          </a:solidFill>
                          <a:latin typeface="Consolas"/>
                        </a:rPr>
                        <a:t>    public string TokenActual { get; set; } = string.Empty;</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event Action? AlCambiar;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void EstablecerBackend(TipoBackend tipo)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if (BackendActual != tipo)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BackendActual = tipo;</a:t>
                      </a:r>
                      <a:endParaRPr/>
                    </a:p>
                    <a:p>
                      <a:pPr>
                        <a:lnSpc>
                          <a:spcPct val="100000"/>
                        </a:lnSpc>
                        <a:spcBef>
                          <a:spcPts val="0"/>
                        </a:spcBef>
                        <a:spcAft>
                          <a:spcPts val="0"/>
                        </a:spcAft>
                        <a:defRPr/>
                      </a:pPr>
                      <a:r>
                        <a:rPr sz="1050">
                          <a:solidFill>
                            <a:srgbClr val="417BC1"/>
                          </a:solidFill>
                          <a:latin typeface="Consolas"/>
                        </a:rPr>
                        <a:t>            TokenActual = string.Empty; // Invalidamos el token al cambiar de entorno</a:t>
                      </a:r>
                      <a:endParaRPr/>
                    </a:p>
                    <a:p>
                      <a:pPr>
                        <a:lnSpc>
                          <a:spcPct val="100000"/>
                        </a:lnSpc>
                        <a:spcBef>
                          <a:spcPts val="0"/>
                        </a:spcBef>
                        <a:spcAft>
                          <a:spcPts val="0"/>
                        </a:spcAft>
                        <a:defRPr/>
                      </a:pPr>
                      <a:r>
                        <a:rPr sz="1050">
                          <a:solidFill>
                            <a:srgbClr val="417BC1"/>
                          </a:solidFill>
                          <a:latin typeface="Consolas"/>
                        </a:rPr>
                        <a:t>            NotificarEstadoCambiado();</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private void NotificarEstadoCambiado() =&gt; AlCambiar?.Invoke();</a:t>
                      </a:r>
                      <a:endParaRPr/>
                    </a:p>
                    <a:p>
                      <a:pPr>
                        <a:lnSpc>
                          <a:spcPct val="100000"/>
                        </a:lnSpc>
                        <a:spcBef>
                          <a:spcPts val="0"/>
                        </a:spcBef>
                        <a:spcAft>
                          <a:spcPts val="0"/>
                        </a:spcAft>
                        <a:defRPr/>
                      </a:pPr>
                      <a:r>
                        <a:rPr sz="105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1438238" name="Google Shape;486;p6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007737234" name="Google Shape;487;p60"/>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FabricaEstrategiaBackend — fragmento de código</a:t>
            </a:r>
            <a:endParaRPr/>
          </a:p>
        </p:txBody>
      </p:sp>
      <p:sp>
        <p:nvSpPr>
          <p:cNvPr id="578477341" name="Google Shape;488;p6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200041104" name="Google Shape;489;p60"/>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800">
                          <a:solidFill>
                            <a:srgbClr val="417BC1"/>
                          </a:solidFill>
                          <a:latin typeface="Consolas"/>
                        </a:rPr>
                        <a:t>using ec.edu.monster.Interfaces;</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using ec.edu.monster.Modelos;</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namespace ec.edu.monster.Servicios;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public class FabricaEstrategiaBackend</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private readonly IEnumerable&lt;IAdaptadorConversion&gt; _adaptadoresConversion;</a:t>
                      </a:r>
                      <a:endParaRPr/>
                    </a:p>
                    <a:p>
                      <a:pPr>
                        <a:lnSpc>
                          <a:spcPct val="100000"/>
                        </a:lnSpc>
                        <a:spcBef>
                          <a:spcPts val="0"/>
                        </a:spcBef>
                        <a:spcAft>
                          <a:spcPts val="0"/>
                        </a:spcAft>
                        <a:defRPr/>
                      </a:pPr>
                      <a:r>
                        <a:rPr sz="800">
                          <a:solidFill>
                            <a:srgbClr val="417BC1"/>
                          </a:solidFill>
                          <a:latin typeface="Consolas"/>
                        </a:rPr>
                        <a:t>    private readonly IEnumerable&lt;IAdaptadorAutenticacion&gt; _adaptadoresAutenticacion;</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FabricaEstrategiaBackend(</a:t>
                      </a:r>
                      <a:endParaRPr/>
                    </a:p>
                    <a:p>
                      <a:pPr>
                        <a:lnSpc>
                          <a:spcPct val="100000"/>
                        </a:lnSpc>
                        <a:spcBef>
                          <a:spcPts val="0"/>
                        </a:spcBef>
                        <a:spcAft>
                          <a:spcPts val="0"/>
                        </a:spcAft>
                        <a:defRPr/>
                      </a:pPr>
                      <a:r>
                        <a:rPr sz="800">
                          <a:solidFill>
                            <a:srgbClr val="417BC1"/>
                          </a:solidFill>
                          <a:latin typeface="Consolas"/>
                        </a:rPr>
                        <a:t>        IEnumerable&lt;IAdaptadorConversion&gt; adaptadoresConversion,</a:t>
                      </a:r>
                      <a:endParaRPr/>
                    </a:p>
                    <a:p>
                      <a:pPr>
                        <a:lnSpc>
                          <a:spcPct val="100000"/>
                        </a:lnSpc>
                        <a:spcBef>
                          <a:spcPts val="0"/>
                        </a:spcBef>
                        <a:spcAft>
                          <a:spcPts val="0"/>
                        </a:spcAft>
                        <a:defRPr/>
                      </a:pPr>
                      <a:r>
                        <a:rPr sz="800">
                          <a:solidFill>
                            <a:srgbClr val="417BC1"/>
                          </a:solidFill>
                          <a:latin typeface="Consolas"/>
                        </a:rPr>
                        <a:t>        IEnumerable&lt;IAdaptadorAutenticacion&gt; adaptadoresAutenticacion)</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_adaptadoresConversion = adaptadoresConversion;</a:t>
                      </a:r>
                      <a:endParaRPr/>
                    </a:p>
                    <a:p>
                      <a:pPr>
                        <a:lnSpc>
                          <a:spcPct val="100000"/>
                        </a:lnSpc>
                        <a:spcBef>
                          <a:spcPts val="0"/>
                        </a:spcBef>
                        <a:spcAft>
                          <a:spcPts val="0"/>
                        </a:spcAft>
                        <a:defRPr/>
                      </a:pPr>
                      <a:r>
                        <a:rPr sz="800">
                          <a:solidFill>
                            <a:srgbClr val="417BC1"/>
                          </a:solidFill>
                          <a:latin typeface="Consolas"/>
                        </a:rPr>
                        <a:t>        _adaptadoresAutenticacion = adaptadoresAutenticacion;</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IAdaptadorConversion ObtenerAdaptadorConversion(TipoBackend tipo) =&gt;</a:t>
                      </a:r>
                      <a:endParaRPr/>
                    </a:p>
                    <a:p>
                      <a:pPr>
                        <a:lnSpc>
                          <a:spcPct val="100000"/>
                        </a:lnSpc>
                        <a:spcBef>
                          <a:spcPts val="0"/>
                        </a:spcBef>
                        <a:spcAft>
                          <a:spcPts val="0"/>
                        </a:spcAft>
                        <a:defRPr/>
                      </a:pPr>
                      <a:r>
                        <a:rPr sz="800">
                          <a:solidFill>
                            <a:srgbClr val="417BC1"/>
                          </a:solidFill>
                          <a:latin typeface="Consolas"/>
                        </a:rPr>
                        <a:t>        _adaptadoresConversion.FirstOrDefault(a =&gt; a.Tipo == tipo)</a:t>
                      </a:r>
                      <a:endParaRPr/>
                    </a:p>
                    <a:p>
                      <a:pPr>
                        <a:lnSpc>
                          <a:spcPct val="100000"/>
                        </a:lnSpc>
                        <a:spcBef>
                          <a:spcPts val="0"/>
                        </a:spcBef>
                        <a:spcAft>
                          <a:spcPts val="0"/>
                        </a:spcAft>
                        <a:defRPr/>
                      </a:pPr>
                      <a:r>
                        <a:rPr sz="800">
                          <a:solidFill>
                            <a:srgbClr val="417BC1"/>
                          </a:solidFill>
                          <a:latin typeface="Consolas"/>
                        </a:rPr>
                        <a:t>        ?? throw new NotSupportedException($"Adaptador de conversión para {tipo} no implementado.");</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IAdaptadorAutenticacion ObtenerAdaptadorAutenticacion(TipoBackend tipo) =&gt;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6011079" name="Google Shape;494;p6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90598657" name="Google Shape;495;p61"/>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MainLayout — fragmento de código</a:t>
            </a:r>
            <a:endParaRPr/>
          </a:p>
        </p:txBody>
      </p:sp>
      <p:sp>
        <p:nvSpPr>
          <p:cNvPr id="1095048996" name="Google Shape;496;p6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551962446" name="Google Shape;497;p61"/>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1050">
                          <a:solidFill>
                            <a:srgbClr val="417BC1"/>
                          </a:solidFill>
                          <a:latin typeface="Consolas"/>
                        </a:rPr>
                        <a:t>@inherits LayoutComponentBase</a:t>
                      </a:r>
                      <a:endParaRPr sz="900">
                        <a:solidFill>
                          <a:srgbClr val="4F81BD"/>
                        </a:solidFill>
                        <a:latin typeface="Calibri"/>
                        <a:ea typeface="Calibri"/>
                        <a:cs typeface="Calibri"/>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&lt;main&gt;</a:t>
                      </a:r>
                      <a:endParaRPr/>
                    </a:p>
                    <a:p>
                      <a:pPr>
                        <a:lnSpc>
                          <a:spcPct val="100000"/>
                        </a:lnSpc>
                        <a:spcBef>
                          <a:spcPts val="0"/>
                        </a:spcBef>
                        <a:spcAft>
                          <a:spcPts val="0"/>
                        </a:spcAft>
                        <a:defRPr/>
                      </a:pPr>
                      <a:r>
                        <a:rPr sz="1050">
                          <a:solidFill>
                            <a:srgbClr val="417BC1"/>
                          </a:solidFill>
                          <a:latin typeface="Consolas"/>
                        </a:rPr>
                        <a:t>    @Body</a:t>
                      </a:r>
                      <a:endParaRPr/>
                    </a:p>
                    <a:p>
                      <a:pPr>
                        <a:lnSpc>
                          <a:spcPct val="100000"/>
                        </a:lnSpc>
                        <a:spcBef>
                          <a:spcPts val="0"/>
                        </a:spcBef>
                        <a:spcAft>
                          <a:spcPts val="0"/>
                        </a:spcAft>
                        <a:defRPr/>
                      </a:pPr>
                      <a:r>
                        <a:rPr sz="1050">
                          <a:solidFill>
                            <a:srgbClr val="417BC1"/>
                          </a:solidFill>
                          <a:latin typeface="Consolas"/>
                        </a:rPr>
                        <a:t>&lt;/main&gt;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&lt;div id="blazor-error-ui"&gt;</a:t>
                      </a:r>
                      <a:endParaRPr/>
                    </a:p>
                    <a:p>
                      <a:pPr>
                        <a:lnSpc>
                          <a:spcPct val="100000"/>
                        </a:lnSpc>
                        <a:spcBef>
                          <a:spcPts val="0"/>
                        </a:spcBef>
                        <a:spcAft>
                          <a:spcPts val="0"/>
                        </a:spcAft>
                        <a:defRPr/>
                      </a:pPr>
                      <a:r>
                        <a:rPr sz="1050">
                          <a:solidFill>
                            <a:srgbClr val="417BC1"/>
                          </a:solidFill>
                          <a:latin typeface="Consolas"/>
                        </a:rPr>
                        <a:t>    Ha ocurrido un error no controlado.</a:t>
                      </a:r>
                      <a:endParaRPr/>
                    </a:p>
                    <a:p>
                      <a:pPr>
                        <a:lnSpc>
                          <a:spcPct val="100000"/>
                        </a:lnSpc>
                        <a:spcBef>
                          <a:spcPts val="0"/>
                        </a:spcBef>
                        <a:spcAft>
                          <a:spcPts val="0"/>
                        </a:spcAft>
                        <a:defRPr/>
                      </a:pPr>
                      <a:r>
                        <a:rPr sz="1050">
                          <a:solidFill>
                            <a:srgbClr val="417BC1"/>
                          </a:solidFill>
                          <a:latin typeface="Consolas"/>
                        </a:rPr>
                        <a:t>    &lt;a href="" class="reload"&gt;Recargar&lt;/a&gt;</a:t>
                      </a:r>
                      <a:endParaRPr/>
                    </a:p>
                    <a:p>
                      <a:pPr>
                        <a:lnSpc>
                          <a:spcPct val="100000"/>
                        </a:lnSpc>
                        <a:spcBef>
                          <a:spcPts val="0"/>
                        </a:spcBef>
                        <a:spcAft>
                          <a:spcPts val="0"/>
                        </a:spcAft>
                        <a:defRPr/>
                      </a:pPr>
                      <a:r>
                        <a:rPr sz="1050">
                          <a:solidFill>
                            <a:srgbClr val="417BC1"/>
                          </a:solidFill>
                          <a:latin typeface="Consolas"/>
                        </a:rPr>
                        <a:t>    &lt;a class="dismiss"&gt;🗙&lt;/a&gt;</a:t>
                      </a:r>
                      <a:endParaRPr/>
                    </a:p>
                    <a:p>
                      <a:pPr>
                        <a:lnSpc>
                          <a:spcPct val="100000"/>
                        </a:lnSpc>
                        <a:spcBef>
                          <a:spcPts val="0"/>
                        </a:spcBef>
                        <a:spcAft>
                          <a:spcPts val="0"/>
                        </a:spcAft>
                        <a:defRPr/>
                      </a:pPr>
                      <a:r>
                        <a:rPr sz="1050">
                          <a:solidFill>
                            <a:srgbClr val="417BC1"/>
                          </a:solidFill>
                          <a:latin typeface="Consolas"/>
                        </a:rPr>
                        <a:t>&lt;/div&gt;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2969151" name="Google Shape;502;p6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236468586" name="Google Shape;503;p62"/>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Index — fragmento de código</a:t>
            </a:r>
            <a:endParaRPr/>
          </a:p>
        </p:txBody>
      </p:sp>
      <p:sp>
        <p:nvSpPr>
          <p:cNvPr id="1842409844" name="Google Shape;504;p6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2009351072" name="Google Shape;505;p62"/>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1050">
                          <a:solidFill>
                            <a:srgbClr val="417BC1"/>
                          </a:solidFill>
                          <a:latin typeface="Consolas"/>
                        </a:rPr>
                        <a:t>@namespace SistemaConversorUI.Shared.Vista</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@page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@using ec.edu.monster.Servicios</a:t>
                      </a:r>
                      <a:endParaRPr/>
                    </a:p>
                    <a:p>
                      <a:pPr>
                        <a:lnSpc>
                          <a:spcPct val="100000"/>
                        </a:lnSpc>
                        <a:spcBef>
                          <a:spcPts val="0"/>
                        </a:spcBef>
                        <a:spcAft>
                          <a:spcPts val="0"/>
                        </a:spcAft>
                        <a:defRPr/>
                      </a:pPr>
                      <a:r>
                        <a:rPr sz="1050">
                          <a:solidFill>
                            <a:srgbClr val="417BC1"/>
                          </a:solidFill>
                          <a:latin typeface="Consolas"/>
                        </a:rPr>
                        <a:t>@using ec.edu.monster.Modelos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@inject EstadoAplicacion EstadoApp</a:t>
                      </a:r>
                      <a:endParaRPr/>
                    </a:p>
                    <a:p>
                      <a:pPr>
                        <a:lnSpc>
                          <a:spcPct val="100000"/>
                        </a:lnSpc>
                        <a:spcBef>
                          <a:spcPts val="0"/>
                        </a:spcBef>
                        <a:spcAft>
                          <a:spcPts val="0"/>
                        </a:spcAft>
                        <a:defRPr/>
                      </a:pPr>
                      <a:r>
                        <a:rPr sz="1050">
                          <a:solidFill>
                            <a:srgbClr val="417BC1"/>
                          </a:solidFill>
                          <a:latin typeface="Consolas"/>
                        </a:rPr>
                        <a:t>@inject FabricaEstrategiaBackend Fabrica</a:t>
                      </a:r>
                      <a:endParaRPr/>
                    </a:p>
                    <a:p>
                      <a:pPr>
                        <a:lnSpc>
                          <a:spcPct val="100000"/>
                        </a:lnSpc>
                        <a:spcBef>
                          <a:spcPts val="0"/>
                        </a:spcBef>
                        <a:spcAft>
                          <a:spcPts val="0"/>
                        </a:spcAft>
                        <a:defRPr/>
                      </a:pPr>
                      <a:r>
                        <a:rPr sz="1050">
                          <a:solidFill>
                            <a:srgbClr val="417BC1"/>
                          </a:solidFill>
                          <a:latin typeface="Consolas"/>
                        </a:rPr>
                        <a:t>@inject NavigationManager NavManager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&lt;div class="login-container"&gt;</a:t>
                      </a:r>
                      <a:endParaRPr/>
                    </a:p>
                    <a:p>
                      <a:pPr>
                        <a:lnSpc>
                          <a:spcPct val="100000"/>
                        </a:lnSpc>
                        <a:spcBef>
                          <a:spcPts val="0"/>
                        </a:spcBef>
                        <a:spcAft>
                          <a:spcPts val="0"/>
                        </a:spcAft>
                        <a:defRPr/>
                      </a:pPr>
                      <a:r>
                        <a:rPr sz="1050">
                          <a:solidFill>
                            <a:srgbClr val="417BC1"/>
                          </a:solidFill>
                          <a:latin typeface="Consolas"/>
                        </a:rPr>
                        <a:t>    &lt;div class="login-card"&gt;</a:t>
                      </a:r>
                      <a:endParaRPr/>
                    </a:p>
                    <a:p>
                      <a:pPr>
                        <a:lnSpc>
                          <a:spcPct val="100000"/>
                        </a:lnSpc>
                        <a:spcBef>
                          <a:spcPts val="0"/>
                        </a:spcBef>
                        <a:spcAft>
                          <a:spcPts val="0"/>
                        </a:spcAft>
                        <a:defRPr/>
                      </a:pPr>
                      <a:r>
                        <a:rPr sz="1050">
                          <a:solidFill>
                            <a:srgbClr val="417BC1"/>
                          </a:solidFill>
                          <a:latin typeface="Consolas"/>
                        </a:rPr>
                        <a:t>        &lt;div class="brand-header"&gt;</a:t>
                      </a:r>
                      <a:endParaRPr/>
                    </a:p>
                    <a:p>
                      <a:pPr>
                        <a:lnSpc>
                          <a:spcPct val="100000"/>
                        </a:lnSpc>
                        <a:spcBef>
                          <a:spcPts val="0"/>
                        </a:spcBef>
                        <a:spcAft>
                          <a:spcPts val="0"/>
                        </a:spcAft>
                        <a:defRPr/>
                      </a:pPr>
                      <a:r>
                        <a:rPr sz="1050">
                          <a:solidFill>
                            <a:srgbClr val="417BC1"/>
                          </a:solidFill>
                          <a:latin typeface="Consolas"/>
                        </a:rPr>
                        <a:t>            &lt;div class="brand-icon"&gt;↔&lt;/div&gt;</a:t>
                      </a:r>
                      <a:endParaRPr/>
                    </a:p>
                    <a:p>
                      <a:pPr>
                        <a:lnSpc>
                          <a:spcPct val="100000"/>
                        </a:lnSpc>
                        <a:spcBef>
                          <a:spcPts val="0"/>
                        </a:spcBef>
                        <a:spcAft>
                          <a:spcPts val="0"/>
                        </a:spcAft>
                        <a:defRPr/>
                      </a:pPr>
                      <a:r>
                        <a:rPr sz="1050">
                          <a:solidFill>
                            <a:srgbClr val="417BC1"/>
                          </a:solidFill>
                          <a:latin typeface="Consolas"/>
                        </a:rPr>
                        <a:t>            &lt;h1&gt;MONSTER &lt;span&gt;CONVERTER&lt;/span&gt;&lt;/h1&gt;</a:t>
                      </a:r>
                      <a:endParaRPr/>
                    </a:p>
                    <a:p>
                      <a:pPr>
                        <a:lnSpc>
                          <a:spcPct val="100000"/>
                        </a:lnSpc>
                        <a:spcBef>
                          <a:spcPts val="0"/>
                        </a:spcBef>
                        <a:spcAft>
                          <a:spcPts val="0"/>
                        </a:spcAft>
                        <a:defRPr/>
                      </a:pPr>
                      <a:r>
                        <a:rPr sz="1050">
                          <a:solidFill>
                            <a:srgbClr val="417BC1"/>
                          </a:solidFill>
                          <a:latin typeface="Consolas"/>
                        </a:rPr>
                        <a:t>            &lt;p&gt;Sistema de Conversión de Unidades&lt;/p&gt;</a:t>
                      </a:r>
                      <a:endParaRPr/>
                    </a:p>
                    <a:p>
                      <a:pPr>
                        <a:lnSpc>
                          <a:spcPct val="100000"/>
                        </a:lnSpc>
                        <a:spcBef>
                          <a:spcPts val="0"/>
                        </a:spcBef>
                        <a:spcAft>
                          <a:spcPts val="0"/>
                        </a:spcAft>
                        <a:defRPr/>
                      </a:pPr>
                      <a:r>
                        <a:rPr sz="1050">
                          <a:solidFill>
                            <a:srgbClr val="417BC1"/>
                          </a:solidFill>
                          <a:latin typeface="Consolas"/>
                        </a:rPr>
                        <a:t>        &lt;/div&gt;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&lt;EditForm Model="this" OnValidSubmit="HacerLogin"&gt;</a:t>
                      </a:r>
                      <a:endParaRPr/>
                    </a:p>
                    <a:p>
                      <a:pPr>
                        <a:lnSpc>
                          <a:spcPct val="100000"/>
                        </a:lnSpc>
                        <a:spcBef>
                          <a:spcPts val="0"/>
                        </a:spcBef>
                        <a:spcAft>
                          <a:spcPts val="0"/>
                        </a:spcAft>
                        <a:defRPr/>
                      </a:pPr>
                      <a:r>
                        <a:rPr sz="1050">
                          <a:solidFill>
                            <a:srgbClr val="417BC1"/>
                          </a:solidFill>
                          <a:latin typeface="Consolas"/>
                        </a:rPr>
                        <a:t>            &lt;div class="form-group"&gt;</a:t>
                      </a:r>
                      <a:endParaRPr/>
                    </a:p>
                    <a:p>
                      <a:pPr>
                        <a:lnSpc>
                          <a:spcPct val="100000"/>
                        </a:lnSpc>
                        <a:spcBef>
                          <a:spcPts val="0"/>
                        </a:spcBef>
                        <a:spcAft>
                          <a:spcPts val="0"/>
                        </a:spcAft>
                        <a:defRPr/>
                      </a:pPr>
                      <a:r>
                        <a:rPr sz="1050">
                          <a:solidFill>
                            <a:srgbClr val="417BC1"/>
                          </a:solidFill>
                          <a:latin typeface="Consolas"/>
                        </a:rPr>
                        <a:t>                &lt;label&gt;ENTORNO DE CONEXIÓN&lt;/label&gt;</a:t>
                      </a:r>
                      <a:endParaRPr/>
                    </a:p>
                    <a:p>
                      <a:pPr>
                        <a:lnSpc>
                          <a:spcPct val="100000"/>
                        </a:lnSpc>
                        <a:spcBef>
                          <a:spcPts val="0"/>
                        </a:spcBef>
                        <a:spcAft>
                          <a:spcPts val="0"/>
                        </a:spcAft>
                        <a:defRPr/>
                      </a:pPr>
                      <a:r>
                        <a:rPr sz="1050">
                          <a:solidFill>
                            <a:srgbClr val="417BC1"/>
                          </a:solidFill>
                          <a:latin typeface="Consolas"/>
                        </a:rPr>
                        <a:t>                &lt;select class="form-control" @bind="EstadoApp.BackendActual"&gt;</a:t>
                      </a:r>
                      <a:endParaRPr/>
                    </a:p>
                    <a:p>
                      <a:pPr>
                        <a:lnSpc>
                          <a:spcPct val="100000"/>
                        </a:lnSpc>
                        <a:spcBef>
                          <a:spcPts val="0"/>
                        </a:spcBef>
                        <a:spcAft>
                          <a:spcPts val="0"/>
                        </a:spcAft>
                        <a:defRPr/>
                      </a:pPr>
                      <a:r>
                        <a:rPr sz="1050">
                          <a:solidFill>
                            <a:srgbClr val="417BC1"/>
                          </a:solidFill>
                          <a:latin typeface="Consolas"/>
                        </a:rPr>
                        <a:t>                    @foreach (var backend in Enum.GetValues&lt;TipoBackend&gt;())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669806" name="Google Shape;510;p6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72022464" name="Google Shape;511;p63"/>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ConversorInteligente — fragmento de código</a:t>
            </a:r>
            <a:endParaRPr/>
          </a:p>
        </p:txBody>
      </p:sp>
      <p:sp>
        <p:nvSpPr>
          <p:cNvPr id="659549265" name="Google Shape;512;p63"/>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82896697" name="Google Shape;513;p63"/>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800">
                          <a:solidFill>
                            <a:srgbClr val="417BC1"/>
                          </a:solidFill>
                          <a:latin typeface="Consolas"/>
                        </a:rPr>
                        <a:t>@page "/conversor"</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@inject ec.edu.monster.Servicios.EstadoAplicacion EstadoApp</a:t>
                      </a:r>
                      <a:endParaRPr/>
                    </a:p>
                    <a:p>
                      <a:pPr>
                        <a:lnSpc>
                          <a:spcPct val="100000"/>
                        </a:lnSpc>
                        <a:spcBef>
                          <a:spcPts val="0"/>
                        </a:spcBef>
                        <a:spcAft>
                          <a:spcPts val="0"/>
                        </a:spcAft>
                        <a:defRPr/>
                      </a:pPr>
                      <a:r>
                        <a:rPr sz="800">
                          <a:solidFill>
                            <a:srgbClr val="417BC1"/>
                          </a:solidFill>
                          <a:latin typeface="Consolas"/>
                        </a:rPr>
                        <a:t>@inject ec.edu.monster.Servicios.FabricaEstrategiaBackend Fabrica</a:t>
                      </a:r>
                      <a:endParaRPr/>
                    </a:p>
                    <a:p>
                      <a:pPr>
                        <a:lnSpc>
                          <a:spcPct val="100000"/>
                        </a:lnSpc>
                        <a:spcBef>
                          <a:spcPts val="0"/>
                        </a:spcBef>
                        <a:spcAft>
                          <a:spcPts val="0"/>
                        </a:spcAft>
                        <a:defRPr/>
                      </a:pPr>
                      <a:r>
                        <a:rPr sz="800">
                          <a:solidFill>
                            <a:srgbClr val="417BC1"/>
                          </a:solidFill>
                          <a:latin typeface="Consolas"/>
                        </a:rPr>
                        <a:t>@inject NavigationManager NavManager</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&lt;div class="app-layout"&gt;</a:t>
                      </a:r>
                      <a:endParaRPr/>
                    </a:p>
                    <a:p>
                      <a:pPr>
                        <a:lnSpc>
                          <a:spcPct val="100000"/>
                        </a:lnSpc>
                        <a:spcBef>
                          <a:spcPts val="0"/>
                        </a:spcBef>
                        <a:spcAft>
                          <a:spcPts val="0"/>
                        </a:spcAft>
                        <a:defRPr/>
                      </a:pPr>
                      <a:r>
                        <a:rPr sz="800">
                          <a:solidFill>
                            <a:srgbClr val="417BC1"/>
                          </a:solidFill>
                          <a:latin typeface="Consolas"/>
                        </a:rPr>
                        <a:t>    &lt;div class="container py-4"&gt;</a:t>
                      </a:r>
                      <a:endParaRPr/>
                    </a:p>
                    <a:p>
                      <a:pPr>
                        <a:lnSpc>
                          <a:spcPct val="100000"/>
                        </a:lnSpc>
                        <a:spcBef>
                          <a:spcPts val="0"/>
                        </a:spcBef>
                        <a:spcAft>
                          <a:spcPts val="0"/>
                        </a:spcAft>
                        <a:defRPr/>
                      </a:pPr>
                      <a:r>
                        <a:rPr sz="800">
                          <a:solidFill>
                            <a:srgbClr val="417BC1"/>
                          </a:solidFill>
                          <a:latin typeface="Consolas"/>
                        </a:rPr>
                        <a:t>        &lt;div class="d-flex justify-content-between align-items-center mb-4 p-3 bg-light rounded shadow-sm"&gt;</a:t>
                      </a:r>
                      <a:endParaRPr/>
                    </a:p>
                    <a:p>
                      <a:pPr>
                        <a:lnSpc>
                          <a:spcPct val="100000"/>
                        </a:lnSpc>
                        <a:spcBef>
                          <a:spcPts val="0"/>
                        </a:spcBef>
                        <a:spcAft>
                          <a:spcPts val="0"/>
                        </a:spcAft>
                        <a:defRPr/>
                      </a:pPr>
                      <a:r>
                        <a:rPr sz="800">
                          <a:solidFill>
                            <a:srgbClr val="417BC1"/>
                          </a:solidFill>
                          <a:latin typeface="Consolas"/>
                        </a:rPr>
                        <a:t>            &lt;div&gt;</a:t>
                      </a:r>
                      <a:endParaRPr/>
                    </a:p>
                    <a:p>
                      <a:pPr>
                        <a:lnSpc>
                          <a:spcPct val="100000"/>
                        </a:lnSpc>
                        <a:spcBef>
                          <a:spcPts val="0"/>
                        </a:spcBef>
                        <a:spcAft>
                          <a:spcPts val="0"/>
                        </a:spcAft>
                        <a:defRPr/>
                      </a:pPr>
                      <a:r>
                        <a:rPr sz="800">
                          <a:solidFill>
                            <a:srgbClr val="417BC1"/>
                          </a:solidFill>
                          <a:latin typeface="Consolas"/>
                        </a:rPr>
                        <a:t>                &lt;h4 class="m-0 text-success"&gt;Conversor de Unidades&lt;/h4&gt;</a:t>
                      </a:r>
                      <a:endParaRPr/>
                    </a:p>
                    <a:p>
                      <a:pPr>
                        <a:lnSpc>
                          <a:spcPct val="100000"/>
                        </a:lnSpc>
                        <a:spcBef>
                          <a:spcPts val="0"/>
                        </a:spcBef>
                        <a:spcAft>
                          <a:spcPts val="0"/>
                        </a:spcAft>
                        <a:defRPr/>
                      </a:pPr>
                      <a:r>
                        <a:rPr sz="800">
                          <a:solidFill>
                            <a:srgbClr val="417BC1"/>
                          </a:solidFill>
                          <a:latin typeface="Consolas"/>
                        </a:rPr>
                        <a:t>                &lt;small class="text-muted"&gt;Entorno: &lt;strong&gt;@EstadoApp.BackendActual&lt;/strong&gt; | Token: @(string.IsNullOrEmpty(EstadoApp.TokenActual) ? "Ninguno" : EstadoApp.TokenActual.Substring(0, 8) + "...")&lt;/small&gt;</a:t>
                      </a:r>
                      <a:endParaRPr/>
                    </a:p>
                    <a:p>
                      <a:pPr>
                        <a:lnSpc>
                          <a:spcPct val="100000"/>
                        </a:lnSpc>
                        <a:spcBef>
                          <a:spcPts val="0"/>
                        </a:spcBef>
                        <a:spcAft>
                          <a:spcPts val="0"/>
                        </a:spcAft>
                        <a:defRPr/>
                      </a:pPr>
                      <a:r>
                        <a:rPr sz="800">
                          <a:solidFill>
                            <a:srgbClr val="417BC1"/>
                          </a:solidFill>
                          <a:latin typeface="Consolas"/>
                        </a:rPr>
                        <a:t>            &lt;/div&gt;</a:t>
                      </a:r>
                      <a:endParaRPr/>
                    </a:p>
                    <a:p>
                      <a:pPr>
                        <a:lnSpc>
                          <a:spcPct val="100000"/>
                        </a:lnSpc>
                        <a:spcBef>
                          <a:spcPts val="0"/>
                        </a:spcBef>
                        <a:spcAft>
                          <a:spcPts val="0"/>
                        </a:spcAft>
                        <a:defRPr/>
                      </a:pPr>
                      <a:r>
                        <a:rPr sz="800">
                          <a:solidFill>
                            <a:srgbClr val="417BC1"/>
                          </a:solidFill>
                          <a:latin typeface="Consolas"/>
                        </a:rPr>
                        <a:t>            &lt;div&gt;</a:t>
                      </a:r>
                      <a:endParaRPr/>
                    </a:p>
                    <a:p>
                      <a:pPr>
                        <a:lnSpc>
                          <a:spcPct val="100000"/>
                        </a:lnSpc>
                        <a:spcBef>
                          <a:spcPts val="0"/>
                        </a:spcBef>
                        <a:spcAft>
                          <a:spcPts val="0"/>
                        </a:spcAft>
                        <a:defRPr/>
                      </a:pPr>
                      <a:r>
                        <a:rPr sz="800">
                          <a:solidFill>
                            <a:srgbClr val="417BC1"/>
                          </a:solidFill>
                          <a:latin typeface="Consolas"/>
                        </a:rPr>
                        <a:t>                &lt;button class="btn btn-outline-secondary btn-sm me-2" @onclick='() =&gt; NavManager.NavigateTo("/cambiar-contrasenia")'&gt;Perfil&lt;/button&gt;</a:t>
                      </a:r>
                      <a:endParaRPr/>
                    </a:p>
                    <a:p>
                      <a:pPr>
                        <a:lnSpc>
                          <a:spcPct val="100000"/>
                        </a:lnSpc>
                        <a:spcBef>
                          <a:spcPts val="0"/>
                        </a:spcBef>
                        <a:spcAft>
                          <a:spcPts val="0"/>
                        </a:spcAft>
                        <a:defRPr/>
                      </a:pPr>
                      <a:r>
                        <a:rPr sz="800">
                          <a:solidFill>
                            <a:srgbClr val="417BC1"/>
                          </a:solidFill>
                          <a:latin typeface="Consolas"/>
                        </a:rPr>
                        <a:t>                &lt;button class="btn btn-outline-danger btn-sm" @onclick="CerrarSesion"&gt;Cerrar Sesión&lt;/button&gt;</a:t>
                      </a:r>
                      <a:endParaRPr/>
                    </a:p>
                    <a:p>
                      <a:pPr>
                        <a:lnSpc>
                          <a:spcPct val="100000"/>
                        </a:lnSpc>
                        <a:spcBef>
                          <a:spcPts val="0"/>
                        </a:spcBef>
                        <a:spcAft>
                          <a:spcPts val="0"/>
                        </a:spcAft>
                        <a:defRPr/>
                      </a:pPr>
                      <a:r>
                        <a:rPr sz="800">
                          <a:solidFill>
                            <a:srgbClr val="417BC1"/>
                          </a:solidFill>
                          <a:latin typeface="Consolas"/>
                        </a:rPr>
                        <a:t>            &lt;/div&gt;</a:t>
                      </a:r>
                      <a:endParaRPr/>
                    </a:p>
                    <a:p>
                      <a:pPr>
                        <a:lnSpc>
                          <a:spcPct val="100000"/>
                        </a:lnSpc>
                        <a:spcBef>
                          <a:spcPts val="0"/>
                        </a:spcBef>
                        <a:spcAft>
                          <a:spcPts val="0"/>
                        </a:spcAft>
                        <a:defRPr/>
                      </a:pPr>
                      <a:r>
                        <a:rPr sz="800">
                          <a:solidFill>
                            <a:srgbClr val="417BC1"/>
                          </a:solidFill>
                          <a:latin typeface="Consolas"/>
                        </a:rPr>
                        <a:t>        &lt;/div&gt;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&lt;div class="row"&gt;</a:t>
                      </a:r>
                      <a:endParaRPr/>
                    </a:p>
                    <a:p>
                      <a:pPr>
                        <a:lnSpc>
                          <a:spcPct val="100000"/>
                        </a:lnSpc>
                        <a:spcBef>
                          <a:spcPts val="0"/>
                        </a:spcBef>
                        <a:spcAft>
                          <a:spcPts val="0"/>
                        </a:spcAft>
                        <a:defRPr/>
                      </a:pPr>
                      <a:r>
                        <a:rPr sz="800">
                          <a:solidFill>
                            <a:srgbClr val="417BC1"/>
                          </a:solidFill>
                          <a:latin typeface="Consolas"/>
                        </a:rPr>
                        <a:t>            &lt;div class="col-md-6 mb-3"&gt;</a:t>
                      </a:r>
                      <a:endParaRPr/>
                    </a:p>
                    <a:p>
                      <a:pPr>
                        <a:lnSpc>
                          <a:spcPct val="100000"/>
                        </a:lnSpc>
                        <a:spcBef>
                          <a:spcPts val="0"/>
                        </a:spcBef>
                        <a:spcAft>
                          <a:spcPts val="0"/>
                        </a:spcAft>
                        <a:defRPr/>
                      </a:pPr>
                      <a:r>
                        <a:rPr sz="800">
                          <a:solidFill>
                            <a:srgbClr val="417BC1"/>
                          </a:solidFill>
                          <a:latin typeface="Consolas"/>
                        </a:rPr>
                        <a:t>                &lt;div class="card p-4 shadow-sm"&gt;</a:t>
                      </a:r>
                      <a:endParaRPr/>
                    </a:p>
                    <a:p>
                      <a:pPr>
                        <a:lnSpc>
                          <a:spcPct val="100000"/>
                        </a:lnSpc>
                        <a:spcBef>
                          <a:spcPts val="0"/>
                        </a:spcBef>
                        <a:spcAft>
                          <a:spcPts val="0"/>
                        </a:spcAft>
                        <a:defRPr/>
                      </a:pPr>
                      <a:r>
                        <a:rPr sz="800">
                          <a:solidFill>
                            <a:srgbClr val="417BC1"/>
                          </a:solidFill>
                          <a:latin typeface="Consolas"/>
                        </a:rPr>
                        <a:t>                    &lt;div class="mb-3"&gt;</a:t>
                      </a:r>
                      <a:endParaRPr/>
                    </a:p>
                    <a:p>
                      <a:pPr>
                        <a:lnSpc>
                          <a:spcPct val="100000"/>
                        </a:lnSpc>
                        <a:spcBef>
                          <a:spcPts val="0"/>
                        </a:spcBef>
                        <a:spcAft>
                          <a:spcPts val="0"/>
                        </a:spcAft>
                        <a:defRPr/>
                      </a:pPr>
                      <a:r>
                        <a:rPr sz="800">
                          <a:solidFill>
                            <a:srgbClr val="417BC1"/>
                          </a:solidFill>
                          <a:latin typeface="Consolas"/>
                        </a:rPr>
                        <a:t>                        &lt;label class="form-label fw-bold"&gt;Tipo de Conversión&lt;/label&gt;</a:t>
                      </a:r>
                      <a:endParaRPr/>
                    </a:p>
                    <a:p>
                      <a:pPr>
                        <a:lnSpc>
                          <a:spcPct val="100000"/>
                        </a:lnSpc>
                        <a:spcBef>
                          <a:spcPts val="0"/>
                        </a:spcBef>
                        <a:spcAft>
                          <a:spcPts val="0"/>
                        </a:spcAft>
                        <a:defRPr/>
                      </a:pPr>
                      <a:r>
                        <a:rPr sz="800">
                          <a:solidFill>
                            <a:srgbClr val="417BC1"/>
                          </a:solidFill>
                          <a:latin typeface="Consolas"/>
                        </a:rPr>
                        <a:t>                        &lt;select class="form-select" value="@magnitudSeleccionada" @onchange="OnMagnitudChanged"&gt;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3854631" name="Google Shape;518;p6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39342369" name="Google Shape;519;p64"/>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Cambiar Contraseña — fragmento de código</a:t>
            </a:r>
            <a:endParaRPr/>
          </a:p>
        </p:txBody>
      </p:sp>
      <p:sp>
        <p:nvSpPr>
          <p:cNvPr id="2406016" name="Google Shape;520;p6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2053827131" name="Google Shape;521;p64"/>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1050">
                          <a:solidFill>
                            <a:srgbClr val="417BC1"/>
                          </a:solidFill>
                          <a:latin typeface="Consolas"/>
                        </a:rPr>
                        <a:t>@page "/cambiar-contrasenia"</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@inject ec.edu.monster.Servicios.EstadoAplicacion EstadoApp</a:t>
                      </a:r>
                      <a:endParaRPr/>
                    </a:p>
                    <a:p>
                      <a:pPr>
                        <a:lnSpc>
                          <a:spcPct val="100000"/>
                        </a:lnSpc>
                        <a:spcBef>
                          <a:spcPts val="0"/>
                        </a:spcBef>
                        <a:spcAft>
                          <a:spcPts val="0"/>
                        </a:spcAft>
                        <a:defRPr/>
                      </a:pPr>
                      <a:r>
                        <a:rPr sz="1050">
                          <a:solidFill>
                            <a:srgbClr val="417BC1"/>
                          </a:solidFill>
                          <a:latin typeface="Consolas"/>
                        </a:rPr>
                        <a:t>@inject ec.edu.monster.Servicios.FabricaEstrategiaBackend Fabrica</a:t>
                      </a:r>
                      <a:endParaRPr/>
                    </a:p>
                    <a:p>
                      <a:pPr>
                        <a:lnSpc>
                          <a:spcPct val="100000"/>
                        </a:lnSpc>
                        <a:spcBef>
                          <a:spcPts val="0"/>
                        </a:spcBef>
                        <a:spcAft>
                          <a:spcPts val="0"/>
                        </a:spcAft>
                        <a:defRPr/>
                      </a:pPr>
                      <a:r>
                        <a:rPr sz="1050">
                          <a:solidFill>
                            <a:srgbClr val="417BC1"/>
                          </a:solidFill>
                          <a:latin typeface="Consolas"/>
                        </a:rPr>
                        <a:t>@inject NavigationManager NavManager</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&lt;div class="app-layout"&gt;</a:t>
                      </a:r>
                      <a:endParaRPr/>
                    </a:p>
                    <a:p>
                      <a:pPr>
                        <a:lnSpc>
                          <a:spcPct val="100000"/>
                        </a:lnSpc>
                        <a:spcBef>
                          <a:spcPts val="0"/>
                        </a:spcBef>
                        <a:spcAft>
                          <a:spcPts val="0"/>
                        </a:spcAft>
                        <a:defRPr/>
                      </a:pPr>
                      <a:r>
                        <a:rPr sz="1050">
                          <a:solidFill>
                            <a:srgbClr val="417BC1"/>
                          </a:solidFill>
                          <a:latin typeface="Consolas"/>
                        </a:rPr>
                        <a:t>&lt;div class="container py-5" style="max-width: 450px;"&gt;</a:t>
                      </a:r>
                      <a:endParaRPr/>
                    </a:p>
                    <a:p>
                      <a:pPr>
                        <a:lnSpc>
                          <a:spcPct val="100000"/>
                        </a:lnSpc>
                        <a:spcBef>
                          <a:spcPts val="0"/>
                        </a:spcBef>
                        <a:spcAft>
                          <a:spcPts val="0"/>
                        </a:spcAft>
                        <a:defRPr/>
                      </a:pPr>
                      <a:r>
                        <a:rPr sz="1050">
                          <a:solidFill>
                            <a:srgbClr val="417BC1"/>
                          </a:solidFill>
                          <a:latin typeface="Consolas"/>
                        </a:rPr>
                        <a:t>    &lt;div class="card shadow p-4"&gt;</a:t>
                      </a:r>
                      <a:endParaRPr/>
                    </a:p>
                    <a:p>
                      <a:pPr>
                        <a:lnSpc>
                          <a:spcPct val="100000"/>
                        </a:lnSpc>
                        <a:spcBef>
                          <a:spcPts val="0"/>
                        </a:spcBef>
                        <a:spcAft>
                          <a:spcPts val="0"/>
                        </a:spcAft>
                        <a:defRPr/>
                      </a:pPr>
                      <a:r>
                        <a:rPr sz="1050">
                          <a:solidFill>
                            <a:srgbClr val="417BC1"/>
                          </a:solidFill>
                          <a:latin typeface="Consolas"/>
                        </a:rPr>
                        <a:t>        &lt;h4 class="text-center mb-3 text-primary"&gt;Cambiar Contraseña&lt;/h4&gt;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&lt;div class="mb-3"&gt;</a:t>
                      </a:r>
                      <a:endParaRPr/>
                    </a:p>
                    <a:p>
                      <a:pPr>
                        <a:lnSpc>
                          <a:spcPct val="100000"/>
                        </a:lnSpc>
                        <a:spcBef>
                          <a:spcPts val="0"/>
                        </a:spcBef>
                        <a:spcAft>
                          <a:spcPts val="0"/>
                        </a:spcAft>
                        <a:defRPr/>
                      </a:pPr>
                      <a:r>
                        <a:rPr sz="1050">
                          <a:solidFill>
                            <a:srgbClr val="417BC1"/>
                          </a:solidFill>
                          <a:latin typeface="Consolas"/>
                        </a:rPr>
                        <a:t>            &lt;label class="form-label"&gt;Contraseña Actual&lt;/label&gt;</a:t>
                      </a:r>
                      <a:endParaRPr/>
                    </a:p>
                    <a:p>
                      <a:pPr>
                        <a:lnSpc>
                          <a:spcPct val="100000"/>
                        </a:lnSpc>
                        <a:spcBef>
                          <a:spcPts val="0"/>
                        </a:spcBef>
                        <a:spcAft>
                          <a:spcPts val="0"/>
                        </a:spcAft>
                        <a:defRPr/>
                      </a:pPr>
                      <a:r>
                        <a:rPr sz="1050">
                          <a:solidFill>
                            <a:srgbClr val="417BC1"/>
                          </a:solidFill>
                          <a:latin typeface="Consolas"/>
                        </a:rPr>
                        <a:t>            &lt;input type="password" class="form-control" @bind="actual" /&gt;</a:t>
                      </a:r>
                      <a:endParaRPr/>
                    </a:p>
                    <a:p>
                      <a:pPr>
                        <a:lnSpc>
                          <a:spcPct val="100000"/>
                        </a:lnSpc>
                        <a:spcBef>
                          <a:spcPts val="0"/>
                        </a:spcBef>
                        <a:spcAft>
                          <a:spcPts val="0"/>
                        </a:spcAft>
                        <a:defRPr/>
                      </a:pPr>
                      <a:r>
                        <a:rPr sz="1050">
                          <a:solidFill>
                            <a:srgbClr val="417BC1"/>
                          </a:solidFill>
                          <a:latin typeface="Consolas"/>
                        </a:rPr>
                        <a:t>        &lt;/div&gt;</a:t>
                      </a:r>
                      <a:endParaRPr/>
                    </a:p>
                    <a:p>
                      <a:pPr>
                        <a:lnSpc>
                          <a:spcPct val="100000"/>
                        </a:lnSpc>
                        <a:spcBef>
                          <a:spcPts val="0"/>
                        </a:spcBef>
                        <a:spcAft>
                          <a:spcPts val="0"/>
                        </a:spcAft>
                        <a:defRPr/>
                      </a:pPr>
                      <a:r>
                        <a:rPr sz="1050">
                          <a:solidFill>
                            <a:srgbClr val="417BC1"/>
                          </a:solidFill>
                          <a:latin typeface="Consolas"/>
                        </a:rPr>
                        <a:t>        &lt;div class="mb-3"&gt;</a:t>
                      </a:r>
                      <a:endParaRPr/>
                    </a:p>
                    <a:p>
                      <a:pPr>
                        <a:lnSpc>
                          <a:spcPct val="100000"/>
                        </a:lnSpc>
                        <a:spcBef>
                          <a:spcPts val="0"/>
                        </a:spcBef>
                        <a:spcAft>
                          <a:spcPts val="0"/>
                        </a:spcAft>
                        <a:defRPr/>
                      </a:pPr>
                      <a:r>
                        <a:rPr sz="1050">
                          <a:solidFill>
                            <a:srgbClr val="417BC1"/>
                          </a:solidFill>
                          <a:latin typeface="Consolas"/>
                        </a:rPr>
                        <a:t>            &lt;label class="form-label"&gt;Nueva Contraseña&lt;/label&gt;</a:t>
                      </a:r>
                      <a:endParaRPr/>
                    </a:p>
                    <a:p>
                      <a:pPr>
                        <a:lnSpc>
                          <a:spcPct val="100000"/>
                        </a:lnSpc>
                        <a:spcBef>
                          <a:spcPts val="0"/>
                        </a:spcBef>
                        <a:spcAft>
                          <a:spcPts val="0"/>
                        </a:spcAft>
                        <a:defRPr/>
                      </a:pPr>
                      <a:r>
                        <a:rPr sz="1050">
                          <a:solidFill>
                            <a:srgbClr val="417BC1"/>
                          </a:solidFill>
                          <a:latin typeface="Consolas"/>
                        </a:rPr>
                        <a:t>            &lt;input type="password" class="form-control" @bind="nueva" /&gt;</a:t>
                      </a:r>
                      <a:endParaRPr/>
                    </a:p>
                    <a:p>
                      <a:pPr>
                        <a:lnSpc>
                          <a:spcPct val="100000"/>
                        </a:lnSpc>
                        <a:spcBef>
                          <a:spcPts val="0"/>
                        </a:spcBef>
                        <a:spcAft>
                          <a:spcPts val="0"/>
                        </a:spcAft>
                        <a:defRPr/>
                      </a:pPr>
                      <a:r>
                        <a:rPr sz="1050">
                          <a:solidFill>
                            <a:srgbClr val="417BC1"/>
                          </a:solidFill>
                          <a:latin typeface="Consolas"/>
                        </a:rPr>
                        <a:t>        &lt;/div&gt;</a:t>
                      </a:r>
                      <a:endParaRPr/>
                    </a:p>
                    <a:p>
                      <a:pPr>
                        <a:lnSpc>
                          <a:spcPct val="100000"/>
                        </a:lnSpc>
                        <a:spcBef>
                          <a:spcPts val="0"/>
                        </a:spcBef>
                        <a:spcAft>
                          <a:spcPts val="0"/>
                        </a:spcAft>
                        <a:defRPr/>
                      </a:pPr>
                      <a:r>
                        <a:rPr sz="1050">
                          <a:solidFill>
                            <a:srgbClr val="417BC1"/>
                          </a:solidFill>
                          <a:latin typeface="Consolas"/>
                        </a:rPr>
                        <a:t>        &lt;div class="mb-3"&gt;</a:t>
                      </a:r>
                      <a:endParaRPr/>
                    </a:p>
                    <a:p>
                      <a:pPr>
                        <a:lnSpc>
                          <a:spcPct val="100000"/>
                        </a:lnSpc>
                        <a:spcBef>
                          <a:spcPts val="0"/>
                        </a:spcBef>
                        <a:spcAft>
                          <a:spcPts val="0"/>
                        </a:spcAft>
                        <a:defRPr/>
                      </a:pPr>
                      <a:r>
                        <a:rPr sz="1050">
                          <a:solidFill>
                            <a:srgbClr val="417BC1"/>
                          </a:solidFill>
                          <a:latin typeface="Consolas"/>
                        </a:rPr>
                        <a:t>            &lt;label class="form-label"&gt;Confirmar Nueva Contraseña&lt;/label&gt;</a:t>
                      </a:r>
                      <a:endParaRPr/>
                    </a:p>
                    <a:p>
                      <a:pPr>
                        <a:lnSpc>
                          <a:spcPct val="100000"/>
                        </a:lnSpc>
                        <a:spcBef>
                          <a:spcPts val="0"/>
                        </a:spcBef>
                        <a:spcAft>
                          <a:spcPts val="0"/>
                        </a:spcAft>
                        <a:defRPr/>
                      </a:pPr>
                      <a:r>
                        <a:rPr sz="1050">
                          <a:solidFill>
                            <a:srgbClr val="417BC1"/>
                          </a:solidFill>
                          <a:latin typeface="Consolas"/>
                        </a:rPr>
                        <a:t>            &lt;input type="password" class="form-control" @bind="confirmacion" /&gt;</a:t>
                      </a:r>
                      <a:endParaRPr/>
                    </a:p>
                    <a:p>
                      <a:pPr>
                        <a:lnSpc>
                          <a:spcPct val="100000"/>
                        </a:lnSpc>
                        <a:spcBef>
                          <a:spcPts val="0"/>
                        </a:spcBef>
                        <a:spcAft>
                          <a:spcPts val="0"/>
                        </a:spcAft>
                        <a:defRPr/>
                      </a:pPr>
                      <a:r>
                        <a:rPr sz="1050">
                          <a:solidFill>
                            <a:srgbClr val="417BC1"/>
                          </a:solidFill>
                          <a:latin typeface="Consolas"/>
                        </a:rPr>
                        <a:t>        &lt;/div&gt;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&lt;div class="row g-2"&gt;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713338" name="Google Shape;526;p6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709796627" name="Google Shape;527;p6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AdaptadorAutenticacionJavaSoap — fragmento de código</a:t>
            </a:r>
            <a:endParaRPr/>
          </a:p>
        </p:txBody>
      </p:sp>
      <p:sp>
        <p:nvSpPr>
          <p:cNvPr id="1736951640" name="Google Shape;528;p6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563231036" name="Google Shape;529;p65"/>
          <p:cNvGraphicFramePr>
            <a:graphicFrameLocks xmlns:a="http://schemas.openxmlformats.org/drawingml/2006/main"/>
          </p:cNvGraphicFramePr>
          <p:nvPr/>
        </p:nvGraphicFramePr>
        <p:xfrm rot="0">
          <a:off x="2332825" y="2024212"/>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03675">
                <a:tc>
                  <a:txBody>
                    <a:bodyPr/>
                    <a:p>
                      <a:pPr marL="0" lvl="0" indent="0" algn="l" rtl="0">
                        <a:lnSpc>
                          <a:spcPct val="100000"/>
                        </a:lnSpc>
                        <a:spcBef>
                          <a:spcPts val="0"/>
                        </a:spcBef>
                        <a:spcAft>
                          <a:spcPts val="0"/>
                        </a:spcAft>
                        <a:buNone/>
                        <a:defRPr/>
                      </a:pPr>
                      <a:r>
                        <a:rPr sz="800">
                          <a:solidFill>
                            <a:srgbClr val="417BC1"/>
                          </a:solidFill>
                          <a:latin typeface="Consolas"/>
                        </a:rPr>
                        <a:t>using System.Text;</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using System.Xml.Linq;</a:t>
                      </a:r>
                      <a:endParaRPr/>
                    </a:p>
                    <a:p>
                      <a:pPr>
                        <a:lnSpc>
                          <a:spcPct val="100000"/>
                        </a:lnSpc>
                        <a:spcBef>
                          <a:spcPts val="0"/>
                        </a:spcBef>
                        <a:spcAft>
                          <a:spcPts val="0"/>
                        </a:spcAft>
                        <a:defRPr/>
                      </a:pPr>
                      <a:r>
                        <a:rPr sz="800">
                          <a:solidFill>
                            <a:srgbClr val="417BC1"/>
                          </a:solidFill>
                          <a:latin typeface="Consolas"/>
                        </a:rPr>
                        <a:t>using ec.edu.monster.Interfaces;</a:t>
                      </a:r>
                      <a:endParaRPr/>
                    </a:p>
                    <a:p>
                      <a:pPr>
                        <a:lnSpc>
                          <a:spcPct val="100000"/>
                        </a:lnSpc>
                        <a:spcBef>
                          <a:spcPts val="0"/>
                        </a:spcBef>
                        <a:spcAft>
                          <a:spcPts val="0"/>
                        </a:spcAft>
                        <a:defRPr/>
                      </a:pPr>
                      <a:r>
                        <a:rPr sz="800">
                          <a:solidFill>
                            <a:srgbClr val="417BC1"/>
                          </a:solidFill>
                          <a:latin typeface="Consolas"/>
                        </a:rPr>
                        <a:t>using ec.edu.monster.Modelos;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namespace ec.edu.monster.Adaptadores;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public class AdaptadorAutenticacionJavaSoap : IAdaptadorAutenticacion</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public TipoBackend Tipo =&gt; TipoBackend.JavaSoap;</a:t>
                      </a:r>
                      <a:endParaRPr/>
                    </a:p>
                    <a:p>
                      <a:pPr>
                        <a:lnSpc>
                          <a:spcPct val="100000"/>
                        </a:lnSpc>
                        <a:spcBef>
                          <a:spcPts val="0"/>
                        </a:spcBef>
                        <a:spcAft>
                          <a:spcPts val="0"/>
                        </a:spcAft>
                        <a:defRPr/>
                      </a:pPr>
                      <a:r>
                        <a:rPr sz="800">
                          <a:solidFill>
                            <a:srgbClr val="417BC1"/>
                          </a:solidFill>
                          <a:latin typeface="Consolas"/>
                        </a:rPr>
                        <a:t>    private readonly HttpClient _httpClient;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AdaptadorAutenticacionJavaSoap(HttpClient httpClient)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_httpClient = httpClient;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public async Task&lt;string&gt; IniciarSesionAsync(string usuario, string contrasenia)</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string soapXml = $@"&lt;soapenv:Envelope xmlns:soapenv=""http://schemas.xmlsoap.org/soap/envelope/"" xmlns:ws=""http://ws.controladores.monster.edu.ec/""&gt;</a:t>
                      </a:r>
                      <a:endParaRPr/>
                    </a:p>
                    <a:p>
                      <a:pPr>
                        <a:lnSpc>
                          <a:spcPct val="100000"/>
                        </a:lnSpc>
                        <a:spcBef>
                          <a:spcPts val="0"/>
                        </a:spcBef>
                        <a:spcAft>
                          <a:spcPts val="0"/>
                        </a:spcAft>
                        <a:defRPr/>
                      </a:pPr>
                      <a:r>
                        <a:rPr sz="800">
                          <a:solidFill>
                            <a:srgbClr val="417BC1"/>
                          </a:solidFill>
                          <a:latin typeface="Consolas"/>
                        </a:rPr>
                        <a:t>                               &lt;soapenv:Header/&gt;</a:t>
                      </a:r>
                      <a:endParaRPr/>
                    </a:p>
                    <a:p>
                      <a:pPr>
                        <a:lnSpc>
                          <a:spcPct val="100000"/>
                        </a:lnSpc>
                        <a:spcBef>
                          <a:spcPts val="0"/>
                        </a:spcBef>
                        <a:spcAft>
                          <a:spcPts val="0"/>
                        </a:spcAft>
                        <a:defRPr/>
                      </a:pPr>
                      <a:r>
                        <a:rPr sz="800">
                          <a:solidFill>
                            <a:srgbClr val="417BC1"/>
                          </a:solidFill>
                          <a:latin typeface="Consolas"/>
                        </a:rPr>
                        <a:t>                               &lt;soapenv:Body&gt;</a:t>
                      </a:r>
                      <a:endParaRPr/>
                    </a:p>
                    <a:p>
                      <a:pPr>
                        <a:lnSpc>
                          <a:spcPct val="100000"/>
                        </a:lnSpc>
                        <a:spcBef>
                          <a:spcPts val="0"/>
                        </a:spcBef>
                        <a:spcAft>
                          <a:spcPts val="0"/>
                        </a:spcAft>
                        <a:defRPr/>
                      </a:pPr>
                      <a:r>
                        <a:rPr sz="800">
                          <a:solidFill>
                            <a:srgbClr val="417BC1"/>
                          </a:solidFill>
                          <a:latin typeface="Consolas"/>
                        </a:rPr>
                        <a:t>                                  &lt;ws:login&gt;</a:t>
                      </a:r>
                      <a:endParaRPr/>
                    </a:p>
                    <a:p>
                      <a:pPr>
                        <a:lnSpc>
                          <a:spcPct val="100000"/>
                        </a:lnSpc>
                        <a:spcBef>
                          <a:spcPts val="0"/>
                        </a:spcBef>
                        <a:spcAft>
                          <a:spcPts val="0"/>
                        </a:spcAft>
                        <a:defRPr/>
                      </a:pPr>
                      <a:r>
                        <a:rPr sz="800">
                          <a:solidFill>
                            <a:srgbClr val="417BC1"/>
                          </a:solidFill>
                          <a:latin typeface="Consolas"/>
                        </a:rPr>
                        <a:t>                                     &lt;usuario&gt;{usuario}&lt;/usuario&gt;</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8232859" name="Google Shape;438;p5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542047435" name="Google Shape;439;p54"/>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50" b="1" i="0">
                <a:solidFill>
                  <a:srgbClr val="373737"/>
                </a:solidFill>
                <a:latin typeface="Cambria"/>
              </a:rPr>
              <a:t>4.3  Componentes compartidos</a:t>
            </a:r>
            <a:endParaRPr sz="1100">
              <a:solidFill>
                <a:schemeClr val="dk1"/>
              </a:solidFill>
              <a:latin typeface="Calibri"/>
              <a:ea typeface="Calibri"/>
              <a:cs typeface="Calibri"/>
            </a:endParaRPr>
          </a:p>
          <a:p>
            <a:pPr algn="l">
              <a:spcBef>
                <a:spcPts val="0"/>
              </a:spcBef>
              <a:spcAft>
                <a:spcPts val="600"/>
              </a:spcAft>
              <a:defRPr/>
            </a:pPr>
            <a:r>
              <a:rPr sz="1450" b="0" i="0">
                <a:solidFill>
                  <a:srgbClr val="373737"/>
                </a:solidFill>
                <a:latin typeface="Cambria"/>
              </a:rPr>
              <a:t>AdaptadorConversionJavaSoap — fragmento de código</a:t>
            </a:r>
            <a:endParaRPr/>
          </a:p>
        </p:txBody>
      </p:sp>
      <p:sp>
        <p:nvSpPr>
          <p:cNvPr id="1640845926" name="Google Shape;440;p5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rgbClr val="FFFF00"/>
              </a:buClr>
              <a:buSzPts val="1200"/>
              <a:buFont typeface="Gill Sans"/>
              <a:buChar char="◼"/>
              <a:defRPr/>
            </a:pPr>
            <a:r>
              <a:rPr lang="es-ES" sz="1200" b="1">
                <a:solidFill>
                  <a:srgbClr val="FFFFFF"/>
                </a:solidFill>
                <a:latin typeface="Gill Sans"/>
                <a:ea typeface="Gill Sans"/>
                <a:cs typeface="Gill Sans"/>
              </a:rPr>
              <a:t>CLIENTE CONSOLA</a:t>
            </a:r>
            <a:endParaRPr sz="1200" b="1">
              <a:solidFill>
                <a:srgbClr val="FFFF00"/>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graphicFrame>
        <p:nvGraphicFramePr>
          <p:cNvPr id="1037579918" name="Google Shape;441;p54"/>
          <p:cNvGraphicFramePr>
            <a:graphicFrameLocks xmlns:a="http://schemas.openxmlformats.org/drawingml/2006/main"/>
          </p:cNvGraphicFramePr>
          <p:nvPr/>
        </p:nvGraphicFramePr>
        <p:xfrm rot="0">
          <a:off x="2311225" y="2755638"/>
          <a:ext cx="3000000" cy="3000000"/>
        </p:xfrm>
        <a:graphic>
          <a:graphicData uri="http://schemas.openxmlformats.org/drawingml/2006/table">
            <a:tbl>
              <a:tblPr firstRow="0" firstCol="0" lastRow="0" lastCol="0" bandRow="0" bandCol="0">
                <a:tableStyleId>{BF136021-7255-42B7-A7E7-87A8D8FFE9CA}</a:tableStyleId>
                <a:noFill/>
              </a:tblPr>
              <a:tblGrid>
                <a:gridCol w="5903875"/>
              </a:tblGrid>
              <a:tr h="2513700">
                <a:tc>
                  <a:txBody>
                    <a:bodyPr/>
                    <a:p>
                      <a:pPr marL="0" lvl="0" indent="0" algn="l" rtl="0">
                        <a:lnSpc>
                          <a:spcPct val="100000"/>
                        </a:lnSpc>
                        <a:spcBef>
                          <a:spcPts val="0"/>
                        </a:spcBef>
                        <a:spcAft>
                          <a:spcPts val="0"/>
                        </a:spcAft>
                        <a:buNone/>
                        <a:defRPr/>
                      </a:pPr>
                      <a:r>
                        <a:rPr sz="1050">
                          <a:solidFill>
                            <a:srgbClr val="417BC1"/>
                          </a:solidFill>
                          <a:latin typeface="Consolas"/>
                        </a:rPr>
                        <a:t>using System.Globalization;</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using System.Text;</a:t>
                      </a:r>
                      <a:endParaRPr/>
                    </a:p>
                    <a:p>
                      <a:pPr>
                        <a:lnSpc>
                          <a:spcPct val="100000"/>
                        </a:lnSpc>
                        <a:spcBef>
                          <a:spcPts val="0"/>
                        </a:spcBef>
                        <a:spcAft>
                          <a:spcPts val="0"/>
                        </a:spcAft>
                        <a:defRPr/>
                      </a:pPr>
                      <a:r>
                        <a:rPr sz="1050">
                          <a:solidFill>
                            <a:srgbClr val="417BC1"/>
                          </a:solidFill>
                          <a:latin typeface="Consolas"/>
                        </a:rPr>
                        <a:t>using System.Xml.Linq;</a:t>
                      </a:r>
                      <a:endParaRPr/>
                    </a:p>
                    <a:p>
                      <a:pPr>
                        <a:lnSpc>
                          <a:spcPct val="100000"/>
                        </a:lnSpc>
                        <a:spcBef>
                          <a:spcPts val="0"/>
                        </a:spcBef>
                        <a:spcAft>
                          <a:spcPts val="0"/>
                        </a:spcAft>
                        <a:defRPr/>
                      </a:pPr>
                      <a:r>
                        <a:rPr sz="1050">
                          <a:solidFill>
                            <a:srgbClr val="417BC1"/>
                          </a:solidFill>
                          <a:latin typeface="Consolas"/>
                        </a:rPr>
                        <a:t>using ec.edu.monster.Interfaces;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namespace ec.edu.monster.Adaptadores;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public class AdaptadorConversionJavaSoap : IAdaptadorConversion</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public TipoBackend Tipo =&gt; TipoBackend.JavaSoap;</a:t>
                      </a:r>
                      <a:endParaRPr/>
                    </a:p>
                    <a:p>
                      <a:pPr>
                        <a:lnSpc>
                          <a:spcPct val="100000"/>
                        </a:lnSpc>
                        <a:spcBef>
                          <a:spcPts val="0"/>
                        </a:spcBef>
                        <a:spcAft>
                          <a:spcPts val="0"/>
                        </a:spcAft>
                        <a:defRPr/>
                      </a:pPr>
                      <a:r>
                        <a:rPr sz="1050">
                          <a:solidFill>
                            <a:srgbClr val="417BC1"/>
                          </a:solidFill>
                          <a:latin typeface="Consolas"/>
                        </a:rPr>
                        <a:t>    private readonly HttpClient _httpClient;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AdaptadorConversionJavaSoap(HttpClient httpClient)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_httpClient = httpClient;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public async Task&lt;double&gt; ConvertirAsync(PeticionConversion peticion, string token)</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string metodoWs = peticion.TipoConversion switch</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"Masa" =&gt; "convertirMasa",</a:t>
                      </a:r>
                      <a:endParaRPr/>
                    </a:p>
                    <a:p>
                      <a:pPr>
                        <a:lnSpc>
                          <a:spcPct val="100000"/>
                        </a:lnSpc>
                        <a:spcBef>
                          <a:spcPts val="0"/>
                        </a:spcBef>
                        <a:spcAft>
                          <a:spcPts val="0"/>
                        </a:spcAft>
                        <a:defRPr/>
                      </a:pPr>
                      <a:r>
                        <a:rPr sz="1050">
                          <a:solidFill>
                            <a:srgbClr val="417BC1"/>
                          </a:solidFill>
                          <a:latin typeface="Consolas"/>
                        </a:rPr>
                        <a:t>            "Temperatura" =&gt; "convertirTemperatura",</a:t>
                      </a:r>
                      <a:endParaRPr/>
                    </a:p>
                    <a:p>
                      <a:pPr>
                        <a:lnSpc>
                          <a:spcPct val="100000"/>
                        </a:lnSpc>
                        <a:spcBef>
                          <a:spcPts val="0"/>
                        </a:spcBef>
                        <a:spcAft>
                          <a:spcPts val="0"/>
                        </a:spcAft>
                        <a:defRPr/>
                      </a:pPr>
                      <a:r>
                        <a:rPr sz="1050">
                          <a:solidFill>
                            <a:srgbClr val="417BC1"/>
                          </a:solidFill>
                          <a:latin typeface="Consolas"/>
                        </a:rPr>
                        <a:t>            _ =&gt; "convertirLongitud"</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Fragmento de la clase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6426827" name="Google Shape;534;p6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33749984" name="Google Shape;535;p66"/>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879698919" name="Google Shape;536;p66"/>
          <p:cNvSpPr txBox="1"/>
          <p:nvPr>
            <p:ph type="body" idx="1"/>
          </p:nvPr>
        </p:nvSpPr>
        <p:spPr bwMode="auto">
          <a:xfrm>
            <a:off x="581200" y="1902979"/>
            <a:ext cx="8589300" cy="1170900"/>
          </a:xfrm>
          <a:prstGeom prst="rect">
            <a:avLst/>
          </a:prstGeom>
          <a:noFill/>
          <a:ln>
            <a:noFill/>
          </a:ln>
        </p:spPr>
        <p:txBody>
          <a:bodyPr spcFirstLastPara="1" wrap="square" lIns="27432" tIns="18288" rIns="27432" bIns="18288" anchor="ctr" anchorCtr="0">
            <a:noAutofit/>
          </a:bodyPr>
          <a:lstStyle/>
          <a:p>
            <a:pPr marL="457200" lvl="0" indent="-333753" algn="l" rtl="0">
              <a:lnSpc>
                <a:spcPct val="107000"/>
              </a:lnSpc>
              <a:spcBef>
                <a:spcPts val="0"/>
              </a:spcBef>
              <a:spcAft>
                <a:spcPts val="200"/>
              </a:spcAft>
              <a:buSzPts val="1656"/>
              <a:buChar char="●"/>
              <a:defRPr/>
            </a:pPr>
            <a:r>
              <a:rPr sz="1400" b="1" i="0">
                <a:solidFill>
                  <a:srgbClr val="373737"/>
                </a:solidFill>
                <a:latin typeface="Cambria"/>
              </a:rPr>
              <a:t>4.5  Cliente escritorio — MauiProgram</a:t>
            </a:r>
            <a:endParaRPr>
              <a:latin typeface="Cambria"/>
              <a:ea typeface="Cambria"/>
              <a:cs typeface="Cambria"/>
            </a:endParaRPr>
          </a:p>
          <a:p>
            <a:pPr algn="l">
              <a:spcBef>
                <a:spcPts val="0"/>
              </a:spcBef>
              <a:spcAft>
                <a:spcPts val="600"/>
              </a:spcAft>
              <a:defRPr/>
            </a:pPr>
            <a:r>
              <a:rPr sz="1400" b="0" i="0">
                <a:solidFill>
                  <a:srgbClr val="373737"/>
                </a:solidFill>
                <a:latin typeface="Cambria"/>
              </a:rPr>
              <a:t>Fragmento del código documentado por el grupo 1.</a:t>
            </a:r>
            <a:endParaRPr/>
          </a:p>
        </p:txBody>
      </p:sp>
      <p:sp>
        <p:nvSpPr>
          <p:cNvPr id="1995817945" name="Google Shape;537;p66"/>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4.5  Cliente escritorio — MauiProgram</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412282947" name="Google Shape;538;p66"/>
          <p:cNvGraphicFramePr>
            <a:graphicFrameLocks xmlns:a="http://schemas.openxmlformats.org/drawingml/2006/main"/>
          </p:cNvGraphicFramePr>
          <p:nvPr/>
        </p:nvGraphicFramePr>
        <p:xfrm rot="0">
          <a:off x="2332838" y="3073863"/>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3453000">
                <a:tc>
                  <a:txBody>
                    <a:bodyPr/>
                    <a:p>
                      <a:pPr marL="0" lvl="0" indent="0" algn="l" rtl="0">
                        <a:lnSpc>
                          <a:spcPct val="100000"/>
                        </a:lnSpc>
                        <a:spcBef>
                          <a:spcPts val="0"/>
                        </a:spcBef>
                        <a:spcAft>
                          <a:spcPts val="0"/>
                        </a:spcAft>
                        <a:buClr>
                          <a:schemeClr val="dk1"/>
                        </a:buClr>
                        <a:buSzPts val="1100"/>
                        <a:buFont typeface="Arial"/>
                        <a:buNone/>
                        <a:defRPr/>
                      </a:pPr>
                      <a:r>
                        <a:rPr sz="1050">
                          <a:solidFill>
                            <a:srgbClr val="417BC1"/>
                          </a:solidFill>
                          <a:latin typeface="Consolas"/>
                        </a:rPr>
                        <a:t>using Microsoft.Extensions.Logging;</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using Microsoft.Extensions.DependencyInjection;</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namespace SistemaConversorUI.Maui</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public static class MauiProgram</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public static MauiApp CreateMauiApp()</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var builder = MauiApp.CreateBuilder();</a:t>
                      </a:r>
                      <a:endParaRPr/>
                    </a:p>
                    <a:p>
                      <a:pPr>
                        <a:lnSpc>
                          <a:spcPct val="100000"/>
                        </a:lnSpc>
                        <a:spcBef>
                          <a:spcPts val="0"/>
                        </a:spcBef>
                        <a:spcAft>
                          <a:spcPts val="0"/>
                        </a:spcAft>
                        <a:defRPr/>
                      </a:pPr>
                      <a:r>
                        <a:rPr sz="1050">
                          <a:solidFill>
                            <a:srgbClr val="417BC1"/>
                          </a:solidFill>
                          <a:latin typeface="Consolas"/>
                        </a:rPr>
                        <a:t>            builder</a:t>
                      </a:r>
                      <a:endParaRPr/>
                    </a:p>
                    <a:p>
                      <a:pPr>
                        <a:lnSpc>
                          <a:spcPct val="100000"/>
                        </a:lnSpc>
                        <a:spcBef>
                          <a:spcPts val="0"/>
                        </a:spcBef>
                        <a:spcAft>
                          <a:spcPts val="0"/>
                        </a:spcAft>
                        <a:defRPr/>
                      </a:pPr>
                      <a:r>
                        <a:rPr sz="1050">
                          <a:solidFill>
                            <a:srgbClr val="417BC1"/>
                          </a:solidFill>
                          <a:latin typeface="Consolas"/>
                        </a:rPr>
                        <a:t>                .UseMauiApp&lt;App&gt;()</a:t>
                      </a:r>
                      <a:endParaRPr/>
                    </a:p>
                    <a:p>
                      <a:pPr>
                        <a:lnSpc>
                          <a:spcPct val="100000"/>
                        </a:lnSpc>
                        <a:spcBef>
                          <a:spcPts val="0"/>
                        </a:spcBef>
                        <a:spcAft>
                          <a:spcPts val="0"/>
                        </a:spcAft>
                        <a:defRPr/>
                      </a:pPr>
                      <a:r>
                        <a:rPr sz="1050">
                          <a:solidFill>
                            <a:srgbClr val="417BC1"/>
                          </a:solidFill>
                          <a:latin typeface="Consolas"/>
                        </a:rPr>
                        <a:t>                .ConfigureFonts(fonts =&gt;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fonts.AddFont("OpenSans-Regular.ttf", "OpenSansRegular");</a:t>
                      </a:r>
                      <a:endParaRPr/>
                    </a:p>
                  </a:txBody>
                  <a:tcPr marL="63500" marR="63500" marT="63500" marB="63500"/>
                </a:tc>
              </a:tr>
            </a:tbl>
          </a:graphicData>
        </a:graphic>
      </p:graphicFrame>
      <p:sp>
        <p:nvSpPr>
          <p:cNvPr id="1956067529" name="Google Shape;539;p66"/>
          <p:cNvSpPr txBox="1"/>
          <p:nvPr/>
        </p:nvSpPr>
        <p:spPr bwMode="auto">
          <a:xfrm>
            <a:off x="122574" y="1715850"/>
            <a:ext cx="7232400" cy="758100"/>
          </a:xfrm>
          <a:prstGeom prst="rect">
            <a:avLst/>
          </a:prstGeom>
          <a:noFill/>
          <a:ln>
            <a:noFill/>
          </a:ln>
        </p:spPr>
        <p:txBody>
          <a:bodyPr spcFirstLastPara="1" wrap="square" lIns="91425" tIns="91425" rIns="91425" bIns="91425" anchor="t" anchorCtr="0">
            <a:spAutoFit/>
          </a:bodyPr>
          <a:lstStyle/>
          <a:p>
            <a:pPr marL="0" lvl="0" indent="0" algn="just" rtl="0">
              <a:lnSpc>
                <a:spcPct val="107000"/>
              </a:lnSpc>
              <a:spcBef>
                <a:spcPts val="0"/>
              </a:spcBef>
              <a:spcAft>
                <a:spcPts val="0"/>
              </a:spcAft>
              <a:buNone/>
              <a:defRPr/>
            </a:pPr>
            <a:r>
              <a:rPr lang="es-ES" sz="1800" b="1">
                <a:solidFill>
                  <a:schemeClr val="dk2"/>
                </a:solidFill>
                <a:latin typeface="Cambria"/>
                <a:ea typeface="Cambria"/>
                <a:cs typeface="Cambria"/>
              </a:rPr>
              <a:t>1.6 	CREACIÓN DEL PROYECTO – CLIENTE ESCRITORIO</a:t>
            </a:r>
            <a:br>
              <a:rPr lang="es-ES" sz="1800" b="1">
                <a:solidFill>
                  <a:schemeClr val="dk2"/>
                </a:solidFill>
                <a:latin typeface="Cambria"/>
                <a:ea typeface="Cambria"/>
                <a:cs typeface="Cambria"/>
              </a:rPr>
            </a:br>
            <a:endParaRPr sz="1800">
              <a:solidFill>
                <a:schemeClr val="dk2"/>
              </a:solidFill>
              <a:latin typeface="Gill Sans"/>
              <a:ea typeface="Gill Sans"/>
              <a:cs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2212327" name="Google Shape;544;p6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366215477" name="Google Shape;545;p67"/>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540094293" name="Google Shape;546;p67"/>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4.5  Configuración de servicios</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856548228" name="Google Shape;547;p67"/>
          <p:cNvGraphicFramePr>
            <a:graphicFrameLocks xmlns:a="http://schemas.openxmlformats.org/drawingml/2006/main"/>
          </p:cNvGraphicFramePr>
          <p:nvPr/>
        </p:nvGraphicFramePr>
        <p:xfrm rot="0">
          <a:off x="2332838" y="213623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23900">
                <a:tc>
                  <a:txBody>
                    <a:bodyPr/>
                    <a:p>
                      <a:pPr marL="0" lvl="0" indent="0" algn="l" rtl="0">
                        <a:lnSpc>
                          <a:spcPct val="100000"/>
                        </a:lnSpc>
                        <a:spcBef>
                          <a:spcPts val="0"/>
                        </a:spcBef>
                        <a:spcAft>
                          <a:spcPts val="0"/>
                        </a:spcAft>
                        <a:buNone/>
                        <a:defRPr/>
                      </a:pPr>
                      <a:r>
                        <a:rPr sz="800">
                          <a:solidFill>
                            <a:srgbClr val="417BC1"/>
                          </a:solidFill>
                          <a:latin typeface="Consolas"/>
                        </a:rPr>
                        <a:t>                });</a:t>
                      </a:r>
                      <a:endParaRPr sz="1100">
                        <a:solidFill>
                          <a:schemeClr val="dk1"/>
                        </a:solidFill>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builder.Services.AddMauiBlazorWebView();</a:t>
                      </a:r>
                      <a:endParaRPr/>
                    </a:p>
                    <a:p>
                      <a:pPr>
                        <a:lnSpc>
                          <a:spcPct val="100000"/>
                        </a:lnSpc>
                        <a:spcBef>
                          <a:spcPts val="0"/>
                        </a:spcBef>
                        <a:spcAft>
                          <a:spcPts val="0"/>
                        </a:spcAft>
                        <a:defRPr/>
                      </a:pPr>
                      <a:r>
                        <a:rPr sz="800">
                          <a:solidFill>
                            <a:srgbClr val="417BC1"/>
                          </a:solidFill>
                          <a:latin typeface="Consolas"/>
                        </a:rPr>
                        <a:t>            // 1. Cliente HTTP</a:t>
                      </a:r>
                      <a:endParaRPr/>
                    </a:p>
                    <a:p>
                      <a:pPr>
                        <a:lnSpc>
                          <a:spcPct val="100000"/>
                        </a:lnSpc>
                        <a:spcBef>
                          <a:spcPts val="0"/>
                        </a:spcBef>
                        <a:spcAft>
                          <a:spcPts val="0"/>
                        </a:spcAft>
                        <a:defRPr/>
                      </a:pPr>
                      <a:r>
                        <a:rPr sz="800">
                          <a:solidFill>
                            <a:srgbClr val="417BC1"/>
                          </a:solidFill>
                          <a:latin typeface="Consolas"/>
                        </a:rPr>
                        <a:t>            builder.Services.AddHttpClient();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2. SERVICIOS CORE</a:t>
                      </a:r>
                      <a:endParaRPr/>
                    </a:p>
                    <a:p>
                      <a:pPr>
                        <a:lnSpc>
                          <a:spcPct val="100000"/>
                        </a:lnSpc>
                        <a:spcBef>
                          <a:spcPts val="0"/>
                        </a:spcBef>
                        <a:spcAft>
                          <a:spcPts val="0"/>
                        </a:spcAft>
                        <a:defRPr/>
                      </a:pPr>
                      <a:r>
                        <a:rPr sz="800">
                          <a:solidFill>
                            <a:srgbClr val="417BC1"/>
                          </a:solidFill>
                          <a:latin typeface="Consolas"/>
                        </a:rPr>
                        <a:t>            builder.Services.AddScoped&lt;ec.edu.monster.Servicios.EstadoAplicacion&gt;();</a:t>
                      </a:r>
                      <a:endParaRPr/>
                    </a:p>
                    <a:p>
                      <a:pPr>
                        <a:lnSpc>
                          <a:spcPct val="100000"/>
                        </a:lnSpc>
                        <a:spcBef>
                          <a:spcPts val="0"/>
                        </a:spcBef>
                        <a:spcAft>
                          <a:spcPts val="0"/>
                        </a:spcAft>
                        <a:defRPr/>
                      </a:pPr>
                      <a:r>
                        <a:rPr sz="800">
                          <a:solidFill>
                            <a:srgbClr val="417BC1"/>
                          </a:solidFill>
                          <a:latin typeface="Consolas"/>
                        </a:rPr>
                        <a:t>            builder.Services.AddScoped&lt;ec.edu.monster.Servicios.FabricaEstrategiaBackend&gt;();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3. ADAPTADORES (Igual que en la Web)</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 ec.edu.monster.Adaptadores.AdaptadorAutenticacionJavaSoap&gt;();</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 ec.edu.monster.Adaptadores.AdaptadorAutenticacionDotNetSoap&gt;();</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 ec.edu.monster.Adaptadores.AdaptadorAutenticacionDotNetRest&gt;();</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 ec.edu.monster.Adaptadores.AdaptadorAutenticacionJavaRest&gt;();</a:t>
                      </a:r>
                      <a:endParaRPr/>
                    </a:p>
                    <a:p>
                      <a:pPr>
                        <a:lnSpc>
                          <a:spcPct val="100000"/>
                        </a:lnSpc>
                        <a:spcBef>
                          <a:spcPts val="0"/>
                        </a:spcBef>
                        <a:spcAft>
                          <a:spcPts val="0"/>
                        </a:spcAft>
                        <a:defRPr/>
                      </a:pP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250536" name="Google Shape;552;p6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08418196" name="Google Shape;553;p68"/>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321767759" name="Google Shape;554;p68"/>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4.5  Inyección de dependencias</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2018943620" name="Google Shape;555;p68"/>
          <p:cNvGraphicFramePr>
            <a:graphicFrameLocks xmlns:a="http://schemas.openxmlformats.org/drawingml/2006/main"/>
          </p:cNvGraphicFramePr>
          <p:nvPr/>
        </p:nvGraphicFramePr>
        <p:xfrm rot="0">
          <a:off x="2332838" y="213623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23900">
                <a:tc>
                  <a:txBody>
                    <a:bodyPr/>
                    <a:p>
                      <a:pPr marL="0" lvl="0" indent="0" algn="l" rtl="0">
                        <a:lnSpc>
                          <a:spcPct val="100000"/>
                        </a:lnSpc>
                        <a:spcBef>
                          <a:spcPts val="0"/>
                        </a:spcBef>
                        <a:spcAft>
                          <a:spcPts val="0"/>
                        </a:spcAft>
                        <a:buNone/>
                        <a:defRPr/>
                      </a:pPr>
                      <a:r>
                        <a:rPr sz="800">
                          <a:solidFill>
                            <a:srgbClr val="417BC1"/>
                          </a:solidFill>
                          <a:latin typeface="Consolas"/>
                        </a:rPr>
                        <a:t>            builder.Services.AddScoped&lt;ec.edu.monster.Interfaces.IAdaptadorConversion, ec.edu.monster.Adaptadores.AdaptadorConversionJavaSoap&gt;();</a:t>
                      </a:r>
                      <a:endParaRPr sz="1100">
                        <a:solidFill>
                          <a:schemeClr val="dk1"/>
                        </a:solidFill>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 ec.edu.monster.Adaptadores.AdaptadorConversionDotNetSoap&gt;();</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 ec.edu.monster.Adaptadores.AdaptadorConversionDotNetRest&gt;();</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 ec.edu.monster.Adaptadores.AdaptadorConversionJavaRest&gt;();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#if DEBUG</a:t>
                      </a:r>
                      <a:endParaRPr/>
                    </a:p>
                    <a:p>
                      <a:pPr>
                        <a:lnSpc>
                          <a:spcPct val="100000"/>
                        </a:lnSpc>
                        <a:spcBef>
                          <a:spcPts val="0"/>
                        </a:spcBef>
                        <a:spcAft>
                          <a:spcPts val="0"/>
                        </a:spcAft>
                        <a:defRPr/>
                      </a:pPr>
                      <a:r>
                        <a:rPr sz="800">
                          <a:solidFill>
                            <a:srgbClr val="417BC1"/>
                          </a:solidFill>
                          <a:latin typeface="Consolas"/>
                        </a:rPr>
                        <a:t>            builder.Services.AddBlazorWebViewDeveloperTools();</a:t>
                      </a:r>
                      <a:endParaRPr/>
                    </a:p>
                    <a:p>
                      <a:pPr>
                        <a:lnSpc>
                          <a:spcPct val="100000"/>
                        </a:lnSpc>
                        <a:spcBef>
                          <a:spcPts val="0"/>
                        </a:spcBef>
                        <a:spcAft>
                          <a:spcPts val="0"/>
                        </a:spcAft>
                        <a:defRPr/>
                      </a:pPr>
                      <a:r>
                        <a:rPr sz="800">
                          <a:solidFill>
                            <a:srgbClr val="417BC1"/>
                          </a:solidFill>
                          <a:latin typeface="Consolas"/>
                        </a:rPr>
                        <a:t>    		builder.Logging.AddDebug();</a:t>
                      </a:r>
                      <a:endParaRPr/>
                    </a:p>
                    <a:p>
                      <a:pPr>
                        <a:lnSpc>
                          <a:spcPct val="100000"/>
                        </a:lnSpc>
                        <a:spcBef>
                          <a:spcPts val="0"/>
                        </a:spcBef>
                        <a:spcAft>
                          <a:spcPts val="0"/>
                        </a:spcAft>
                        <a:defRPr/>
                      </a:pPr>
                      <a:r>
                        <a:rPr sz="800">
                          <a:solidFill>
                            <a:srgbClr val="417BC1"/>
                          </a:solidFill>
                          <a:latin typeface="Consolas"/>
                        </a:rPr>
                        <a:t>#endif</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 AUTENTICACIÓN ---</a:t>
                      </a:r>
                      <a:endParaRPr/>
                    </a:p>
                    <a:p>
                      <a:pPr>
                        <a:lnSpc>
                          <a:spcPct val="100000"/>
                        </a:lnSpc>
                        <a:spcBef>
                          <a:spcPts val="0"/>
                        </a:spcBef>
                        <a:spcAft>
                          <a:spcPts val="0"/>
                        </a:spcAft>
                        <a:defRPr/>
                      </a:pPr>
                      <a:r>
                        <a:rPr sz="800">
                          <a:solidFill>
                            <a:srgbClr val="417BC1"/>
                          </a:solidFill>
                          <a:latin typeface="Consolas"/>
                        </a:rPr>
                        <a:t>            // EL REAL (Java SOAP):</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 ec.edu.monster.Adaptadores.AdaptadorAutenticacionJavaSoap&gt;();</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LOS MOCKS (Para los que aún no construimos):</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9651598" name="Google Shape;560;p6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55823586" name="Google Shape;561;p69"/>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2137326464" name="Google Shape;562;p69"/>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4.5  Compilación de escritorio</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1488296275" name="Google Shape;563;p69"/>
          <p:cNvGraphicFramePr>
            <a:graphicFrameLocks xmlns:a="http://schemas.openxmlformats.org/drawingml/2006/main"/>
          </p:cNvGraphicFramePr>
          <p:nvPr/>
        </p:nvGraphicFramePr>
        <p:xfrm rot="0">
          <a:off x="2332825" y="191408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023900">
                <a:tc>
                  <a:txBody>
                    <a:bodyPr/>
                    <a:p>
                      <a:pPr marL="0" lvl="0" indent="0" algn="l" rtl="0">
                        <a:lnSpc>
                          <a:spcPct val="100000"/>
                        </a:lnSpc>
                        <a:spcBef>
                          <a:spcPts val="0"/>
                        </a:spcBef>
                        <a:spcAft>
                          <a:spcPts val="0"/>
                        </a:spcAft>
                        <a:buNone/>
                        <a:defRPr/>
                      </a:pPr>
                      <a:r>
                        <a:rPr sz="800">
                          <a:solidFill>
                            <a:srgbClr val="417BC1"/>
                          </a:solidFill>
                          <a:latin typeface="Consolas"/>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builder.Services.AddScoped&lt;ec.edu.monster.Interfaces.IAdaptadorAutenticacion&gt;(sp =&gt; new ec.edu.monster.Adaptadores.AdaptadorAutenticacionMock(ec.edu.monster.Modelos.TipoBackend.DotNetSoap));</a:t>
                      </a:r>
                      <a:endParaRPr/>
                    </a:p>
                    <a:p>
                      <a:pPr>
                        <a:lnSpc>
                          <a:spcPct val="100000"/>
                        </a:lnSpc>
                        <a:spcBef>
                          <a:spcPts val="0"/>
                        </a:spcBef>
                        <a:spcAft>
                          <a:spcPts val="0"/>
                        </a:spcAft>
                        <a:defRPr/>
                      </a:pPr>
                      <a:r>
                        <a:rPr sz="800">
                          <a:solidFill>
                            <a:srgbClr val="417BC1"/>
                          </a:solidFill>
                          <a:latin typeface="Consolas"/>
                        </a:rPr>
                        <a:t>            builder.Services.AddScoped&lt;ec.edu.monster.Interfaces.IAdaptadorAutenticacion&gt;(sp =&gt; new ec.edu.monster.Adaptadores.AdaptadorAutenticacionMock(ec.edu.monster.Modelos.TipoBackend.DotNetRest));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 CONVERSIÓN ---</a:t>
                      </a:r>
                      <a:endParaRPr/>
                    </a:p>
                    <a:p>
                      <a:pPr>
                        <a:lnSpc>
                          <a:spcPct val="100000"/>
                        </a:lnSpc>
                        <a:spcBef>
                          <a:spcPts val="0"/>
                        </a:spcBef>
                        <a:spcAft>
                          <a:spcPts val="0"/>
                        </a:spcAft>
                        <a:defRPr/>
                      </a:pPr>
                      <a:r>
                        <a:rPr sz="800">
                          <a:solidFill>
                            <a:srgbClr val="417BC1"/>
                          </a:solidFill>
                          <a:latin typeface="Consolas"/>
                        </a:rPr>
                        <a:t>            // EL REAL (Java SOAP):</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 ec.edu.monster.Adaptadores.AdaptadorConversionJavaSoap&gt;();</a:t>
                      </a:r>
                      <a:endParaRPr/>
                    </a:p>
                    <a:p>
                      <a:pPr>
                        <a:lnSpc>
                          <a:spcPct val="100000"/>
                        </a:lnSpc>
                        <a:spcBef>
                          <a:spcPts val="0"/>
                        </a:spcBef>
                        <a:spcAft>
                          <a:spcPts val="0"/>
                        </a:spcAft>
                        <a:defRPr/>
                      </a:pPr>
                      <a:r>
                        <a:rPr sz="800">
                          <a:solidFill>
                            <a:srgbClr val="417BC1"/>
                          </a:solidFill>
                          <a:latin typeface="Consolas"/>
                        </a:rPr>
                        <a:t>            // LOS MOCKS:</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builder.Services.AddScoped&lt;ec.edu.monster.Interfaces.IAdaptadorConversion&gt;(sp =&gt; new ec.edu.monster.Adaptadores.AdaptadorConversionMock(ec.edu.monster.Modelos.TipoBackend.JavaRest));</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builder.Services.AddScoped&lt;ec.edu.monster.Interfaces.IAdaptadorConversion&gt;(sp =&gt; new ec.edu.monster.Adaptadores.AdaptadorConversionMock(ec.edu.monster.Modelos.TipoBackend.DotNetSoap));</a:t>
                      </a:r>
                      <a:endParaRPr/>
                    </a:p>
                    <a:p>
                      <a:pPr>
                        <a:lnSpc>
                          <a:spcPct val="100000"/>
                        </a:lnSpc>
                        <a:spcBef>
                          <a:spcPts val="0"/>
                        </a:spcBef>
                        <a:spcAft>
                          <a:spcPts val="0"/>
                        </a:spcAft>
                        <a:defRPr/>
                      </a:pPr>
                      <a:r>
                        <a:rPr sz="800">
                          <a:solidFill>
                            <a:srgbClr val="417BC1"/>
                          </a:solidFill>
                          <a:latin typeface="Consolas"/>
                        </a:rPr>
                        <a:t>            builder.Services.AddScoped&lt;ec.edu.monster.Interfaces.IAdaptadorConversion&gt;(sp =&gt; new ec.edu.monster.Adaptadores.AdaptadorConversionMock(ec.edu.monster.Modelos.TipoBackend.DotNetRest));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return builder.Build();</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550106" name="Google Shape;568;p7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6454220" name="Google Shape;569;p70"/>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1832432466" name="Google Shape;570;p70"/>
          <p:cNvPicPr/>
          <p:nvPr/>
        </p:nvPicPr>
        <p:blipFill rotWithShape="1">
          <a:blip r:embed="rId3">
            <a:alphaModFix/>
          </a:blip>
          <a:stretch/>
        </p:blipFill>
        <p:spPr bwMode="auto">
          <a:xfrm>
            <a:off x="1863925" y="3060772"/>
            <a:ext cx="5734050" cy="3196280"/>
          </a:xfrm>
          <a:prstGeom prst="rect">
            <a:avLst/>
          </a:prstGeom>
          <a:noFill/>
          <a:ln>
            <a:noFill/>
          </a:ln>
        </p:spPr>
      </p:pic>
      <p:sp>
        <p:nvSpPr>
          <p:cNvPr id="1542168731" name="Google Shape;571;p70"/>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4.5  Cliente escritorio — inicio de sesión</a:t>
            </a:r>
            <a:endParaRPr sz="2000" b="0" i="0" u="none" strike="noStrike" cap="none">
              <a:solidFill>
                <a:srgbClr val="3D3D3D"/>
              </a:solidFill>
              <a:latin typeface="Cambria"/>
              <a:ea typeface="Cambria"/>
              <a:cs typeface="Cambri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2573729" name="Google Shape;576;p7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877649812" name="Google Shape;577;p71"/>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759591065" name="Google Shape;578;p71"/>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4.5  Cliente escritorio — conversor</a:t>
            </a:r>
            <a:endParaRPr sz="2000" b="0" i="0" u="none" strike="noStrike" cap="none">
              <a:solidFill>
                <a:srgbClr val="3D3D3D"/>
              </a:solidFill>
              <a:latin typeface="Cambria"/>
              <a:ea typeface="Cambria"/>
              <a:cs typeface="Cambria"/>
            </a:endParaRPr>
          </a:p>
        </p:txBody>
      </p:sp>
      <p:pic>
        <p:nvPicPr>
          <p:cNvPr id="1780300852" name="Google Shape;579;p71"/>
          <p:cNvPicPr/>
          <p:nvPr/>
        </p:nvPicPr>
        <p:blipFill rotWithShape="1">
          <a:blip r:embed="rId3">
            <a:alphaModFix/>
          </a:blip>
          <a:stretch/>
        </p:blipFill>
        <p:spPr bwMode="auto">
          <a:xfrm>
            <a:off x="2057925" y="2756239"/>
            <a:ext cx="5734050" cy="317572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4859515" name="Google Shape;584;p7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125277277" name="Google Shape;585;p72"/>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PROYECTO MAUI</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ESCRITORIO</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809669105" name="Google Shape;586;p72"/>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4.5  Cliente escritorio — cambiar contraseña</a:t>
            </a:r>
            <a:endParaRPr sz="2000" b="0" i="0" u="none" strike="noStrike" cap="none">
              <a:solidFill>
                <a:srgbClr val="3D3D3D"/>
              </a:solidFill>
              <a:latin typeface="Cambria"/>
              <a:ea typeface="Cambria"/>
              <a:cs typeface="Cambria"/>
            </a:endParaRPr>
          </a:p>
        </p:txBody>
      </p:sp>
      <p:pic>
        <p:nvPicPr>
          <p:cNvPr id="67480877" name="Google Shape;587;p72"/>
          <p:cNvPicPr/>
          <p:nvPr/>
        </p:nvPicPr>
        <p:blipFill rotWithShape="1">
          <a:blip r:embed="rId3">
            <a:alphaModFix/>
          </a:blip>
          <a:stretch/>
        </p:blipFill>
        <p:spPr bwMode="auto">
          <a:xfrm>
            <a:off x="2176450" y="2769270"/>
            <a:ext cx="5734050" cy="317823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6939713" name="Google Shape;592;p7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86517623" name="Google Shape;593;p73"/>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664655807" name="Google Shape;594;p73"/>
          <p:cNvSpPr txBox="1"/>
          <p:nvPr>
            <p:ph type="body" idx="1"/>
          </p:nvPr>
        </p:nvSpPr>
        <p:spPr bwMode="auto">
          <a:xfrm>
            <a:off x="581200" y="1902979"/>
            <a:ext cx="8589300" cy="1170900"/>
          </a:xfrm>
          <a:prstGeom prst="rect">
            <a:avLst/>
          </a:prstGeom>
          <a:noFill/>
          <a:ln>
            <a:noFill/>
          </a:ln>
        </p:spPr>
        <p:txBody>
          <a:bodyPr spcFirstLastPara="1" wrap="square" lIns="27432" tIns="18288" rIns="27432" bIns="18288" anchor="ctr" anchorCtr="0">
            <a:noAutofit/>
          </a:bodyPr>
          <a:lstStyle/>
          <a:p>
            <a:pPr marL="457200" lvl="0" indent="-333753" algn="l" rtl="0">
              <a:lnSpc>
                <a:spcPct val="107000"/>
              </a:lnSpc>
              <a:spcBef>
                <a:spcPts val="0"/>
              </a:spcBef>
              <a:spcAft>
                <a:spcPts val="200"/>
              </a:spcAft>
              <a:buSzPts val="1656"/>
              <a:buChar char="●"/>
              <a:defRPr/>
            </a:pPr>
            <a:r>
              <a:rPr sz="1400" b="1" i="0">
                <a:solidFill>
                  <a:srgbClr val="373737"/>
                </a:solidFill>
                <a:latin typeface="Cambria"/>
              </a:rPr>
              <a:t>4.6  Cliente web — Program</a:t>
            </a:r>
            <a:endParaRPr>
              <a:latin typeface="Cambria"/>
              <a:ea typeface="Cambria"/>
              <a:cs typeface="Cambria"/>
            </a:endParaRPr>
          </a:p>
          <a:p>
            <a:pPr algn="l">
              <a:spcBef>
                <a:spcPts val="0"/>
              </a:spcBef>
              <a:spcAft>
                <a:spcPts val="600"/>
              </a:spcAft>
              <a:defRPr/>
            </a:pPr>
            <a:r>
              <a:rPr sz="1400" b="0" i="0">
                <a:solidFill>
                  <a:srgbClr val="373737"/>
                </a:solidFill>
                <a:latin typeface="Cambria"/>
              </a:rPr>
              <a:t>Fragmento del código documentado por el grupo 1.</a:t>
            </a:r>
            <a:endParaRPr/>
          </a:p>
        </p:txBody>
      </p:sp>
      <p:sp>
        <p:nvSpPr>
          <p:cNvPr id="1228199396" name="Google Shape;595;p73"/>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4.6  Cliente web — Program</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120160781" name="Google Shape;596;p73"/>
          <p:cNvGraphicFramePr>
            <a:graphicFrameLocks xmlns:a="http://schemas.openxmlformats.org/drawingml/2006/main"/>
          </p:cNvGraphicFramePr>
          <p:nvPr/>
        </p:nvGraphicFramePr>
        <p:xfrm rot="0">
          <a:off x="2332838" y="3073863"/>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3453000">
                <a:tc>
                  <a:txBody>
                    <a:bodyPr/>
                    <a:p>
                      <a:pPr marL="0" lvl="0" indent="0" algn="l" rtl="0">
                        <a:lnSpc>
                          <a:spcPct val="100000"/>
                        </a:lnSpc>
                        <a:spcBef>
                          <a:spcPts val="0"/>
                        </a:spcBef>
                        <a:spcAft>
                          <a:spcPts val="0"/>
                        </a:spcAft>
                        <a:buNone/>
                        <a:defRPr/>
                      </a:pPr>
                      <a:r>
                        <a:rPr sz="800">
                          <a:solidFill>
                            <a:srgbClr val="417BC1"/>
                          </a:solidFill>
                          <a:latin typeface="Consolas"/>
                        </a:rPr>
                        <a:t>using SistemaConversorUI.Web.Client.Pages;</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using ec.edu.monster.Components;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var builder = WebApplication.CreateBuilder(args);</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builder.Services.AddAntiforgery();</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1. Servicios base de Blazor y Seguridad</a:t>
                      </a:r>
                      <a:endParaRPr/>
                    </a:p>
                    <a:p>
                      <a:pPr>
                        <a:lnSpc>
                          <a:spcPct val="100000"/>
                        </a:lnSpc>
                        <a:spcBef>
                          <a:spcPts val="0"/>
                        </a:spcBef>
                        <a:spcAft>
                          <a:spcPts val="0"/>
                        </a:spcAft>
                        <a:defRPr/>
                      </a:pPr>
                      <a:r>
                        <a:rPr sz="800">
                          <a:solidFill>
                            <a:srgbClr val="417BC1"/>
                          </a:solidFill>
                          <a:latin typeface="Consolas"/>
                        </a:rPr>
                        <a:t>builder.Services.AddRazorComponents()</a:t>
                      </a:r>
                      <a:endParaRPr/>
                    </a:p>
                    <a:p>
                      <a:pPr>
                        <a:lnSpc>
                          <a:spcPct val="100000"/>
                        </a:lnSpc>
                        <a:spcBef>
                          <a:spcPts val="0"/>
                        </a:spcBef>
                        <a:spcAft>
                          <a:spcPts val="0"/>
                        </a:spcAft>
                        <a:defRPr/>
                      </a:pPr>
                      <a:r>
                        <a:rPr sz="800">
                          <a:solidFill>
                            <a:srgbClr val="417BC1"/>
                          </a:solidFill>
                          <a:latin typeface="Consolas"/>
                        </a:rPr>
                        <a:t>    .AddInteractiveServerComponents();</a:t>
                      </a:r>
                      <a:endParaRPr/>
                    </a:p>
                    <a:p>
                      <a:pPr>
                        <a:lnSpc>
                          <a:spcPct val="100000"/>
                        </a:lnSpc>
                        <a:spcBef>
                          <a:spcPts val="0"/>
                        </a:spcBef>
                        <a:spcAft>
                          <a:spcPts val="0"/>
                        </a:spcAft>
                        <a:defRPr/>
                      </a:pPr>
                      <a:r>
                        <a:rPr sz="800">
                          <a:solidFill>
                            <a:srgbClr val="417BC1"/>
                          </a:solidFill>
                          <a:latin typeface="Consolas"/>
                        </a:rPr>
                        <a:t>builder.Services.AddAntiforgery();</a:t>
                      </a:r>
                      <a:endParaRPr/>
                    </a:p>
                    <a:p>
                      <a:pPr>
                        <a:lnSpc>
                          <a:spcPct val="100000"/>
                        </a:lnSpc>
                        <a:spcBef>
                          <a:spcPts val="0"/>
                        </a:spcBef>
                        <a:spcAft>
                          <a:spcPts val="0"/>
                        </a:spcAft>
                        <a:defRPr/>
                      </a:pPr>
                      <a:r>
                        <a:rPr sz="800">
                          <a:solidFill>
                            <a:srgbClr val="417BC1"/>
                          </a:solidFill>
                          <a:latin typeface="Consolas"/>
                        </a:rPr>
                        <a:t>builder.Services.AddHttpClient();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2. SERVICIOS CORE</a:t>
                      </a:r>
                      <a:endParaRPr/>
                    </a:p>
                    <a:p>
                      <a:pPr>
                        <a:lnSpc>
                          <a:spcPct val="100000"/>
                        </a:lnSpc>
                        <a:spcBef>
                          <a:spcPts val="0"/>
                        </a:spcBef>
                        <a:spcAft>
                          <a:spcPts val="0"/>
                        </a:spcAft>
                        <a:defRPr/>
                      </a:pPr>
                      <a:r>
                        <a:rPr sz="800">
                          <a:solidFill>
                            <a:srgbClr val="417BC1"/>
                          </a:solidFill>
                          <a:latin typeface="Consolas"/>
                        </a:rPr>
                        <a:t>builder.Services.AddScoped&lt;ec.edu.monster.Servicios.EstadoAplicacion&gt;();</a:t>
                      </a:r>
                      <a:endParaRPr/>
                    </a:p>
                    <a:p>
                      <a:pPr>
                        <a:lnSpc>
                          <a:spcPct val="100000"/>
                        </a:lnSpc>
                        <a:spcBef>
                          <a:spcPts val="0"/>
                        </a:spcBef>
                        <a:spcAft>
                          <a:spcPts val="0"/>
                        </a:spcAft>
                        <a:defRPr/>
                      </a:pPr>
                      <a:r>
                        <a:rPr sz="800">
                          <a:solidFill>
                            <a:srgbClr val="417BC1"/>
                          </a:solidFill>
                          <a:latin typeface="Consolas"/>
                        </a:rPr>
                        <a:t>builder.Services.AddScoped&lt;ec.edu.monster.Servicios.FabricaEstrategiaBackend&gt;();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3. ADAPTADORES DE AUTENTICACIÓN</a:t>
                      </a:r>
                      <a:endParaRPr/>
                    </a:p>
                    <a:p>
                      <a:pPr>
                        <a:lnSpc>
                          <a:spcPct val="100000"/>
                        </a:lnSpc>
                        <a:spcBef>
                          <a:spcPts val="0"/>
                        </a:spcBef>
                        <a:spcAft>
                          <a:spcPts val="0"/>
                        </a:spcAft>
                        <a:defRPr/>
                      </a:pPr>
                      <a:r>
                        <a:rPr sz="800">
                          <a:solidFill>
                            <a:srgbClr val="417BC1"/>
                          </a:solidFill>
                          <a:latin typeface="Consolas"/>
                        </a:rPr>
                        <a:t>// El Real (Java SOAP):</a:t>
                      </a:r>
                      <a:endParaRPr/>
                    </a:p>
                    <a:p>
                      <a:pPr>
                        <a:lnSpc>
                          <a:spcPct val="100000"/>
                        </a:lnSpc>
                        <a:spcBef>
                          <a:spcPts val="0"/>
                        </a:spcBef>
                        <a:spcAft>
                          <a:spcPts val="0"/>
                        </a:spcAft>
                        <a:defRPr/>
                      </a:pPr>
                      <a:r>
                        <a:rPr sz="800">
                          <a:solidFill>
                            <a:srgbClr val="417BC1"/>
                          </a:solidFill>
                          <a:latin typeface="Consolas"/>
                        </a:rPr>
                        <a:t>builder.Services.AddScoped&lt;ec.edu.monster.Interfaces.IAdaptadorAutenticacion, ec.edu.monster.Adaptadores.AdaptadorAutenticacionJavaSoap&gt;();</a:t>
                      </a:r>
                      <a:endParaRPr/>
                    </a:p>
                    <a:p>
                      <a:pPr>
                        <a:lnSpc>
                          <a:spcPct val="100000"/>
                        </a:lnSpc>
                        <a:spcBef>
                          <a:spcPts val="0"/>
                        </a:spcBef>
                        <a:spcAft>
                          <a:spcPts val="0"/>
                        </a:spcAft>
                        <a:defRPr/>
                      </a:pPr>
                      <a:r>
                        <a:rPr sz="800">
                          <a:solidFill>
                            <a:srgbClr val="417BC1"/>
                          </a:solidFill>
                          <a:latin typeface="Consolas"/>
                        </a:rPr>
                        <a:t>// El Real (.NET SOAP):</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9170240" name="Google Shape;601;p7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724460042" name="Google Shape;602;p74"/>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324010312" name="Google Shape;603;p74"/>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4.6  Registro de adaptadores</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1402568718" name="Google Shape;604;p74"/>
          <p:cNvGraphicFramePr>
            <a:graphicFrameLocks xmlns:a="http://schemas.openxmlformats.org/drawingml/2006/main"/>
          </p:cNvGraphicFramePr>
          <p:nvPr/>
        </p:nvGraphicFramePr>
        <p:xfrm rot="0">
          <a:off x="2332838" y="206183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465025">
                <a:tc>
                  <a:txBody>
                    <a:bodyPr/>
                    <a:p>
                      <a:pPr marL="0" lvl="0" indent="0" algn="l" rtl="0">
                        <a:lnSpc>
                          <a:spcPct val="100000"/>
                        </a:lnSpc>
                        <a:spcBef>
                          <a:spcPts val="0"/>
                        </a:spcBef>
                        <a:spcAft>
                          <a:spcPts val="0"/>
                        </a:spcAft>
                        <a:buNone/>
                        <a:defRPr/>
                      </a:pPr>
                      <a:r>
                        <a:rPr sz="800">
                          <a:solidFill>
                            <a:srgbClr val="417BC1"/>
                          </a:solidFill>
                          <a:latin typeface="Consolas"/>
                        </a:rPr>
                        <a:t>builder.Services.AddScoped&lt;ec.edu.monster.Interfaces.IAdaptadorAutenticacion, ec.edu.monster.Adaptadores.AdaptadorAutenticacionDotNetSoap&gt;();</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builder.Services.AddScoped&lt;ec.edu.monster.Interfaces.IAdaptadorAutenticacion, ec.edu.monster.Adaptadores.AdaptadorAutenticacionDotNetRest&gt;();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Los Mocks (Para los demás):</a:t>
                      </a:r>
                      <a:endParaRPr/>
                    </a:p>
                    <a:p>
                      <a:pPr>
                        <a:lnSpc>
                          <a:spcPct val="100000"/>
                        </a:lnSpc>
                        <a:spcBef>
                          <a:spcPts val="0"/>
                        </a:spcBef>
                        <a:spcAft>
                          <a:spcPts val="0"/>
                        </a:spcAft>
                        <a:defRPr/>
                      </a:pPr>
                      <a:r>
                        <a:rPr sz="800">
                          <a:solidFill>
                            <a:srgbClr val="417BC1"/>
                          </a:solidFill>
                          <a:latin typeface="Consolas"/>
                        </a:rPr>
                        <a:t>builder.Services.AddScoped&lt;ec.edu.monster.Interfaces.IAdaptadorAutenticacion, ec.edu.monster.Adaptadores.AdaptadorAutenticacionJavaRest&gt;();</a:t>
                      </a:r>
                      <a:endParaRPr/>
                    </a:p>
                    <a:p>
                      <a:pPr>
                        <a:lnSpc>
                          <a:spcPct val="100000"/>
                        </a:lnSpc>
                        <a:spcBef>
                          <a:spcPts val="0"/>
                        </a:spcBef>
                        <a:spcAft>
                          <a:spcPts val="0"/>
                        </a:spcAft>
                        <a:defRPr/>
                      </a:pP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4. ADAPTADORES DE CONVERSIÓN</a:t>
                      </a:r>
                      <a:endParaRPr/>
                    </a:p>
                    <a:p>
                      <a:pPr>
                        <a:lnSpc>
                          <a:spcPct val="100000"/>
                        </a:lnSpc>
                        <a:spcBef>
                          <a:spcPts val="0"/>
                        </a:spcBef>
                        <a:spcAft>
                          <a:spcPts val="0"/>
                        </a:spcAft>
                        <a:defRPr/>
                      </a:pPr>
                      <a:r>
                        <a:rPr sz="800">
                          <a:solidFill>
                            <a:srgbClr val="417BC1"/>
                          </a:solidFill>
                          <a:latin typeface="Consolas"/>
                        </a:rPr>
                        <a:t>// El Real (Java SOAP):</a:t>
                      </a:r>
                      <a:endParaRPr/>
                    </a:p>
                    <a:p>
                      <a:pPr>
                        <a:lnSpc>
                          <a:spcPct val="100000"/>
                        </a:lnSpc>
                        <a:spcBef>
                          <a:spcPts val="0"/>
                        </a:spcBef>
                        <a:spcAft>
                          <a:spcPts val="0"/>
                        </a:spcAft>
                        <a:defRPr/>
                      </a:pPr>
                      <a:r>
                        <a:rPr sz="800">
                          <a:solidFill>
                            <a:srgbClr val="417BC1"/>
                          </a:solidFill>
                          <a:latin typeface="Consolas"/>
                        </a:rPr>
                        <a:t>builder.Services.AddScoped&lt;ec.edu.monster.Interfaces.IAdaptadorConversion, ec.edu.monster.Adaptadores.AdaptadorConversionJavaSoap&gt;();</a:t>
                      </a:r>
                      <a:endParaRPr/>
                    </a:p>
                    <a:p>
                      <a:pPr>
                        <a:lnSpc>
                          <a:spcPct val="100000"/>
                        </a:lnSpc>
                        <a:spcBef>
                          <a:spcPts val="0"/>
                        </a:spcBef>
                        <a:spcAft>
                          <a:spcPts val="0"/>
                        </a:spcAft>
                        <a:defRPr/>
                      </a:pPr>
                      <a:r>
                        <a:rPr sz="800">
                          <a:solidFill>
                            <a:srgbClr val="417BC1"/>
                          </a:solidFill>
                          <a:latin typeface="Consolas"/>
                        </a:rPr>
                        <a:t>// El Real (.NET SOAP):</a:t>
                      </a:r>
                      <a:endParaRPr/>
                    </a:p>
                    <a:p>
                      <a:pPr>
                        <a:lnSpc>
                          <a:spcPct val="100000"/>
                        </a:lnSpc>
                        <a:spcBef>
                          <a:spcPts val="0"/>
                        </a:spcBef>
                        <a:spcAft>
                          <a:spcPts val="0"/>
                        </a:spcAft>
                        <a:defRPr/>
                      </a:pPr>
                      <a:r>
                        <a:rPr sz="800">
                          <a:solidFill>
                            <a:srgbClr val="417BC1"/>
                          </a:solidFill>
                          <a:latin typeface="Consolas"/>
                        </a:rPr>
                        <a:t>builder.Services.AddScoped&lt;ec.edu.monster.Interfaces.IAdaptadorConversion, ec.edu.monster.Adaptadores.AdaptadorConversionDotNetSoap&gt;();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builder.Services.AddScoped&lt;ec.edu.monster.Interfaces.IAdaptadorConversion, ec.edu.monster.Adaptadores.AdaptadorConversionDotNetRest&gt;();</a:t>
                      </a:r>
                      <a:endParaRPr/>
                    </a:p>
                    <a:p>
                      <a:pPr>
                        <a:lnSpc>
                          <a:spcPct val="100000"/>
                        </a:lnSpc>
                        <a:spcBef>
                          <a:spcPts val="0"/>
                        </a:spcBef>
                        <a:spcAft>
                          <a:spcPts val="0"/>
                        </a:spcAft>
                        <a:defRPr/>
                      </a:pPr>
                      <a:r>
                        <a:rPr sz="800">
                          <a:solidFill>
                            <a:srgbClr val="417BC1"/>
                          </a:solidFill>
                          <a:latin typeface="Consolas"/>
                        </a:rPr>
                        <a:t>// Los Mocks:</a:t>
                      </a:r>
                      <a:endParaRPr/>
                    </a:p>
                    <a:p>
                      <a:pPr>
                        <a:lnSpc>
                          <a:spcPct val="100000"/>
                        </a:lnSpc>
                        <a:spcBef>
                          <a:spcPts val="0"/>
                        </a:spcBef>
                        <a:spcAft>
                          <a:spcPts val="0"/>
                        </a:spcAft>
                        <a:defRPr/>
                      </a:pPr>
                      <a:r>
                        <a:rPr sz="800">
                          <a:solidFill>
                            <a:srgbClr val="417BC1"/>
                          </a:solidFill>
                          <a:latin typeface="Consolas"/>
                        </a:rPr>
                        <a:t>builder.Services.AddScoped&lt;ec.edu.monster.Interfaces.IAdaptadorConversion, ec.edu.monster.Adaptadores.AdaptadorConversionJavaRest&gt;();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 FIN DE LOS SERVICIOS ---</a:t>
                      </a:r>
                      <a:endParaRPr/>
                    </a:p>
                    <a:p>
                      <a:pPr>
                        <a:lnSpc>
                          <a:spcPct val="100000"/>
                        </a:lnSpc>
                        <a:spcBef>
                          <a:spcPts val="0"/>
                        </a:spcBef>
                        <a:spcAft>
                          <a:spcPts val="0"/>
                        </a:spcAft>
                        <a:defRPr/>
                      </a:pPr>
                      <a:r>
                        <a:rPr sz="800">
                          <a:solidFill>
                            <a:srgbClr val="417BC1"/>
                          </a:solidFill>
                          <a:latin typeface="Consolas"/>
                        </a:rPr>
                        <a:t>var app = builder.Build();</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Configure the HTTP request pipeline.</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116248" name="Google Shape;609;p7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365204407" name="Google Shape;610;p75"/>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WEB</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068128095" name="Google Shape;611;p75"/>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4.6  Ejecución y rutas web</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graphicFrame>
        <p:nvGraphicFramePr>
          <p:cNvPr id="1435631482" name="Google Shape;612;p75"/>
          <p:cNvGraphicFramePr>
            <a:graphicFrameLocks xmlns:a="http://schemas.openxmlformats.org/drawingml/2006/main"/>
          </p:cNvGraphicFramePr>
          <p:nvPr/>
        </p:nvGraphicFramePr>
        <p:xfrm rot="0">
          <a:off x="2332825" y="1795025"/>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465025">
                <a:tc>
                  <a:txBody>
                    <a:bodyPr/>
                    <a:p>
                      <a:pPr marL="0" lvl="0" indent="0" algn="l" rtl="0">
                        <a:lnSpc>
                          <a:spcPct val="100000"/>
                        </a:lnSpc>
                        <a:spcBef>
                          <a:spcPts val="0"/>
                        </a:spcBef>
                        <a:spcAft>
                          <a:spcPts val="0"/>
                        </a:spcAft>
                        <a:buNone/>
                        <a:defRPr/>
                      </a:pPr>
                      <a:r>
                        <a:rPr sz="800">
                          <a:solidFill>
                            <a:srgbClr val="417BC1"/>
                          </a:solidFill>
                          <a:latin typeface="Consolas"/>
                        </a:rPr>
                        <a:t>if (app.Environment.IsDevelopment())</a:t>
                      </a: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app.UseWebAssemblyDebugging();</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else</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    app.UseExceptionHandler("/Error", createScopeForErrors: true);</a:t>
                      </a:r>
                      <a:endParaRPr/>
                    </a:p>
                    <a:p>
                      <a:pPr>
                        <a:lnSpc>
                          <a:spcPct val="100000"/>
                        </a:lnSpc>
                        <a:spcBef>
                          <a:spcPts val="0"/>
                        </a:spcBef>
                        <a:spcAft>
                          <a:spcPts val="0"/>
                        </a:spcAft>
                        <a:defRPr/>
                      </a:pPr>
                      <a:r>
                        <a:rPr sz="800">
                          <a:solidFill>
                            <a:srgbClr val="417BC1"/>
                          </a:solidFill>
                          <a:latin typeface="Consolas"/>
                        </a:rPr>
                        <a:t>    // The default HSTS value is 30 days. You may want to change this for production scenarios, see https://aka.ms/aspnetcore-hsts.</a:t>
                      </a:r>
                      <a:endParaRPr/>
                    </a:p>
                    <a:p>
                      <a:pPr>
                        <a:lnSpc>
                          <a:spcPct val="100000"/>
                        </a:lnSpc>
                        <a:spcBef>
                          <a:spcPts val="0"/>
                        </a:spcBef>
                        <a:spcAft>
                          <a:spcPts val="0"/>
                        </a:spcAft>
                        <a:defRPr/>
                      </a:pPr>
                      <a:r>
                        <a:rPr sz="800">
                          <a:solidFill>
                            <a:srgbClr val="417BC1"/>
                          </a:solidFill>
                          <a:latin typeface="Consolas"/>
                        </a:rPr>
                        <a:t>    app.UseHsts();</a:t>
                      </a:r>
                      <a:endParaRPr/>
                    </a:p>
                    <a:p>
                      <a:pPr>
                        <a:lnSpc>
                          <a:spcPct val="100000"/>
                        </a:lnSpc>
                        <a:spcBef>
                          <a:spcPts val="0"/>
                        </a:spcBef>
                        <a:spcAft>
                          <a:spcPts val="0"/>
                        </a:spcAft>
                        <a:defRPr/>
                      </a:pPr>
                      <a:r>
                        <a:rPr sz="800">
                          <a:solidFill>
                            <a:srgbClr val="417BC1"/>
                          </a:solidFill>
                          <a:latin typeface="Consolas"/>
                        </a:rPr>
                        <a:t>}</a:t>
                      </a:r>
                      <a:endParaRPr/>
                    </a:p>
                    <a:p>
                      <a:pPr>
                        <a:lnSpc>
                          <a:spcPct val="100000"/>
                        </a:lnSpc>
                        <a:spcBef>
                          <a:spcPts val="0"/>
                        </a:spcBef>
                        <a:spcAft>
                          <a:spcPts val="0"/>
                        </a:spcAft>
                        <a:defRPr/>
                      </a:pPr>
                      <a:r>
                        <a:rPr sz="800">
                          <a:solidFill>
                            <a:srgbClr val="417BC1"/>
                          </a:solidFill>
                          <a:latin typeface="Consolas"/>
                        </a:rPr>
                        <a:t>app.UseStatusCodePagesWithReExecute("/not-found", createScopeForStatusCodePages: true);</a:t>
                      </a:r>
                      <a:endParaRPr/>
                    </a:p>
                    <a:p>
                      <a:pPr>
                        <a:lnSpc>
                          <a:spcPct val="100000"/>
                        </a:lnSpc>
                        <a:spcBef>
                          <a:spcPts val="0"/>
                        </a:spcBef>
                        <a:spcAft>
                          <a:spcPts val="0"/>
                        </a:spcAft>
                        <a:defRPr/>
                      </a:pPr>
                      <a:r>
                        <a:rPr sz="800">
                          <a:solidFill>
                            <a:srgbClr val="417BC1"/>
                          </a:solidFill>
                          <a:latin typeface="Consolas"/>
                        </a:rPr>
                        <a:t>app.UseHttpsRedirection();</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app.UseAntiforgery();</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app.MapStaticAssets();</a:t>
                      </a:r>
                      <a:endParaRPr/>
                    </a:p>
                    <a:p>
                      <a:pPr>
                        <a:lnSpc>
                          <a:spcPct val="100000"/>
                        </a:lnSpc>
                        <a:spcBef>
                          <a:spcPts val="0"/>
                        </a:spcBef>
                        <a:spcAft>
                          <a:spcPts val="0"/>
                        </a:spcAft>
                        <a:defRPr/>
                      </a:pPr>
                      <a:r>
                        <a:rPr sz="800">
                          <a:solidFill>
                            <a:srgbClr val="417BC1"/>
                          </a:solidFill>
                          <a:latin typeface="Consolas"/>
                        </a:rPr>
                        <a:t>app.MapRazorComponents&lt;App&gt;()</a:t>
                      </a:r>
                      <a:endParaRPr/>
                    </a:p>
                    <a:p>
                      <a:pPr>
                        <a:lnSpc>
                          <a:spcPct val="100000"/>
                        </a:lnSpc>
                        <a:spcBef>
                          <a:spcPts val="0"/>
                        </a:spcBef>
                        <a:spcAft>
                          <a:spcPts val="0"/>
                        </a:spcAft>
                        <a:defRPr/>
                      </a:pPr>
                      <a:r>
                        <a:rPr sz="800">
                          <a:solidFill>
                            <a:srgbClr val="417BC1"/>
                          </a:solidFill>
                          <a:latin typeface="Consolas"/>
                        </a:rPr>
                        <a:t>    .AddInteractiveServerRenderMode()</a:t>
                      </a:r>
                      <a:endParaRPr/>
                    </a:p>
                    <a:p>
                      <a:pPr>
                        <a:lnSpc>
                          <a:spcPct val="100000"/>
                        </a:lnSpc>
                        <a:spcBef>
                          <a:spcPts val="0"/>
                        </a:spcBef>
                        <a:spcAft>
                          <a:spcPts val="0"/>
                        </a:spcAft>
                        <a:defRPr/>
                      </a:pPr>
                      <a:r>
                        <a:rPr sz="800">
                          <a:solidFill>
                            <a:srgbClr val="417BC1"/>
                          </a:solidFill>
                          <a:latin typeface="Consolas"/>
                        </a:rPr>
                        <a:t>    .AddAdditionalAssemblies(typeof(SistemaConversorUI.Web.Client._Imports).Assembly);</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app.Run();</a:t>
                      </a:r>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7862960" name="Google Shape;617;p7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568744258" name="Google Shape;618;p76"/>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pic>
        <p:nvPicPr>
          <p:cNvPr id="674897264" name="Google Shape;619;p76"/>
          <p:cNvPicPr/>
          <p:nvPr/>
        </p:nvPicPr>
        <p:blipFill rotWithShape="1">
          <a:blip r:embed="rId3">
            <a:alphaModFix/>
          </a:blip>
          <a:stretch/>
        </p:blipFill>
        <p:spPr bwMode="auto">
          <a:xfrm>
            <a:off x="1863925" y="3188597"/>
            <a:ext cx="5734050" cy="2940630"/>
          </a:xfrm>
          <a:prstGeom prst="rect">
            <a:avLst/>
          </a:prstGeom>
          <a:noFill/>
          <a:ln>
            <a:noFill/>
          </a:ln>
        </p:spPr>
      </p:pic>
      <p:sp>
        <p:nvSpPr>
          <p:cNvPr id="1854494999" name="Google Shape;620;p76"/>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4.6  Cliente web — inicio de sesión</a:t>
            </a:r>
            <a:endParaRPr sz="2000" b="0" i="0" u="none" strike="noStrike" cap="none">
              <a:solidFill>
                <a:srgbClr val="3D3D3D"/>
              </a:solidFill>
              <a:latin typeface="Cambria"/>
              <a:ea typeface="Cambria"/>
              <a:cs typeface="Cambri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3130450" name="Google Shape;625;p7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932994060" name="Google Shape;626;p77"/>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667150029" name="Google Shape;627;p77"/>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4.6  Cliente web — conversor de unidades</a:t>
            </a:r>
            <a:endParaRPr sz="2000" b="0" i="0" u="none" strike="noStrike" cap="none">
              <a:solidFill>
                <a:srgbClr val="3D3D3D"/>
              </a:solidFill>
              <a:latin typeface="Cambria"/>
              <a:ea typeface="Cambria"/>
              <a:cs typeface="Cambria"/>
            </a:endParaRPr>
          </a:p>
        </p:txBody>
      </p:sp>
      <p:pic>
        <p:nvPicPr>
          <p:cNvPr id="1684249618" name="Google Shape;628;p77"/>
          <p:cNvPicPr/>
          <p:nvPr/>
        </p:nvPicPr>
        <p:blipFill rotWithShape="1">
          <a:blip r:embed="rId3">
            <a:alphaModFix/>
          </a:blip>
          <a:stretch/>
        </p:blipFill>
        <p:spPr bwMode="auto">
          <a:xfrm>
            <a:off x="1001139" y="2522350"/>
            <a:ext cx="7592396" cy="38964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8037594" name="Google Shape;633;p7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084055484" name="Google Shape;634;p78"/>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lt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ESCRITORIO</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WEB</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842242941" name="Google Shape;635;p78"/>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4.6  Cliente web — cambiar contraseña</a:t>
            </a:r>
            <a:endParaRPr sz="2000" b="0" i="0" u="none" strike="noStrike" cap="none">
              <a:solidFill>
                <a:srgbClr val="3D3D3D"/>
              </a:solidFill>
              <a:latin typeface="Cambria"/>
              <a:ea typeface="Cambria"/>
              <a:cs typeface="Cambria"/>
            </a:endParaRPr>
          </a:p>
        </p:txBody>
      </p:sp>
      <p:pic>
        <p:nvPicPr>
          <p:cNvPr id="903473980" name="Google Shape;636;p78"/>
          <p:cNvPicPr/>
          <p:nvPr/>
        </p:nvPicPr>
        <p:blipFill rotWithShape="1">
          <a:blip r:embed="rId3">
            <a:alphaModFix/>
          </a:blip>
          <a:stretch/>
        </p:blipFill>
        <p:spPr bwMode="auto">
          <a:xfrm>
            <a:off x="1242143" y="2763050"/>
            <a:ext cx="7281338" cy="37318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666576470" name="Google Shape;641;p79"/>
          <p:cNvGraphicFramePr>
            <a:graphicFrameLocks xmlns:a="http://schemas.openxmlformats.org/drawingml/2006/main"/>
          </p:cNvGraphicFramePr>
          <p:nvPr/>
        </p:nvGraphicFramePr>
        <p:xfrm rot="0">
          <a:off x="2332838" y="286528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3661575">
                <a:tc>
                  <a:txBody>
                    <a:bodyPr/>
                    <a:p>
                      <a:pPr marL="0" lvl="0" indent="0" algn="l" rtl="0">
                        <a:lnSpc>
                          <a:spcPct val="100000"/>
                        </a:lnSpc>
                        <a:spcBef>
                          <a:spcPts val="0"/>
                        </a:spcBef>
                        <a:spcAft>
                          <a:spcPts val="0"/>
                        </a:spcAft>
                        <a:buClr>
                          <a:schemeClr val="dk1"/>
                        </a:buClr>
                        <a:buSzPts val="1100"/>
                        <a:buFont typeface="Arial"/>
                        <a:buNone/>
                        <a:defRPr/>
                      </a:pPr>
                      <a:r>
                        <a:rPr sz="1050">
                          <a:solidFill>
                            <a:srgbClr val="417BC1"/>
                          </a:solidFill>
                          <a:latin typeface="Consolas"/>
                        </a:rPr>
                        <a:t>using Microsoft.Extensions.Logging;</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using ec.edu.monster.Adaptadores;</a:t>
                      </a:r>
                      <a:endParaRPr/>
                    </a:p>
                    <a:p>
                      <a:pPr>
                        <a:lnSpc>
                          <a:spcPct val="100000"/>
                        </a:lnSpc>
                        <a:spcBef>
                          <a:spcPts val="0"/>
                        </a:spcBef>
                        <a:spcAft>
                          <a:spcPts val="0"/>
                        </a:spcAft>
                        <a:defRPr/>
                      </a:pPr>
                      <a:r>
                        <a:rPr sz="1050">
                          <a:solidFill>
                            <a:srgbClr val="417BC1"/>
                          </a:solidFill>
                          <a:latin typeface="Consolas"/>
                        </a:rPr>
                        <a:t>using ec.edu.monster.Interfaces;</a:t>
                      </a:r>
                      <a:endParaRPr/>
                    </a:p>
                    <a:p>
                      <a:pPr>
                        <a:lnSpc>
                          <a:spcPct val="100000"/>
                        </a:lnSpc>
                        <a:spcBef>
                          <a:spcPts val="0"/>
                        </a:spcBef>
                        <a:spcAft>
                          <a:spcPts val="0"/>
                        </a:spcAft>
                        <a:defRPr/>
                      </a:pPr>
                      <a:r>
                        <a:rPr sz="1050">
                          <a:solidFill>
                            <a:srgbClr val="417BC1"/>
                          </a:solidFill>
                          <a:latin typeface="Consolas"/>
                        </a:rPr>
                        <a:t>using ec.edu.monster.Servicios;</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namespace SistemaConversorUI.Maui</a:t>
                      </a:r>
                      <a:endParaRPr/>
                    </a:p>
                    <a:p>
                      <a:pPr>
                        <a:lnSpc>
                          <a:spcPct val="100000"/>
                        </a:lnSpc>
                        <a:spcBef>
                          <a:spcPts val="0"/>
                        </a:spcBef>
                        <a:spcAft>
                          <a:spcPts val="0"/>
                        </a:spcAft>
                        <a:defRPr/>
                      </a:pPr>
                      <a:r>
                        <a:rPr sz="1050">
                          <a:solidFill>
                            <a:srgbClr val="417BC1"/>
                          </a:solidFill>
                          <a:latin typeface="Consolas"/>
                        </a:rPr>
                        <a:t>{</a:t>
                      </a:r>
                      <a:endParaRPr/>
                    </a:p>
                    <a:p>
                      <a:pPr>
                        <a:lnSpc>
                          <a:spcPct val="100000"/>
                        </a:lnSpc>
                        <a:spcBef>
                          <a:spcPts val="0"/>
                        </a:spcBef>
                        <a:spcAft>
                          <a:spcPts val="0"/>
                        </a:spcAft>
                        <a:defRPr/>
                      </a:pPr>
                      <a:r>
                        <a:rPr sz="1050">
                          <a:solidFill>
                            <a:srgbClr val="417BC1"/>
                          </a:solidFill>
                          <a:latin typeface="Consolas"/>
                        </a:rPr>
                        <a:t>    public static class MauiProgram</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public static MauiApp CreateMauiApp()</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var builder = MauiApp.CreateBuilder();</a:t>
                      </a:r>
                      <a:endParaRPr/>
                    </a:p>
                    <a:p>
                      <a:pPr>
                        <a:lnSpc>
                          <a:spcPct val="100000"/>
                        </a:lnSpc>
                        <a:spcBef>
                          <a:spcPts val="0"/>
                        </a:spcBef>
                        <a:spcAft>
                          <a:spcPts val="0"/>
                        </a:spcAft>
                        <a:defRPr/>
                      </a:pPr>
                      <a:r>
                        <a:rPr sz="1050">
                          <a:solidFill>
                            <a:srgbClr val="417BC1"/>
                          </a:solidFill>
                          <a:latin typeface="Consolas"/>
                        </a:rPr>
                        <a:t>            builder</a:t>
                      </a:r>
                      <a:endParaRPr/>
                    </a:p>
                  </a:txBody>
                  <a:tcPr marL="63500" marR="63500" marT="63500" marB="63500"/>
                </a:tc>
              </a:tr>
            </a:tbl>
          </a:graphicData>
        </a:graphic>
      </p:graphicFrame>
      <p:sp>
        <p:nvSpPr>
          <p:cNvPr id="2119936688" name="Google Shape;642;p7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864398418" name="Google Shape;643;p7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1793198098" name="Google Shape;644;p79"/>
          <p:cNvSpPr txBox="1"/>
          <p:nvPr/>
        </p:nvSpPr>
        <p:spPr bwMode="auto">
          <a:xfrm>
            <a:off x="406975" y="1921878"/>
            <a:ext cx="8576700" cy="737400"/>
          </a:xfrm>
          <a:prstGeom prst="rect">
            <a:avLst/>
          </a:prstGeom>
          <a:noFill/>
          <a:ln>
            <a:noFill/>
          </a:ln>
        </p:spPr>
        <p:txBody>
          <a:bodyPr spcFirstLastPara="1" wrap="square" lIns="27432" tIns="18288" rIns="27432" bIns="18288" anchor="ctr" anchorCtr="0">
            <a:noAutofit/>
          </a:bodyPr>
          <a:lstStyle/>
          <a:p>
            <a:pPr marL="0" marR="0" lvl="0" indent="0" algn="l" rtl="0">
              <a:lnSpc>
                <a:spcPct val="107000"/>
              </a:lnSpc>
              <a:spcBef>
                <a:spcPts val="0"/>
              </a:spcBef>
              <a:spcAft>
                <a:spcPts val="200"/>
              </a:spcAft>
              <a:buClr>
                <a:srgbClr val="000000"/>
              </a:buClr>
              <a:buSzPts val="1800"/>
              <a:buFont typeface="Arial"/>
              <a:buNone/>
              <a:defRPr/>
            </a:pPr>
            <a:r>
              <a:rPr sz="1700" b="1" i="0">
                <a:solidFill>
                  <a:srgbClr val="373737"/>
                </a:solidFill>
                <a:latin typeface="Cambria"/>
              </a:rPr>
              <a:t>4.4  Cliente móvil — MauiProgram</a:t>
            </a:r>
            <a:endParaRPr sz="1800" b="0" i="0" u="none" strike="noStrike" cap="none">
              <a:solidFill>
                <a:srgbClr val="3D3D3D"/>
              </a:solidFill>
              <a:latin typeface="Gill Sans"/>
              <a:ea typeface="Gill Sans"/>
              <a:cs typeface="Gill Sans"/>
            </a:endParaRPr>
          </a:p>
        </p:txBody>
      </p:sp>
      <p:sp>
        <p:nvSpPr>
          <p:cNvPr id="1579760052" name="Google Shape;645;p79"/>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4.4  Cliente móvil — MauiProgram</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sp>
        <p:nvSpPr>
          <p:cNvPr id="341845083" name="Google Shape;646;p79"/>
          <p:cNvSpPr txBox="1"/>
          <p:nvPr>
            <p:ph type="body" idx="1"/>
          </p:nvPr>
        </p:nvSpPr>
        <p:spPr bwMode="auto">
          <a:xfrm>
            <a:off x="581200" y="1902979"/>
            <a:ext cx="8589300" cy="1170900"/>
          </a:xfrm>
          <a:prstGeom prst="rect">
            <a:avLst/>
          </a:prstGeom>
          <a:noFill/>
          <a:ln>
            <a:noFill/>
          </a:ln>
        </p:spPr>
        <p:txBody>
          <a:bodyPr spcFirstLastPara="1" wrap="square" lIns="27432" tIns="18288" rIns="27432" bIns="18288" anchor="ctr" anchorCtr="0">
            <a:noAutofit/>
          </a:bodyPr>
          <a:lstStyle/>
          <a:p>
            <a:pPr marL="457200" lvl="0" indent="-333753" algn="l" rtl="0">
              <a:lnSpc>
                <a:spcPct val="107000"/>
              </a:lnSpc>
              <a:spcBef>
                <a:spcPts val="0"/>
              </a:spcBef>
              <a:spcAft>
                <a:spcPts val="200"/>
              </a:spcAft>
              <a:buSzPts val="1656"/>
              <a:buChar char="●"/>
              <a:defRPr/>
            </a:pPr>
            <a:r>
              <a:rPr sz="1400" b="1" i="0">
                <a:solidFill>
                  <a:srgbClr val="373737"/>
                </a:solidFill>
                <a:latin typeface="Cambria"/>
              </a:rPr>
              <a:t>4.4  Cliente móvil — MauiProgram</a:t>
            </a:r>
            <a:endParaRPr>
              <a:latin typeface="Cambria"/>
              <a:ea typeface="Cambria"/>
              <a:cs typeface="Cambria"/>
            </a:endParaRPr>
          </a:p>
          <a:p>
            <a:pPr algn="l">
              <a:spcBef>
                <a:spcPts val="0"/>
              </a:spcBef>
              <a:spcAft>
                <a:spcPts val="600"/>
              </a:spcAft>
              <a:defRPr/>
            </a:pPr>
            <a:r>
              <a:rPr sz="1400" b="0" i="0">
                <a:solidFill>
                  <a:srgbClr val="373737"/>
                </a:solidFill>
                <a:latin typeface="Cambria"/>
              </a:rPr>
              <a:t>Fragmento del código documentado por el grupo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1372697603" name="Google Shape;651;p80"/>
          <p:cNvGraphicFramePr>
            <a:graphicFrameLocks xmlns:a="http://schemas.openxmlformats.org/drawingml/2006/main"/>
          </p:cNvGraphicFramePr>
          <p:nvPr/>
        </p:nvGraphicFramePr>
        <p:xfrm rot="0">
          <a:off x="2332838" y="2061638"/>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493000">
                <a:tc>
                  <a:txBody>
                    <a:bodyPr/>
                    <a:p>
                      <a:pPr marL="0" lvl="0" indent="0" algn="l" rtl="0">
                        <a:lnSpc>
                          <a:spcPct val="100000"/>
                        </a:lnSpc>
                        <a:spcBef>
                          <a:spcPts val="0"/>
                        </a:spcBef>
                        <a:spcAft>
                          <a:spcPts val="0"/>
                        </a:spcAft>
                        <a:buNone/>
                        <a:defRPr/>
                      </a:pPr>
                      <a:r>
                        <a:rPr sz="1050">
                          <a:solidFill>
                            <a:srgbClr val="417BC1"/>
                          </a:solidFill>
                          <a:latin typeface="Consolas"/>
                        </a:rPr>
                        <a:t>                .UseMauiApp&lt;App&gt;()</a:t>
                      </a:r>
                      <a:endParaRPr sz="900">
                        <a:solidFill>
                          <a:srgbClr val="4F81BD"/>
                        </a:solidFill>
                        <a:latin typeface="Calibri"/>
                        <a:ea typeface="Calibri"/>
                        <a:cs typeface="Calibri"/>
                      </a:endParaRPr>
                    </a:p>
                    <a:p>
                      <a:pPr>
                        <a:lnSpc>
                          <a:spcPct val="100000"/>
                        </a:lnSpc>
                        <a:spcBef>
                          <a:spcPts val="0"/>
                        </a:spcBef>
                        <a:spcAft>
                          <a:spcPts val="0"/>
                        </a:spcAft>
                        <a:defRPr/>
                      </a:pPr>
                      <a:r>
                        <a:rPr sz="1050">
                          <a:solidFill>
                            <a:srgbClr val="417BC1"/>
                          </a:solidFill>
                          <a:latin typeface="Consolas"/>
                        </a:rPr>
                        <a:t>                .ConfigureFonts(fonts =&gt;</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r>
                        <a:rPr sz="1050">
                          <a:solidFill>
                            <a:srgbClr val="417BC1"/>
                          </a:solidFill>
                          <a:latin typeface="Consolas"/>
                        </a:rPr>
                        <a:t>                    fonts.AddFont("OpenSans-Regular.ttf", "OpenSansRegular");</a:t>
                      </a:r>
                      <a:endParaRPr/>
                    </a:p>
                    <a:p>
                      <a:pPr>
                        <a:lnSpc>
                          <a:spcPct val="100000"/>
                        </a:lnSpc>
                        <a:spcBef>
                          <a:spcPts val="0"/>
                        </a:spcBef>
                        <a:spcAft>
                          <a:spcPts val="0"/>
                        </a:spcAft>
                        <a:defRPr/>
                      </a:pPr>
                      <a:r>
                        <a:rPr sz="1050">
                          <a:solidFill>
                            <a:srgbClr val="417BC1"/>
                          </a:solidFill>
                          <a:latin typeface="Consolas"/>
                        </a:rPr>
                        <a:t>                });</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builder.Services.AddMauiBlazorWebView();</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 HttpClient simple para Android</a:t>
                      </a:r>
                      <a:endParaRPr/>
                    </a:p>
                    <a:p>
                      <a:pPr>
                        <a:lnSpc>
                          <a:spcPct val="100000"/>
                        </a:lnSpc>
                        <a:spcBef>
                          <a:spcPts val="0"/>
                        </a:spcBef>
                        <a:spcAft>
                          <a:spcPts val="0"/>
                        </a:spcAft>
                        <a:defRPr/>
                      </a:pPr>
                      <a:r>
                        <a:rPr sz="1050">
                          <a:solidFill>
                            <a:srgbClr val="417BC1"/>
                          </a:solidFill>
                          <a:latin typeface="Consolas"/>
                        </a:rPr>
                        <a:t>            builder.Services.AddSingleton&lt;HttpClient&gt;();</a:t>
                      </a:r>
                      <a:endParaRPr/>
                    </a:p>
                    <a:p>
                      <a:pPr>
                        <a:lnSpc>
                          <a:spcPct val="100000"/>
                        </a:lnSpc>
                        <a:spcBef>
                          <a:spcPts val="0"/>
                        </a:spcBef>
                        <a:spcAft>
                          <a:spcPts val="0"/>
                        </a:spcAft>
                        <a:defRPr/>
                      </a:pPr>
                      <a:endParaRPr/>
                    </a:p>
                    <a:p>
                      <a:pPr>
                        <a:lnSpc>
                          <a:spcPct val="100000"/>
                        </a:lnSpc>
                        <a:spcBef>
                          <a:spcPts val="0"/>
                        </a:spcBef>
                        <a:spcAft>
                          <a:spcPts val="0"/>
                        </a:spcAft>
                        <a:defRPr/>
                      </a:pPr>
                      <a:r>
                        <a:rPr sz="1050">
                          <a:solidFill>
                            <a:srgbClr val="417BC1"/>
                          </a:solidFill>
                          <a:latin typeface="Consolas"/>
                        </a:rPr>
                        <a:t>            // Servicios del estado y fábrica</a:t>
                      </a:r>
                      <a:endParaRPr/>
                    </a:p>
                    <a:p>
                      <a:pPr>
                        <a:lnSpc>
                          <a:spcPct val="100000"/>
                        </a:lnSpc>
                        <a:spcBef>
                          <a:spcPts val="0"/>
                        </a:spcBef>
                        <a:spcAft>
                          <a:spcPts val="0"/>
                        </a:spcAft>
                        <a:defRPr/>
                      </a:pPr>
                      <a:r>
                        <a:rPr sz="1050">
                          <a:solidFill>
                            <a:srgbClr val="417BC1"/>
                          </a:solidFill>
                          <a:latin typeface="Consolas"/>
                        </a:rPr>
                        <a:t>            builder.Services.AddScoped&lt;EstadoAplicacion&gt;();</a:t>
                      </a:r>
                      <a:endParaRPr/>
                    </a:p>
                    <a:p>
                      <a:pPr>
                        <a:lnSpc>
                          <a:spcPct val="100000"/>
                        </a:lnSpc>
                        <a:spcBef>
                          <a:spcPts val="0"/>
                        </a:spcBef>
                        <a:spcAft>
                          <a:spcPts val="0"/>
                        </a:spcAft>
                        <a:defRPr/>
                      </a:pPr>
                      <a:r>
                        <a:rPr sz="1050">
                          <a:solidFill>
                            <a:srgbClr val="417BC1"/>
                          </a:solidFill>
                          <a:latin typeface="Consolas"/>
                        </a:rPr>
                        <a:t>            builder.Services.AddScoped&lt;FabricaEstrategiaBackend&gt;();</a:t>
                      </a:r>
                      <a:endParaRPr/>
                    </a:p>
                  </a:txBody>
                  <a:tcPr marL="63500" marR="63500" marT="63500" marB="63500"/>
                </a:tc>
              </a:tr>
            </a:tbl>
          </a:graphicData>
        </a:graphic>
      </p:graphicFrame>
      <p:sp>
        <p:nvSpPr>
          <p:cNvPr id="1369733033" name="Google Shape;652;p8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601136530" name="Google Shape;653;p8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890598533" name="Google Shape;654;p80"/>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4.4  Servicios compartidos</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1455880125" name="Google Shape;659;p81"/>
          <p:cNvGraphicFramePr>
            <a:graphicFrameLocks xmlns:a="http://schemas.openxmlformats.org/drawingml/2006/main"/>
          </p:cNvGraphicFramePr>
          <p:nvPr/>
        </p:nvGraphicFramePr>
        <p:xfrm rot="0">
          <a:off x="2332825" y="1795025"/>
          <a:ext cx="3000000" cy="3000000"/>
        </p:xfrm>
        <a:graphic>
          <a:graphicData uri="http://schemas.openxmlformats.org/drawingml/2006/table">
            <a:tbl>
              <a:tblPr firstRow="0" firstCol="0" lastRow="0" lastCol="0" bandRow="0" bandCol="0">
                <a:tableStyleId>{BF136021-7255-42B7-A7E7-87A8D8FFE9CA}</a:tableStyleId>
                <a:noFill/>
              </a:tblPr>
              <a:tblGrid>
                <a:gridCol w="6484300"/>
              </a:tblGrid>
              <a:tr h="4493000">
                <a:tc>
                  <a:txBody>
                    <a:bodyPr/>
                    <a:p>
                      <a:pPr marL="0" lvl="0" indent="0" algn="l" rtl="0">
                        <a:lnSpc>
                          <a:spcPct val="100000"/>
                        </a:lnSpc>
                        <a:spcBef>
                          <a:spcPts val="0"/>
                        </a:spcBef>
                        <a:spcAft>
                          <a:spcPts val="0"/>
                        </a:spcAft>
                        <a:buNone/>
                        <a:defRPr/>
                      </a:pPr>
                      <a:endParaRPr sz="900">
                        <a:solidFill>
                          <a:srgbClr val="4F81BD"/>
                        </a:solidFill>
                        <a:latin typeface="Calibri"/>
                        <a:ea typeface="Calibri"/>
                        <a:cs typeface="Calibri"/>
                      </a:endParaRPr>
                    </a:p>
                    <a:p>
                      <a:pPr>
                        <a:lnSpc>
                          <a:spcPct val="100000"/>
                        </a:lnSpc>
                        <a:spcBef>
                          <a:spcPts val="0"/>
                        </a:spcBef>
                        <a:spcAft>
                          <a:spcPts val="0"/>
                        </a:spcAft>
                        <a:defRPr/>
                      </a:pPr>
                      <a:r>
                        <a:rPr sz="800">
                          <a:solidFill>
                            <a:srgbClr val="417BC1"/>
                          </a:solidFill>
                          <a:latin typeface="Consolas"/>
                        </a:rPr>
                        <a:t>            // Adaptadores Java SOAP</a:t>
                      </a:r>
                      <a:endParaRPr/>
                    </a:p>
                    <a:p>
                      <a:pPr>
                        <a:lnSpc>
                          <a:spcPct val="100000"/>
                        </a:lnSpc>
                        <a:spcBef>
                          <a:spcPts val="0"/>
                        </a:spcBef>
                        <a:spcAft>
                          <a:spcPts val="0"/>
                        </a:spcAft>
                        <a:defRPr/>
                      </a:pPr>
                      <a:r>
                        <a:rPr sz="800">
                          <a:solidFill>
                            <a:srgbClr val="417BC1"/>
                          </a:solidFill>
                          <a:latin typeface="Consolas"/>
                        </a:rPr>
                        <a:t>            builder.Services.AddScoped&lt;IAdaptadorAutenticacion, AdaptadorAutenticacionJavaSoap&gt;();</a:t>
                      </a:r>
                      <a:endParaRPr/>
                    </a:p>
                    <a:p>
                      <a:pPr>
                        <a:lnSpc>
                          <a:spcPct val="100000"/>
                        </a:lnSpc>
                        <a:spcBef>
                          <a:spcPts val="0"/>
                        </a:spcBef>
                        <a:spcAft>
                          <a:spcPts val="0"/>
                        </a:spcAft>
                        <a:defRPr/>
                      </a:pPr>
                      <a:r>
                        <a:rPr sz="800">
                          <a:solidFill>
                            <a:srgbClr val="417BC1"/>
                          </a:solidFill>
                          <a:latin typeface="Consolas"/>
                        </a:rPr>
                        <a:t>            builder.Services.AddScoped&lt;IAdaptadorConversion, AdaptadorConversionJavaSoap&gt;();</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#if DEBUG</a:t>
                      </a:r>
                      <a:endParaRPr/>
                    </a:p>
                    <a:p>
                      <a:pPr>
                        <a:lnSpc>
                          <a:spcPct val="100000"/>
                        </a:lnSpc>
                        <a:spcBef>
                          <a:spcPts val="0"/>
                        </a:spcBef>
                        <a:spcAft>
                          <a:spcPts val="0"/>
                        </a:spcAft>
                        <a:defRPr/>
                      </a:pPr>
                      <a:r>
                        <a:rPr sz="800">
                          <a:solidFill>
                            <a:srgbClr val="417BC1"/>
                          </a:solidFill>
                          <a:latin typeface="Consolas"/>
                        </a:rPr>
                        <a:t>            builder.Services.AddBlazorWebViewDeveloperTools();</a:t>
                      </a:r>
                      <a:endParaRPr/>
                    </a:p>
                    <a:p>
                      <a:pPr>
                        <a:lnSpc>
                          <a:spcPct val="100000"/>
                        </a:lnSpc>
                        <a:spcBef>
                          <a:spcPts val="0"/>
                        </a:spcBef>
                        <a:spcAft>
                          <a:spcPts val="0"/>
                        </a:spcAft>
                        <a:defRPr/>
                      </a:pPr>
                      <a:r>
                        <a:rPr sz="800">
                          <a:solidFill>
                            <a:srgbClr val="417BC1"/>
                          </a:solidFill>
                          <a:latin typeface="Consolas"/>
                        </a:rPr>
                        <a:t>            builder.Logging.AddDebug();</a:t>
                      </a:r>
                      <a:endParaRPr/>
                    </a:p>
                    <a:p>
                      <a:pPr>
                        <a:lnSpc>
                          <a:spcPct val="100000"/>
                        </a:lnSpc>
                        <a:spcBef>
                          <a:spcPts val="0"/>
                        </a:spcBef>
                        <a:spcAft>
                          <a:spcPts val="0"/>
                        </a:spcAft>
                        <a:defRPr/>
                      </a:pPr>
                      <a:r>
                        <a:rPr sz="800">
                          <a:solidFill>
                            <a:srgbClr val="417BC1"/>
                          </a:solidFill>
                          <a:latin typeface="Consolas"/>
                        </a:rPr>
                        <a:t>#endif</a:t>
                      </a:r>
                      <a:endParaRPr/>
                    </a:p>
                    <a:p>
                      <a:pPr>
                        <a:lnSpc>
                          <a:spcPct val="100000"/>
                        </a:lnSpc>
                        <a:spcBef>
                          <a:spcPts val="0"/>
                        </a:spcBef>
                        <a:spcAft>
                          <a:spcPts val="0"/>
                        </a:spcAft>
                        <a:defRPr/>
                      </a:pPr>
                      <a:endParaRPr/>
                    </a:p>
                    <a:p>
                      <a:pPr>
                        <a:lnSpc>
                          <a:spcPct val="100000"/>
                        </a:lnSpc>
                        <a:spcBef>
                          <a:spcPts val="0"/>
                        </a:spcBef>
                        <a:spcAft>
                          <a:spcPts val="0"/>
                        </a:spcAft>
                        <a:defRPr/>
                      </a:pPr>
                      <a:r>
                        <a:rPr sz="800">
                          <a:solidFill>
                            <a:srgbClr val="417BC1"/>
                          </a:solidFill>
                          <a:latin typeface="Consolas"/>
                        </a:rPr>
                        <a:t>            return builder.Build();</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    }</a:t>
                      </a:r>
                      <a:endParaRPr/>
                    </a:p>
                    <a:p>
                      <a:pPr>
                        <a:lnSpc>
                          <a:spcPct val="100000"/>
                        </a:lnSpc>
                        <a:spcBef>
                          <a:spcPts val="0"/>
                        </a:spcBef>
                        <a:spcAft>
                          <a:spcPts val="0"/>
                        </a:spcAft>
                        <a:defRPr/>
                      </a:pPr>
                      <a:r>
                        <a:rPr sz="800">
                          <a:solidFill>
                            <a:srgbClr val="417BC1"/>
                          </a:solidFill>
                          <a:latin typeface="Consolas"/>
                        </a:rPr>
                        <a:t>}</a:t>
                      </a:r>
                      <a:endParaRPr/>
                    </a:p>
                  </a:txBody>
                  <a:tcPr marL="63500" marR="63500" marT="63500" marB="63500"/>
                </a:tc>
              </a:tr>
            </a:tbl>
          </a:graphicData>
        </a:graphic>
      </p:graphicFrame>
      <p:sp>
        <p:nvSpPr>
          <p:cNvPr id="1474799901" name="Google Shape;660;p8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688089790" name="Google Shape;661;p8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defRPr/>
            </a:pP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INTRODUCCIÓN</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PROYECTO MAUI</a:t>
            </a:r>
            <a:endParaRPr/>
          </a:p>
          <a:p>
            <a:pPr marL="763200" lvl="1"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CLIENTE ESCRITORIO</a:t>
            </a:r>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00"/>
                </a:solidFill>
                <a:latin typeface="Gill Sans"/>
                <a:ea typeface="Gill Sans"/>
                <a:cs typeface="Gill Sans"/>
              </a:rPr>
              <a:t>CLIENTE MÓVIL</a:t>
            </a:r>
            <a:endParaRPr/>
          </a:p>
          <a:p>
            <a:pPr marL="306000" lvl="0" indent="-306000" algn="l" rtl="0">
              <a:spcBef>
                <a:spcPts val="840"/>
              </a:spcBef>
              <a:spcAft>
                <a:spcPts val="0"/>
              </a:spcAft>
              <a:buClr>
                <a:srgbClr val="4590B8"/>
              </a:buClr>
              <a:buSzPts val="1104"/>
              <a:buFont typeface="Noto Sans Symbols"/>
              <a:buChar char="◼"/>
              <a:defRPr/>
            </a:pPr>
            <a:r>
              <a:rPr lang="es-ES" sz="1200" b="1">
                <a:solidFill>
                  <a:srgbClr val="FFFFFF"/>
                </a:solidFill>
                <a:latin typeface="Gill Sans"/>
                <a:ea typeface="Gill Sans"/>
                <a:cs typeface="Gill Sans"/>
              </a:rPr>
              <a:t>CONCLUSIONES</a:t>
            </a:r>
            <a:endParaRPr/>
          </a:p>
          <a:p>
            <a:pPr marL="457200" lvl="0" indent="0" algn="l" rtl="0">
              <a:spcBef>
                <a:spcPts val="840"/>
              </a:spcBef>
              <a:spcAft>
                <a:spcPts val="0"/>
              </a:spcAft>
              <a:buClr>
                <a:srgbClr val="000000"/>
              </a:buClr>
              <a:buSzPts val="1400"/>
              <a:buFont typeface="Arial"/>
              <a:buNone/>
              <a:defRPr/>
            </a:pPr>
            <a:r>
              <a:rPr sz="1200" b="1">
                <a:solidFill>
                  <a:srgbClr val="FFFFFF"/>
                </a:solidFill>
                <a:latin typeface="Gill Sans"/>
              </a:rPr>
              <a:t>RECOMENDACIONES</a:t>
            </a:r>
            <a:endParaRPr/>
          </a:p>
          <a:p>
            <a:pPr marL="457200" lvl="0" indent="0" algn="l" rtl="0">
              <a:spcBef>
                <a:spcPts val="840"/>
              </a:spcBef>
              <a:spcAft>
                <a:spcPts val="0"/>
              </a:spcAft>
              <a:buClr>
                <a:srgbClr val="000000"/>
              </a:buClr>
              <a:buSzPts val="1400"/>
              <a:buFont typeface="Arial"/>
              <a:buNone/>
              <a:defRPr/>
            </a:pPr>
            <a:endParaRPr/>
          </a:p>
          <a:p>
            <a:pPr marL="457200" marR="0" lvl="0" indent="0" algn="l" rtl="0">
              <a:lnSpc>
                <a:spcPct val="100000"/>
              </a:lnSpc>
              <a:spcBef>
                <a:spcPts val="840"/>
              </a:spcBef>
              <a:spcAft>
                <a:spcPts val="0"/>
              </a:spcAft>
              <a:buClr>
                <a:srgbClr val="000000"/>
              </a:buClr>
              <a:buSzPts val="1400"/>
              <a:buFont typeface="Arial"/>
              <a:buNone/>
              <a:defRPr/>
            </a:pPr>
            <a:endParaRPr/>
          </a:p>
        </p:txBody>
      </p:sp>
      <p:sp>
        <p:nvSpPr>
          <p:cNvPr id="648711294" name="Google Shape;662;p81"/>
          <p:cNvSpPr txBox="1"/>
          <p:nvPr>
            <p:ph type="body" idx="1"/>
          </p:nvPr>
        </p:nvSpPr>
        <p:spPr bwMode="auto">
          <a:xfrm>
            <a:off x="122574" y="2429475"/>
            <a:ext cx="1643700" cy="3877800"/>
          </a:xfrm>
          <a:prstGeom prst="rect">
            <a:avLst/>
          </a:prstGeom>
          <a:noFill/>
          <a:ln>
            <a:noFill/>
          </a:ln>
        </p:spPr>
        <p:txBody>
          <a:bodyPr spcFirstLastPara="1" wrap="square" lIns="27432" tIns="18288" rIns="27432" bIns="18288" anchor="ctr" anchorCtr="0">
            <a:noAutofit/>
          </a:bodyPr>
          <a:lstStyle/>
          <a:p>
            <a:pPr marL="457200" lvl="0" indent="-327406" algn="l" rtl="0">
              <a:lnSpc>
                <a:spcPct val="150000"/>
              </a:lnSpc>
              <a:spcBef>
                <a:spcPts val="0"/>
              </a:spcBef>
              <a:spcAft>
                <a:spcPts val="200"/>
              </a:spcAft>
              <a:buSzPts val="1556"/>
              <a:buChar char="∙"/>
              <a:defRPr/>
            </a:pPr>
            <a:r>
              <a:rPr sz="1400" b="1" i="0">
                <a:solidFill>
                  <a:srgbClr val="373737"/>
                </a:solidFill>
                <a:latin typeface="Cambria"/>
              </a:rPr>
              <a:t>4.4  Adaptadores y ejecución</a:t>
            </a:r>
            <a:endParaRPr sz="1100">
              <a:solidFill>
                <a:schemeClr val="dk1"/>
              </a:solidFill>
              <a:latin typeface="Calibri"/>
              <a:ea typeface="Calibri"/>
              <a:cs typeface="Calibri"/>
            </a:endParaRPr>
          </a:p>
          <a:p>
            <a:pPr algn="l">
              <a:spcBef>
                <a:spcPts val="0"/>
              </a:spcBef>
              <a:spcAft>
                <a:spcPts val="600"/>
              </a:spcAft>
              <a:defRPr/>
            </a:pPr>
            <a:r>
              <a:rPr sz="1400" b="0" i="0">
                <a:solidFill>
                  <a:srgbClr val="373737"/>
                </a:solidFill>
                <a:latin typeface="Cambria"/>
              </a:rPr>
              <a:t>Fragmento del código documentado por el grupo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2080098" name="Google Shape;667;p8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2111774050" name="Google Shape;668;p82"/>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solidFill>
                <a:schemeClr val="dk1"/>
              </a:solidFill>
            </a:endParaRPr>
          </a:p>
        </p:txBody>
      </p:sp>
      <p:sp>
        <p:nvSpPr>
          <p:cNvPr id="1491417123" name="Google Shape;669;p82"/>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4.4  Cliente móvil — inicio de sesión</a:t>
            </a:r>
            <a:endParaRPr sz="2000" b="0" i="0" u="none" strike="noStrike" cap="none">
              <a:solidFill>
                <a:srgbClr val="3D3D3D"/>
              </a:solidFill>
              <a:latin typeface="Cambria"/>
              <a:ea typeface="Cambria"/>
              <a:cs typeface="Cambria"/>
            </a:endParaRPr>
          </a:p>
        </p:txBody>
      </p:sp>
      <p:pic>
        <p:nvPicPr>
          <p:cNvPr id="248770210" name="Google Shape;670;p82"/>
          <p:cNvPicPr/>
          <p:nvPr/>
        </p:nvPicPr>
        <p:blipFill rotWithShape="1">
          <a:blip r:embed="rId3">
            <a:alphaModFix/>
          </a:blip>
          <a:stretch/>
        </p:blipFill>
        <p:spPr bwMode="auto">
          <a:xfrm flipH="0" flipV="0">
            <a:off x="3821909" y="2492157"/>
            <a:ext cx="2206080" cy="383903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7722893" name="Google Shape;675;p8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1286124081" name="Google Shape;676;p83"/>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solidFill>
                <a:schemeClr val="dk1"/>
              </a:solidFill>
            </a:endParaRPr>
          </a:p>
        </p:txBody>
      </p:sp>
      <p:sp>
        <p:nvSpPr>
          <p:cNvPr id="778143607" name="Google Shape;677;p83"/>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4.4  Cliente móvil — conversor de unidades</a:t>
            </a:r>
            <a:endParaRPr sz="2000" b="0" i="0" u="none" strike="noStrike" cap="none">
              <a:solidFill>
                <a:srgbClr val="3D3D3D"/>
              </a:solidFill>
              <a:latin typeface="Cambria"/>
              <a:ea typeface="Cambria"/>
              <a:cs typeface="Cambria"/>
            </a:endParaRPr>
          </a:p>
        </p:txBody>
      </p:sp>
      <p:pic>
        <p:nvPicPr>
          <p:cNvPr id="778586632" name="Google Shape;678;p83"/>
          <p:cNvPicPr/>
          <p:nvPr/>
        </p:nvPicPr>
        <p:blipFill rotWithShape="1">
          <a:blip r:embed="rId3">
            <a:alphaModFix/>
          </a:blip>
          <a:stretch/>
        </p:blipFill>
        <p:spPr bwMode="auto">
          <a:xfrm flipH="0" flipV="0">
            <a:off x="4094961" y="2727020"/>
            <a:ext cx="2122502" cy="363618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047776" name="Google Shape;683;p8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DESARROLLO</a:t>
            </a:r>
            <a:endParaRPr/>
          </a:p>
        </p:txBody>
      </p:sp>
      <p:sp>
        <p:nvSpPr>
          <p:cNvPr id="34512001" name="Google Shape;684;p84"/>
          <p:cNvSpPr/>
          <p:nvPr/>
        </p:nvSpPr>
        <p:spPr bwMode="auto">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defRPr/>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INTRODUCCIÓN</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OBJETIVOS</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MARCO TEÓRICO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SERVIDOR SOAP</a:t>
            </a:r>
            <a:endParaRPr sz="1200" b="1">
              <a:solidFill>
                <a:schemeClr val="lt1"/>
              </a:solidFill>
              <a:latin typeface="Gill Sans"/>
              <a:ea typeface="Gill Sans"/>
              <a:cs typeface="Gill Sans"/>
            </a:endParaRPr>
          </a:p>
          <a:p>
            <a:pPr marL="763200" lvl="1" indent="-312095" algn="l" rtl="0">
              <a:spcBef>
                <a:spcPts val="840"/>
              </a:spcBef>
              <a:spcAft>
                <a:spcPts val="0"/>
              </a:spcAft>
              <a:buClr>
                <a:schemeClr val="accent2"/>
              </a:buClr>
              <a:buSzPts val="1200"/>
              <a:buFont typeface="Gill Sans"/>
              <a:buChar char="◼"/>
              <a:defRPr/>
            </a:pPr>
            <a:r>
              <a:rPr lang="es-ES" sz="1200" b="1">
                <a:solidFill>
                  <a:srgbClr val="FFFFFF"/>
                </a:solidFill>
                <a:latin typeface="Gill Sans"/>
                <a:ea typeface="Gill Sans"/>
                <a:cs typeface="Gill Sans"/>
              </a:rPr>
              <a:t>CLIENTE CONSOLA</a:t>
            </a:r>
            <a:endParaRPr sz="1200" b="1">
              <a:solidFill>
                <a:schemeClr val="lt1"/>
              </a:solidFill>
              <a:latin typeface="Gill Sans"/>
              <a:ea typeface="Gill Sans"/>
              <a:cs typeface="Gill Sans"/>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PROYECTO MAUI</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CLIENTE ESCRITORIO</a:t>
            </a:r>
            <a:endParaRPr>
              <a:solidFill>
                <a:schemeClr val="dk1"/>
              </a:solidFill>
            </a:endParaRPr>
          </a:p>
          <a:p>
            <a:pPr marL="763200" lvl="1" indent="-306000" algn="l" rtl="0">
              <a:spcBef>
                <a:spcPts val="840"/>
              </a:spcBef>
              <a:spcAft>
                <a:spcPts val="0"/>
              </a:spcAft>
              <a:buClr>
                <a:srgbClr val="FFFF00"/>
              </a:buClr>
              <a:buSzPts val="1104"/>
              <a:buFont typeface="Noto Sans Symbols"/>
              <a:buChar char="◼"/>
              <a:defRPr/>
            </a:pPr>
            <a:r>
              <a:rPr lang="es-ES" sz="1200" b="1">
                <a:solidFill>
                  <a:srgbClr val="FFFFFF"/>
                </a:solidFill>
                <a:latin typeface="Gill Sans"/>
                <a:ea typeface="Gill Sans"/>
                <a:cs typeface="Gill Sans"/>
              </a:rPr>
              <a:t>CLIENTE WEB</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00"/>
                </a:solidFill>
                <a:latin typeface="Gill Sans"/>
                <a:ea typeface="Gill Sans"/>
                <a:cs typeface="Gill Sans"/>
              </a:rPr>
              <a:t>CLIENTE MÓVIL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defRPr/>
            </a:pPr>
            <a:r>
              <a:rPr lang="es-ES" sz="1200" b="1">
                <a:solidFill>
                  <a:srgbClr val="FFFFFF"/>
                </a:solidFill>
                <a:latin typeface="Gill Sans"/>
                <a:ea typeface="Gill Sans"/>
                <a:cs typeface="Gill Sans"/>
              </a:rPr>
              <a:t>CONCLUSIONES</a:t>
            </a:r>
            <a:endParaRPr>
              <a:solidFill>
                <a:schemeClr val="dk1"/>
              </a:solidFill>
            </a:endParaRPr>
          </a:p>
          <a:p>
            <a:pPr marL="457200" lvl="0" indent="0" algn="l" rtl="0">
              <a:spcBef>
                <a:spcPts val="840"/>
              </a:spcBef>
              <a:spcAft>
                <a:spcPts val="0"/>
              </a:spcAft>
              <a:buClr>
                <a:schemeClr val="dk1"/>
              </a:buClr>
              <a:buSzPts val="1400"/>
              <a:buFont typeface="Arial"/>
              <a:buNone/>
              <a:defRPr/>
            </a:pPr>
            <a:r>
              <a:rPr sz="1200" b="1">
                <a:solidFill>
                  <a:srgbClr val="FFFFFF"/>
                </a:solidFill>
                <a:latin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lvl="0" indent="0" algn="l" rtl="0">
              <a:spcBef>
                <a:spcPts val="840"/>
              </a:spcBef>
              <a:spcAft>
                <a:spcPts val="0"/>
              </a:spcAft>
              <a:buClr>
                <a:schemeClr val="dk1"/>
              </a:buClr>
              <a:buSzPts val="1400"/>
              <a:buFont typeface="Arial"/>
              <a:buNone/>
              <a:defRPr/>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defRPr/>
            </a:pPr>
            <a:endParaRPr>
              <a:solidFill>
                <a:schemeClr val="dk1"/>
              </a:solidFill>
            </a:endParaRPr>
          </a:p>
        </p:txBody>
      </p:sp>
      <p:sp>
        <p:nvSpPr>
          <p:cNvPr id="1779660032" name="Google Shape;685;p84"/>
          <p:cNvSpPr txBox="1"/>
          <p:nvPr/>
        </p:nvSpPr>
        <p:spPr bwMode="auto">
          <a:xfrm>
            <a:off x="636600" y="1868349"/>
            <a:ext cx="8576700" cy="742200"/>
          </a:xfrm>
          <a:prstGeom prst="rect">
            <a:avLst/>
          </a:prstGeom>
          <a:noFill/>
          <a:ln>
            <a:noFill/>
          </a:ln>
        </p:spPr>
        <p:txBody>
          <a:bodyPr spcFirstLastPara="1" wrap="square" lIns="27432" tIns="18288" rIns="27432" bIns="18288" anchor="ctr" anchorCtr="0">
            <a:noAutofit/>
          </a:bodyPr>
          <a:lstStyle/>
          <a:p>
            <a:pPr marL="457200" marR="0" lvl="0" indent="-355600" algn="l" rtl="0">
              <a:lnSpc>
                <a:spcPct val="107000"/>
              </a:lnSpc>
              <a:spcBef>
                <a:spcPts val="0"/>
              </a:spcBef>
              <a:spcAft>
                <a:spcPts val="200"/>
              </a:spcAft>
              <a:buClr>
                <a:srgbClr val="3D3D3D"/>
              </a:buClr>
              <a:buSzPts val="2000"/>
              <a:buFont typeface="Cambria"/>
              <a:buChar char="∙"/>
              <a:defRPr/>
            </a:pPr>
            <a:r>
              <a:rPr sz="2000" b="1" i="0">
                <a:solidFill>
                  <a:srgbClr val="373737"/>
                </a:solidFill>
                <a:latin typeface="Cambria"/>
              </a:rPr>
              <a:t>4.4  Cliente móvil — cambiar contraseña</a:t>
            </a:r>
            <a:endParaRPr sz="2000" b="0" i="0" u="none" strike="noStrike" cap="none">
              <a:solidFill>
                <a:srgbClr val="3D3D3D"/>
              </a:solidFill>
              <a:latin typeface="Cambria"/>
              <a:ea typeface="Cambria"/>
              <a:cs typeface="Cambria"/>
            </a:endParaRPr>
          </a:p>
        </p:txBody>
      </p:sp>
      <p:pic>
        <p:nvPicPr>
          <p:cNvPr id="569212226" name="Google Shape;686;p84"/>
          <p:cNvPicPr/>
          <p:nvPr/>
        </p:nvPicPr>
        <p:blipFill rotWithShape="1">
          <a:blip r:embed="rId3">
            <a:alphaModFix/>
          </a:blip>
          <a:srcRect l="0" t="0" r="0" b="38053"/>
          <a:stretch/>
        </p:blipFill>
        <p:spPr bwMode="auto">
          <a:xfrm flipH="0" flipV="0">
            <a:off x="3707650" y="2964377"/>
            <a:ext cx="2320425" cy="319425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4360228" name="Google Shape;691;p8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CONCLUSIONES</a:t>
            </a:r>
            <a:endParaRPr/>
          </a:p>
        </p:txBody>
      </p:sp>
      <p:sp>
        <p:nvSpPr>
          <p:cNvPr id="912100696" name="Google Shape;692;p85"/>
          <p:cNvSpPr txBox="1"/>
          <p:nvPr>
            <p:ph type="body" idx="1"/>
          </p:nvPr>
        </p:nvSpPr>
        <p:spPr bwMode="auto">
          <a:xfrm>
            <a:off x="581192" y="2180496"/>
            <a:ext cx="8589300" cy="3678300"/>
          </a:xfrm>
          <a:prstGeom prst="rect">
            <a:avLst/>
          </a:prstGeom>
          <a:noFill/>
          <a:ln>
            <a:noFill/>
          </a:ln>
        </p:spPr>
        <p:txBody>
          <a:bodyPr spcFirstLastPara="1" wrap="square" lIns="27432" tIns="18288" rIns="27432" bIns="18288" anchor="ctr" anchorCtr="0">
            <a:noAutofit/>
          </a:bodyPr>
          <a:lstStyle/>
          <a:p>
            <a:pPr marL="0" marR="0" lvl="0" indent="0" algn="l" rtl="0">
              <a:lnSpc>
                <a:spcPct val="107000"/>
              </a:lnSpc>
              <a:spcBef>
                <a:spcPts val="0"/>
              </a:spcBef>
              <a:spcAft>
                <a:spcPts val="200"/>
              </a:spcAft>
              <a:buSzPts val="1656"/>
              <a:buNone/>
              <a:defRPr/>
            </a:pPr>
            <a:r>
              <a:rPr sz="1400" b="0" i="0">
                <a:solidFill>
                  <a:srgbClr val="373737"/>
                </a:solidFill>
                <a:latin typeface="Cambria"/>
              </a:rPr>
              <a:t>Se demostró que la arquitectura orientada a servicios (SOA) permite que un único servidor SOAP desarrollado en Java sea consumido eficientemente por clientes totalmente distintos, incluyendo aplicaciones de consola, escritorio, móviles y web, utilizando el framework .NET MAUI para centralizar la lógica de interfaz.</a:t>
            </a:r>
            <a:endParaRPr sz="1900"/>
          </a:p>
          <a:p>
            <a:pPr algn="l">
              <a:spcBef>
                <a:spcPts val="0"/>
              </a:spcBef>
              <a:spcAft>
                <a:spcPts val="200"/>
              </a:spcAft>
              <a:defRPr/>
            </a:pPr>
            <a:endParaRPr/>
          </a:p>
          <a:p>
            <a:pPr algn="l">
              <a:spcBef>
                <a:spcPts val="0"/>
              </a:spcBef>
              <a:spcAft>
                <a:spcPts val="600"/>
              </a:spcAft>
              <a:defRPr/>
            </a:pPr>
            <a:r>
              <a:rPr sz="1400" b="0" i="0">
                <a:solidFill>
                  <a:srgbClr val="373737"/>
                </a:solidFill>
                <a:latin typeface="Cambria"/>
              </a:rPr>
              <a:t>La implementación de middleware con un SOAPHandler permitió desacoplar la lógica de seguridad de la lógica de negocio, proporcionando un sistema de autenticación, aunque básico y centralizado, basado en tokens que actúa como un filtro obligatorio antes de acceder a los métodos del servicio.</a:t>
            </a:r>
            <a:endParaRPr/>
          </a:p>
          <a:p>
            <a:pPr algn="l">
              <a:spcBef>
                <a:spcPts val="0"/>
              </a:spcBef>
              <a:spcAft>
                <a:spcPts val="200"/>
              </a:spcAft>
              <a:defRPr/>
            </a:pPr>
            <a:endParaRPr/>
          </a:p>
          <a:p>
            <a:pPr algn="l">
              <a:spcBef>
                <a:spcPts val="0"/>
              </a:spcBef>
              <a:spcAft>
                <a:spcPts val="600"/>
              </a:spcAft>
              <a:defRPr/>
            </a:pPr>
            <a:r>
              <a:rPr sz="1400" b="0" i="0">
                <a:solidFill>
                  <a:srgbClr val="373737"/>
                </a:solidFill>
                <a:latin typeface="Cambria"/>
              </a:rPr>
              <a:t>El uso del patrón Strategy y la creación de una fábrica de estrategias de backend facilitaron la escalabilidad del sistema, permitiendo que el cliente pueda alternar entre diferentes proveedores de servicios (Java SOAP, .NET REST, etc.) de manera transparente y sin afectar la experiencia del usuario.</a:t>
            </a:r>
            <a:endParaRPr/>
          </a:p>
          <a:p>
            <a:pPr algn="l">
              <a:spcBef>
                <a:spcPts val="0"/>
              </a:spcBef>
              <a:spcAft>
                <a:spcPts val="200"/>
              </a:spcAft>
              <a:defRPr/>
            </a:pPr>
            <a:endParaRPr/>
          </a:p>
          <a:p>
            <a:pPr algn="l">
              <a:spcBef>
                <a:spcPts val="0"/>
              </a:spcBef>
              <a:spcAft>
                <a:spcPts val="600"/>
              </a:spcAft>
              <a:defRPr/>
            </a:pPr>
            <a:r>
              <a:rPr sz="1400" b="0" i="0">
                <a:solidFill>
                  <a:srgbClr val="373737"/>
                </a:solidFill>
                <a:latin typeface="Cambria"/>
              </a:rPr>
              <a:t>El uso de Payara Server junto con la especificación JAX-WS facilitó la gestión automática del contrato WSDL y el procesamiento de mensajes XML, garantizando un entorno de ejecución robusto y conforme a los estándares de Jakarta EE.</a:t>
            </a:r>
            <a:endParaRPr/>
          </a:p>
        </p:txBody>
      </p:sp>
      <p:sp>
        <p:nvSpPr>
          <p:cNvPr id="672319659" name="Google Shape;693;p8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chemeClr val="lt1"/>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CONSOLA</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FFFF00"/>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FFFF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0000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00"/>
                </a:solidFill>
                <a:latin typeface="Gill Sans"/>
              </a:rPr>
              <a:t>CONCLUSIONES</a:t>
            </a:r>
            <a:endParaRPr sz="1400" b="0" i="0" u="none" strike="noStrike" cap="none">
              <a:solidFill>
                <a:srgbClr val="000000"/>
              </a:solidFill>
              <a:latin typeface="Arial"/>
              <a:ea typeface="Arial"/>
              <a:cs typeface="Arial"/>
            </a:endParaRPr>
          </a:p>
          <a:p>
            <a:pPr>
              <a:defRPr/>
            </a:pPr>
            <a:r>
              <a:rPr sz="1200" b="1">
                <a:solidFill>
                  <a:srgbClr val="FFFFFF"/>
                </a:solidFill>
              </a:rPr>
              <a:t>RECOMENDACIONES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5893744" name="Google Shape;698;p8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RECOMENDACIONES</a:t>
            </a:r>
            <a:endParaRPr/>
          </a:p>
        </p:txBody>
      </p:sp>
      <p:sp>
        <p:nvSpPr>
          <p:cNvPr id="1749604077" name="Google Shape;699;p86"/>
          <p:cNvSpPr txBox="1"/>
          <p:nvPr>
            <p:ph type="body" idx="1"/>
          </p:nvPr>
        </p:nvSpPr>
        <p:spPr bwMode="auto">
          <a:xfrm>
            <a:off x="581200" y="2025324"/>
            <a:ext cx="8500800" cy="4291200"/>
          </a:xfrm>
          <a:prstGeom prst="rect">
            <a:avLst/>
          </a:prstGeom>
          <a:noFill/>
          <a:ln>
            <a:noFill/>
          </a:ln>
        </p:spPr>
        <p:txBody>
          <a:bodyPr spcFirstLastPara="1" wrap="square" lIns="27432" tIns="18288" rIns="27432" bIns="18288" anchor="ctr" anchorCtr="0">
            <a:noAutofit/>
          </a:bodyPr>
          <a:lstStyle/>
          <a:p>
            <a:pPr marL="0" lvl="0" indent="0" algn="l" rtl="0">
              <a:lnSpc>
                <a:spcPct val="107000"/>
              </a:lnSpc>
              <a:spcBef>
                <a:spcPts val="0"/>
              </a:spcBef>
              <a:spcAft>
                <a:spcPts val="200"/>
              </a:spcAft>
              <a:buNone/>
              <a:defRPr/>
            </a:pPr>
            <a:r>
              <a:rPr sz="1500" b="0" i="0">
                <a:solidFill>
                  <a:srgbClr val="373737"/>
                </a:solidFill>
                <a:latin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endParaRPr>
          </a:p>
          <a:p>
            <a:pPr algn="l">
              <a:spcBef>
                <a:spcPts val="0"/>
              </a:spcBef>
              <a:spcAft>
                <a:spcPts val="200"/>
              </a:spcAft>
              <a:defRPr/>
            </a:pPr>
            <a:endParaRPr/>
          </a:p>
          <a:p>
            <a:pPr algn="l">
              <a:spcBef>
                <a:spcPts val="0"/>
              </a:spcBef>
              <a:spcAft>
                <a:spcPts val="600"/>
              </a:spcAft>
              <a:defRPr/>
            </a:pPr>
            <a:r>
              <a:rPr sz="1500" b="0" i="0">
                <a:solidFill>
                  <a:srgbClr val="373737"/>
                </a:solidFill>
                <a:latin typeface="Cambria"/>
              </a:rPr>
              <a:t>Integrar protocolos de cifrado a nivel de mensaje (WS-Security) y el uso de HTTPS en entornos de producción para proteger la integridad del token de seguridad y los datos sensibles durante el tránsito en la red.</a:t>
            </a:r>
            <a:endParaRPr/>
          </a:p>
          <a:p>
            <a:pPr algn="l">
              <a:spcBef>
                <a:spcPts val="0"/>
              </a:spcBef>
              <a:spcAft>
                <a:spcPts val="200"/>
              </a:spcAft>
              <a:defRPr/>
            </a:pPr>
            <a:endParaRPr/>
          </a:p>
          <a:p>
            <a:pPr algn="l">
              <a:spcBef>
                <a:spcPts val="0"/>
              </a:spcBef>
              <a:spcAft>
                <a:spcPts val="600"/>
              </a:spcAft>
              <a:defRPr/>
            </a:pPr>
            <a:r>
              <a:rPr sz="1500" b="0" i="0">
                <a:solidFill>
                  <a:srgbClr val="373737"/>
                </a:solidFill>
                <a:latin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a:p>
        </p:txBody>
      </p:sp>
      <p:sp>
        <p:nvSpPr>
          <p:cNvPr id="782474088" name="Google Shape;700;p8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INTRODUCCIÓN</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OBJETIVOS</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chemeClr val="lt1"/>
              </a:buClr>
              <a:buSzPts val="1104"/>
              <a:buFont typeface="Noto Sans Symbols"/>
              <a:buChar char="◼"/>
              <a:defRPr/>
            </a:pPr>
            <a:r>
              <a:rPr lang="es-ES" sz="1200" b="1" i="0" u="none" strike="noStrike" cap="none">
                <a:solidFill>
                  <a:srgbClr val="FFFFFF"/>
                </a:solidFill>
                <a:latin typeface="Gill Sans"/>
                <a:ea typeface="Gill Sans"/>
                <a:cs typeface="Gill Sans"/>
              </a:rPr>
              <a:t>MARCO TEÓRICO</a:t>
            </a:r>
            <a:endParaRPr sz="1400" b="0" i="0" u="none" strike="noStrike" cap="none">
              <a:solidFill>
                <a:schemeClr val="lt1"/>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SERVIDOR SOAP</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CONSOLA</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PROYECTO MAUI</a:t>
            </a:r>
            <a:endParaRPr sz="1400" b="0" i="0" u="none" strike="noStrike" cap="none">
              <a:solidFill>
                <a:srgbClr val="000000"/>
              </a:solidFill>
              <a:latin typeface="Arial"/>
              <a:ea typeface="Arial"/>
              <a:cs typeface="Arial"/>
            </a:endParaRPr>
          </a:p>
          <a:p>
            <a:pPr marL="763200" marR="0" lvl="1"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ESCRITORIO</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FF"/>
                </a:solidFill>
                <a:latin typeface="Gill Sans"/>
                <a:ea typeface="Gill Sans"/>
                <a:cs typeface="Gill Sans"/>
              </a:rPr>
              <a:t>CLIENTE WEB</a:t>
            </a:r>
            <a:endParaRPr sz="1400" b="0" i="0" u="none" strike="noStrike" cap="none">
              <a:solidFill>
                <a:srgbClr val="000000"/>
              </a:solidFill>
              <a:latin typeface="Arial"/>
              <a:ea typeface="Arial"/>
              <a:cs typeface="Arial"/>
            </a:endParaRPr>
          </a:p>
          <a:p>
            <a:pPr marL="306000" marR="0" lvl="0" indent="-306000" algn="l" rtl="0">
              <a:lnSpc>
                <a:spcPct val="100000"/>
              </a:lnSpc>
              <a:spcBef>
                <a:spcPts val="840"/>
              </a:spcBef>
              <a:spcAft>
                <a:spcPts val="0"/>
              </a:spcAft>
              <a:buClr>
                <a:srgbClr val="FFFF00"/>
              </a:buClr>
              <a:buSzPts val="1104"/>
              <a:buFont typeface="Noto Sans Symbols"/>
              <a:buChar char="◼"/>
              <a:defRPr/>
            </a:pPr>
            <a:r>
              <a:rPr lang="es-ES" sz="1200" b="1" i="0" u="none" strike="noStrike" cap="none">
                <a:solidFill>
                  <a:srgbClr val="FFFFFF"/>
                </a:solidFill>
                <a:latin typeface="Gill Sans"/>
                <a:ea typeface="Gill Sans"/>
                <a:cs typeface="Gill Sans"/>
              </a:rPr>
              <a:t>CLIENTE MÓVIL</a:t>
            </a:r>
            <a:endParaRPr sz="1400" b="0" i="0" u="none" strike="noStrike" cap="none">
              <a:solidFill>
                <a:srgbClr val="FFFF00"/>
              </a:solidFill>
              <a:latin typeface="Arial"/>
              <a:ea typeface="Arial"/>
              <a:cs typeface="Arial"/>
            </a:endParaRPr>
          </a:p>
          <a:p>
            <a:pPr marL="457200" marR="0" lvl="0" indent="0" algn="l" rtl="0">
              <a:lnSpc>
                <a:spcPct val="100000"/>
              </a:lnSpc>
              <a:spcBef>
                <a:spcPts val="840"/>
              </a:spcBef>
              <a:spcAft>
                <a:spcPts val="0"/>
              </a:spcAft>
              <a:buClr>
                <a:srgbClr val="000000"/>
              </a:buClr>
              <a:buSzPts val="1400"/>
              <a:buFont typeface="Arial"/>
              <a:buNone/>
              <a:defRPr/>
            </a:pPr>
            <a:r>
              <a:rPr sz="1200" b="1">
                <a:solidFill>
                  <a:srgbClr val="FFFFFF"/>
                </a:solidFill>
                <a:latin typeface="Gill Sans"/>
              </a:rPr>
              <a:t>CONCLUSIONES</a:t>
            </a:r>
            <a:endParaRPr sz="1400" b="0" i="0" u="none" strike="noStrike" cap="none">
              <a:solidFill>
                <a:srgbClr val="000000"/>
              </a:solidFill>
              <a:latin typeface="Arial"/>
              <a:ea typeface="Arial"/>
              <a:cs typeface="Arial"/>
            </a:endParaRPr>
          </a:p>
          <a:p>
            <a:pPr>
              <a:defRPr/>
            </a:pPr>
            <a:r>
              <a:rPr sz="1200" b="1">
                <a:solidFill>
                  <a:srgbClr val="FFFF00"/>
                </a:solidFill>
              </a:rPr>
              <a:t>RECOMENDACIONES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PresentationFormat>On-screen Show (4:3)</PresentationFormat>
  <Paragraphs>0</Paragraphs>
  <Slides>80</Slides>
  <Notes>80</Notes>
  <HiddenSlides>0</HiddenSlides>
  <MMClips>2</MMClips>
  <ScaleCrop>0</ScaleCrop>
  <HeadingPairs>
    <vt:vector size="4" baseType="variant">
      <vt:variant>
        <vt:lpstr>Theme</vt:lpstr>
      </vt:variant>
      <vt:variant>
        <vt:i4>1</vt:i4>
      </vt:variant>
      <vt:variant>
        <vt:lpstr>Slide Titles</vt:lpstr>
      </vt:variant>
      <vt:variant>
        <vt:i4>80</vt:i4>
      </vt:variant>
    </vt:vector>
  </HeadingPairs>
  <TitlesOfParts>
    <vt:vector size="8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Conversión de Unidades Monster con SOAP sin BDD en Java — Grupo 1</dc:title>
  <dc:subject>Manual de configuración y desarrollo basado en documentación Grupo 1</dc:subject>
  <dc:creator>Grupo 1</dc:creator>
  <cp:keywords>SOAP, Java, Payara, WSDL, .NET MAUI, Grupo 1</cp:keywords>
  <cp:lastModifiedBy/>
  <cp:revision>2</cp:revision>
  <dcterms:modified xsi:type="dcterms:W3CDTF">2026-10-28T03:49:46Z</dcterms:modified>
</cp:coreProperties>
</file>